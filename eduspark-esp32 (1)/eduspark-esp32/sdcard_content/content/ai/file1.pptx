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60" r:id="rId4"/>
    <p:sldId id="261" r:id="rId5"/>
    <p:sldId id="262" r:id="rId6"/>
    <p:sldId id="264" r:id="rId7"/>
    <p:sldId id="266" r:id="rId8"/>
    <p:sldId id="267" r:id="rId9"/>
    <p:sldId id="277" r:id="rId10"/>
    <p:sldId id="268" r:id="rId11"/>
    <p:sldId id="269" r:id="rId12"/>
    <p:sldId id="272" r:id="rId13"/>
    <p:sldId id="273" r:id="rId14"/>
    <p:sldId id="274" r:id="rId15"/>
    <p:sldId id="275" r:id="rId16"/>
    <p:sldId id="278" r:id="rId17"/>
    <p:sldId id="280" r:id="rId18"/>
    <p:sldId id="279" r:id="rId19"/>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2" d="100"/>
          <a:sy n="72" d="100"/>
        </p:scale>
        <p:origin x="1690"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81049" y="191465"/>
            <a:ext cx="7181900" cy="1245235"/>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a:p>
        </p:txBody>
      </p:sp>
      <p:sp>
        <p:nvSpPr>
          <p:cNvPr id="3" name="Holder 3"/>
          <p:cNvSpPr>
            <a:spLocks noGrp="1"/>
          </p:cNvSpPr>
          <p:nvPr>
            <p:ph type="body" idx="1"/>
          </p:nvPr>
        </p:nvSpPr>
        <p:spPr>
          <a:xfrm>
            <a:off x="412750" y="1593850"/>
            <a:ext cx="8318500" cy="148145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9/24/2025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6504" y="2481452"/>
            <a:ext cx="4109720" cy="696595"/>
          </a:xfrm>
          <a:prstGeom prst="rect">
            <a:avLst/>
          </a:prstGeom>
        </p:spPr>
        <p:txBody>
          <a:bodyPr vert="horz" wrap="square" lIns="0" tIns="13335" rIns="0" bIns="0" rtlCol="0">
            <a:spAutoFit/>
          </a:bodyPr>
          <a:lstStyle/>
          <a:p>
            <a:pPr marL="12700">
              <a:lnSpc>
                <a:spcPct val="100000"/>
              </a:lnSpc>
              <a:spcBef>
                <a:spcPts val="105"/>
              </a:spcBef>
            </a:pPr>
            <a:r>
              <a:rPr spc="-10" dirty="0"/>
              <a:t>Bayesian</a:t>
            </a:r>
            <a:r>
              <a:rPr spc="-175" dirty="0"/>
              <a:t> </a:t>
            </a:r>
            <a:r>
              <a:rPr spc="-10" dirty="0"/>
              <a:t>Network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8969" y="504082"/>
            <a:ext cx="7705751" cy="566181"/>
          </a:xfrm>
          <a:prstGeom prst="rect">
            <a:avLst/>
          </a:prstGeom>
          <a:solidFill>
            <a:schemeClr val="accent2"/>
          </a:solidFill>
        </p:spPr>
        <p:style>
          <a:lnRef idx="2">
            <a:schemeClr val="accent2"/>
          </a:lnRef>
          <a:fillRef idx="1">
            <a:schemeClr val="lt1"/>
          </a:fillRef>
          <a:effectRef idx="0">
            <a:schemeClr val="accent2"/>
          </a:effectRef>
          <a:fontRef idx="minor">
            <a:schemeClr val="dk1"/>
          </a:fontRef>
        </p:style>
        <p:txBody>
          <a:bodyPr vert="horz" wrap="square" lIns="0" tIns="12065" rIns="0" bIns="0" rtlCol="0">
            <a:spAutoFit/>
          </a:bodyPr>
          <a:lstStyle/>
          <a:p>
            <a:pPr marL="2997200" marR="5080" indent="-2981325">
              <a:lnSpc>
                <a:spcPct val="100000"/>
              </a:lnSpc>
              <a:spcBef>
                <a:spcPts val="95"/>
              </a:spcBef>
            </a:pPr>
            <a:r>
              <a:rPr sz="3600" dirty="0">
                <a:solidFill>
                  <a:schemeClr val="bg1"/>
                </a:solidFill>
              </a:rPr>
              <a:t>Deterministic</a:t>
            </a:r>
            <a:r>
              <a:rPr sz="3600" spc="-105" dirty="0">
                <a:solidFill>
                  <a:schemeClr val="bg1"/>
                </a:solidFill>
              </a:rPr>
              <a:t> </a:t>
            </a:r>
            <a:r>
              <a:rPr sz="3600" dirty="0">
                <a:solidFill>
                  <a:schemeClr val="bg1"/>
                </a:solidFill>
              </a:rPr>
              <a:t>to</a:t>
            </a:r>
            <a:r>
              <a:rPr sz="3600" spc="-105" dirty="0">
                <a:solidFill>
                  <a:schemeClr val="bg1"/>
                </a:solidFill>
              </a:rPr>
              <a:t> </a:t>
            </a:r>
            <a:r>
              <a:rPr sz="3600" dirty="0">
                <a:solidFill>
                  <a:schemeClr val="bg1"/>
                </a:solidFill>
              </a:rPr>
              <a:t>Non</a:t>
            </a:r>
            <a:r>
              <a:rPr sz="3600" spc="-105" dirty="0">
                <a:solidFill>
                  <a:schemeClr val="bg1"/>
                </a:solidFill>
              </a:rPr>
              <a:t> </a:t>
            </a:r>
            <a:r>
              <a:rPr sz="3600" spc="-10" dirty="0">
                <a:solidFill>
                  <a:schemeClr val="bg1"/>
                </a:solidFill>
              </a:rPr>
              <a:t>Deterministic world</a:t>
            </a:r>
            <a:endParaRPr sz="3600" dirty="0">
              <a:solidFill>
                <a:schemeClr val="bg1"/>
              </a:solidFill>
            </a:endParaRPr>
          </a:p>
        </p:txBody>
      </p:sp>
      <p:sp>
        <p:nvSpPr>
          <p:cNvPr id="3" name="object 3"/>
          <p:cNvSpPr txBox="1"/>
          <p:nvPr/>
        </p:nvSpPr>
        <p:spPr>
          <a:xfrm>
            <a:off x="535940" y="1607565"/>
            <a:ext cx="8018780" cy="1760097"/>
          </a:xfrm>
          <a:prstGeom prst="rect">
            <a:avLst/>
          </a:prstGeom>
        </p:spPr>
        <p:style>
          <a:lnRef idx="2">
            <a:schemeClr val="dk1"/>
          </a:lnRef>
          <a:fillRef idx="1">
            <a:schemeClr val="lt1"/>
          </a:fillRef>
          <a:effectRef idx="0">
            <a:schemeClr val="dk1"/>
          </a:effectRef>
          <a:fontRef idx="minor">
            <a:schemeClr val="dk1"/>
          </a:fontRef>
        </p:style>
        <p:txBody>
          <a:bodyPr vert="horz" wrap="square" lIns="0" tIns="13335" rIns="0" bIns="0" rtlCol="0">
            <a:spAutoFit/>
          </a:bodyPr>
          <a:lstStyle/>
          <a:p>
            <a:pPr marL="355600" marR="5080" indent="-342900">
              <a:lnSpc>
                <a:spcPct val="100000"/>
              </a:lnSpc>
              <a:spcBef>
                <a:spcPts val="105"/>
              </a:spcBef>
              <a:buFont typeface="Arial MT"/>
              <a:buChar char="•"/>
              <a:tabLst>
                <a:tab pos="355600" algn="l"/>
              </a:tabLst>
            </a:pPr>
            <a:r>
              <a:rPr sz="2400" dirty="0">
                <a:latin typeface="Calibri"/>
                <a:cs typeface="Calibri"/>
              </a:rPr>
              <a:t>We</a:t>
            </a:r>
            <a:r>
              <a:rPr sz="2400" spc="-95" dirty="0">
                <a:latin typeface="Calibri"/>
                <a:cs typeface="Calibri"/>
              </a:rPr>
              <a:t> </a:t>
            </a:r>
            <a:r>
              <a:rPr sz="2400" dirty="0">
                <a:latin typeface="Calibri"/>
                <a:cs typeface="Calibri"/>
              </a:rPr>
              <a:t>used</a:t>
            </a:r>
            <a:r>
              <a:rPr sz="2400" spc="-70" dirty="0">
                <a:latin typeface="Calibri"/>
                <a:cs typeface="Calibri"/>
              </a:rPr>
              <a:t> </a:t>
            </a:r>
            <a:r>
              <a:rPr sz="2400" dirty="0">
                <a:latin typeface="Calibri"/>
                <a:cs typeface="Calibri"/>
              </a:rPr>
              <a:t>only</a:t>
            </a:r>
            <a:r>
              <a:rPr sz="2400" spc="-80" dirty="0">
                <a:latin typeface="Calibri"/>
                <a:cs typeface="Calibri"/>
              </a:rPr>
              <a:t> </a:t>
            </a:r>
            <a:r>
              <a:rPr sz="2400" dirty="0">
                <a:latin typeface="Calibri"/>
                <a:cs typeface="Calibri"/>
              </a:rPr>
              <a:t>two</a:t>
            </a:r>
            <a:r>
              <a:rPr sz="2400" spc="-90" dirty="0">
                <a:latin typeface="Calibri"/>
                <a:cs typeface="Calibri"/>
              </a:rPr>
              <a:t> </a:t>
            </a:r>
            <a:r>
              <a:rPr sz="2400" dirty="0">
                <a:latin typeface="Calibri"/>
                <a:cs typeface="Calibri"/>
              </a:rPr>
              <a:t>modalities</a:t>
            </a:r>
            <a:r>
              <a:rPr sz="2400" spc="-60" dirty="0">
                <a:latin typeface="Calibri"/>
                <a:cs typeface="Calibri"/>
              </a:rPr>
              <a:t> </a:t>
            </a:r>
            <a:r>
              <a:rPr sz="2400" dirty="0">
                <a:latin typeface="Calibri"/>
                <a:cs typeface="Calibri"/>
              </a:rPr>
              <a:t>for</a:t>
            </a:r>
            <a:r>
              <a:rPr sz="2400" spc="-75" dirty="0">
                <a:latin typeface="Calibri"/>
                <a:cs typeface="Calibri"/>
              </a:rPr>
              <a:t> </a:t>
            </a:r>
            <a:r>
              <a:rPr sz="2400" dirty="0">
                <a:latin typeface="Calibri"/>
                <a:cs typeface="Calibri"/>
              </a:rPr>
              <a:t>truth</a:t>
            </a:r>
            <a:r>
              <a:rPr sz="2400" spc="-75" dirty="0">
                <a:latin typeface="Calibri"/>
                <a:cs typeface="Calibri"/>
              </a:rPr>
              <a:t> </a:t>
            </a:r>
            <a:r>
              <a:rPr sz="2400" dirty="0">
                <a:latin typeface="Calibri"/>
                <a:cs typeface="Calibri"/>
              </a:rPr>
              <a:t>value</a:t>
            </a:r>
            <a:r>
              <a:rPr sz="2400" spc="-75" dirty="0">
                <a:latin typeface="Calibri"/>
                <a:cs typeface="Calibri"/>
              </a:rPr>
              <a:t> </a:t>
            </a:r>
            <a:r>
              <a:rPr sz="2400" spc="-25" dirty="0">
                <a:latin typeface="Calibri"/>
                <a:cs typeface="Calibri"/>
              </a:rPr>
              <a:t>in </a:t>
            </a:r>
            <a:r>
              <a:rPr sz="2400" spc="-20" dirty="0">
                <a:latin typeface="Calibri"/>
                <a:cs typeface="Calibri"/>
              </a:rPr>
              <a:t>FOL.</a:t>
            </a:r>
            <a:endParaRPr sz="2400" dirty="0">
              <a:latin typeface="Calibri"/>
              <a:cs typeface="Calibri"/>
            </a:endParaRPr>
          </a:p>
          <a:p>
            <a:pPr marL="756285" lvl="1" indent="-286385">
              <a:lnSpc>
                <a:spcPct val="100000"/>
              </a:lnSpc>
              <a:spcBef>
                <a:spcPts val="690"/>
              </a:spcBef>
              <a:buFont typeface="Arial MT"/>
              <a:buChar char="–"/>
              <a:tabLst>
                <a:tab pos="756285" algn="l"/>
              </a:tabLst>
            </a:pPr>
            <a:r>
              <a:rPr sz="2400" spc="-20" dirty="0">
                <a:latin typeface="Calibri"/>
                <a:cs typeface="Calibri"/>
              </a:rPr>
              <a:t>True</a:t>
            </a:r>
            <a:r>
              <a:rPr sz="2400" spc="-90" dirty="0">
                <a:latin typeface="Calibri"/>
                <a:cs typeface="Calibri"/>
              </a:rPr>
              <a:t> </a:t>
            </a:r>
            <a:r>
              <a:rPr sz="2400" dirty="0">
                <a:latin typeface="Calibri"/>
                <a:cs typeface="Calibri"/>
              </a:rPr>
              <a:t>and</a:t>
            </a:r>
            <a:r>
              <a:rPr sz="2400" spc="-90" dirty="0">
                <a:latin typeface="Calibri"/>
                <a:cs typeface="Calibri"/>
              </a:rPr>
              <a:t> </a:t>
            </a:r>
            <a:r>
              <a:rPr sz="2400" spc="-10" dirty="0">
                <a:latin typeface="Calibri"/>
                <a:cs typeface="Calibri"/>
              </a:rPr>
              <a:t>False</a:t>
            </a:r>
            <a:endParaRPr lang="en-IN" sz="2400" spc="-10" dirty="0">
              <a:latin typeface="Calibri"/>
              <a:cs typeface="Calibri"/>
            </a:endParaRPr>
          </a:p>
          <a:p>
            <a:pPr marL="756285" lvl="1" indent="-286385">
              <a:lnSpc>
                <a:spcPct val="100000"/>
              </a:lnSpc>
              <a:spcBef>
                <a:spcPts val="670"/>
              </a:spcBef>
              <a:buFont typeface="Arial MT"/>
              <a:buChar char="–"/>
              <a:tabLst>
                <a:tab pos="756285" algn="l"/>
              </a:tabLst>
            </a:pPr>
            <a:r>
              <a:rPr lang="en-US" sz="2400" dirty="0">
                <a:latin typeface="Calibri"/>
                <a:cs typeface="Calibri"/>
              </a:rPr>
              <a:t>Cavity</a:t>
            </a:r>
            <a:r>
              <a:rPr lang="en-US" sz="2400" spc="-70" dirty="0">
                <a:latin typeface="Calibri"/>
                <a:cs typeface="Calibri"/>
              </a:rPr>
              <a:t> </a:t>
            </a:r>
            <a:r>
              <a:rPr lang="en-US" sz="2400" dirty="0">
                <a:latin typeface="Calibri"/>
                <a:cs typeface="Calibri"/>
              </a:rPr>
              <a:t>=&gt;</a:t>
            </a:r>
            <a:r>
              <a:rPr lang="en-US" sz="2400" spc="-30" dirty="0">
                <a:latin typeface="Calibri"/>
                <a:cs typeface="Calibri"/>
              </a:rPr>
              <a:t> </a:t>
            </a:r>
            <a:r>
              <a:rPr lang="en-US" sz="2400" spc="-30" dirty="0" err="1">
                <a:latin typeface="Calibri"/>
                <a:cs typeface="Calibri"/>
              </a:rPr>
              <a:t>ToothAche</a:t>
            </a:r>
            <a:r>
              <a:rPr lang="en-US" sz="2400" spc="-35" dirty="0">
                <a:latin typeface="Calibri"/>
                <a:cs typeface="Calibri"/>
              </a:rPr>
              <a:t> </a:t>
            </a:r>
            <a:r>
              <a:rPr lang="en-US" sz="2400" dirty="0">
                <a:latin typeface="Calibri"/>
                <a:cs typeface="Calibri"/>
              </a:rPr>
              <a:t>may</a:t>
            </a:r>
            <a:r>
              <a:rPr lang="en-US" sz="2400" spc="-65" dirty="0">
                <a:latin typeface="Calibri"/>
                <a:cs typeface="Calibri"/>
              </a:rPr>
              <a:t> </a:t>
            </a:r>
            <a:r>
              <a:rPr lang="en-US" sz="2400" dirty="0">
                <a:latin typeface="Calibri"/>
                <a:cs typeface="Calibri"/>
              </a:rPr>
              <a:t>be</a:t>
            </a:r>
            <a:r>
              <a:rPr lang="en-US" sz="2400" spc="-45" dirty="0">
                <a:latin typeface="Calibri"/>
                <a:cs typeface="Calibri"/>
              </a:rPr>
              <a:t> </a:t>
            </a:r>
            <a:r>
              <a:rPr lang="en-US" sz="2400" dirty="0">
                <a:latin typeface="Calibri"/>
                <a:cs typeface="Calibri"/>
              </a:rPr>
              <a:t>true</a:t>
            </a:r>
            <a:r>
              <a:rPr lang="en-US" sz="2400" spc="-45" dirty="0">
                <a:latin typeface="Calibri"/>
                <a:cs typeface="Calibri"/>
              </a:rPr>
              <a:t> </a:t>
            </a:r>
            <a:r>
              <a:rPr lang="en-US" sz="2400" dirty="0">
                <a:latin typeface="Calibri"/>
                <a:cs typeface="Calibri"/>
              </a:rPr>
              <a:t>or</a:t>
            </a:r>
            <a:r>
              <a:rPr lang="en-US" sz="2400" spc="-55" dirty="0">
                <a:latin typeface="Calibri"/>
                <a:cs typeface="Calibri"/>
              </a:rPr>
              <a:t> </a:t>
            </a:r>
            <a:r>
              <a:rPr lang="en-US" sz="2400" spc="-10" dirty="0">
                <a:latin typeface="Calibri"/>
                <a:cs typeface="Calibri"/>
              </a:rPr>
              <a:t>false</a:t>
            </a:r>
            <a:endParaRPr lang="en-US" sz="2400" dirty="0">
              <a:latin typeface="Calibri"/>
              <a:cs typeface="Calibri"/>
            </a:endParaRPr>
          </a:p>
          <a:p>
            <a:pPr marL="755650" lvl="1" indent="-285750">
              <a:lnSpc>
                <a:spcPct val="100000"/>
              </a:lnSpc>
              <a:spcBef>
                <a:spcPts val="675"/>
              </a:spcBef>
              <a:buFont typeface="Arial MT"/>
              <a:buChar char="–"/>
              <a:tabLst>
                <a:tab pos="755650" algn="l"/>
              </a:tabLst>
            </a:pPr>
            <a:r>
              <a:rPr lang="en-US" sz="2400" spc="-10" dirty="0" err="1">
                <a:latin typeface="Calibri"/>
                <a:cs typeface="Calibri"/>
              </a:rPr>
              <a:t>DentalCatch</a:t>
            </a:r>
            <a:r>
              <a:rPr lang="en-US" sz="2400" spc="-35" dirty="0">
                <a:latin typeface="Calibri"/>
                <a:cs typeface="Calibri"/>
              </a:rPr>
              <a:t> </a:t>
            </a:r>
            <a:r>
              <a:rPr lang="en-US" sz="2400" dirty="0">
                <a:latin typeface="Calibri"/>
                <a:cs typeface="Calibri"/>
              </a:rPr>
              <a:t>=&gt;</a:t>
            </a:r>
            <a:r>
              <a:rPr lang="en-US" sz="2400" spc="-50" dirty="0">
                <a:latin typeface="Calibri"/>
                <a:cs typeface="Calibri"/>
              </a:rPr>
              <a:t> </a:t>
            </a:r>
            <a:r>
              <a:rPr lang="en-US" sz="2400" spc="-25" dirty="0" err="1">
                <a:latin typeface="Calibri"/>
                <a:cs typeface="Calibri"/>
              </a:rPr>
              <a:t>ToothAche</a:t>
            </a:r>
            <a:r>
              <a:rPr lang="en-US" sz="2400" spc="-55" dirty="0">
                <a:latin typeface="Calibri"/>
                <a:cs typeface="Calibri"/>
              </a:rPr>
              <a:t> </a:t>
            </a:r>
            <a:r>
              <a:rPr lang="en-US" sz="2400" dirty="0">
                <a:latin typeface="Calibri"/>
                <a:cs typeface="Calibri"/>
              </a:rPr>
              <a:t>may</a:t>
            </a:r>
            <a:r>
              <a:rPr lang="en-US" sz="2400" spc="-60" dirty="0">
                <a:latin typeface="Calibri"/>
                <a:cs typeface="Calibri"/>
              </a:rPr>
              <a:t> </a:t>
            </a:r>
            <a:r>
              <a:rPr lang="en-US" sz="2400" dirty="0">
                <a:latin typeface="Calibri"/>
                <a:cs typeface="Calibri"/>
              </a:rPr>
              <a:t>be</a:t>
            </a:r>
            <a:r>
              <a:rPr lang="en-US" sz="2400" spc="-60" dirty="0">
                <a:latin typeface="Calibri"/>
                <a:cs typeface="Calibri"/>
              </a:rPr>
              <a:t> </a:t>
            </a:r>
            <a:r>
              <a:rPr lang="en-US" sz="2400" dirty="0">
                <a:latin typeface="Calibri"/>
                <a:cs typeface="Calibri"/>
              </a:rPr>
              <a:t>true</a:t>
            </a:r>
            <a:r>
              <a:rPr lang="en-US" sz="2400" spc="-50" dirty="0">
                <a:latin typeface="Calibri"/>
                <a:cs typeface="Calibri"/>
              </a:rPr>
              <a:t> </a:t>
            </a:r>
            <a:r>
              <a:rPr lang="en-US" sz="2400" dirty="0">
                <a:latin typeface="Calibri"/>
                <a:cs typeface="Calibri"/>
              </a:rPr>
              <a:t>or</a:t>
            </a:r>
            <a:r>
              <a:rPr lang="en-US" sz="2400" spc="-55" dirty="0">
                <a:latin typeface="Calibri"/>
                <a:cs typeface="Calibri"/>
              </a:rPr>
              <a:t> </a:t>
            </a:r>
            <a:r>
              <a:rPr lang="en-US" sz="2400" spc="-10" dirty="0">
                <a:latin typeface="Calibri"/>
                <a:cs typeface="Calibri"/>
              </a:rPr>
              <a:t>false</a:t>
            </a:r>
          </a:p>
        </p:txBody>
      </p:sp>
      <p:sp>
        <p:nvSpPr>
          <p:cNvPr id="5" name="TextBox 4">
            <a:extLst>
              <a:ext uri="{FF2B5EF4-FFF2-40B4-BE49-F238E27FC236}">
                <a16:creationId xmlns:a16="http://schemas.microsoft.com/office/drawing/2014/main" id="{43A23A52-4F66-9A1C-5AFF-5EE106CCC5EA}"/>
              </a:ext>
            </a:extLst>
          </p:cNvPr>
          <p:cNvSpPr txBox="1"/>
          <p:nvPr/>
        </p:nvSpPr>
        <p:spPr>
          <a:xfrm>
            <a:off x="532396" y="3733800"/>
            <a:ext cx="7944031" cy="222112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355600" marR="367030" indent="-342900" algn="just">
              <a:lnSpc>
                <a:spcPct val="100000"/>
              </a:lnSpc>
              <a:spcBef>
                <a:spcPts val="750"/>
              </a:spcBef>
              <a:buFont typeface="Arial MT"/>
              <a:buChar char="•"/>
              <a:tabLst>
                <a:tab pos="355600" algn="l"/>
              </a:tabLst>
            </a:pPr>
            <a:r>
              <a:rPr lang="en-US" sz="2400" dirty="0">
                <a:latin typeface="Calibri"/>
                <a:cs typeface="Calibri"/>
              </a:rPr>
              <a:t>In</a:t>
            </a:r>
            <a:r>
              <a:rPr lang="en-US" sz="2400" spc="-70" dirty="0">
                <a:latin typeface="Calibri"/>
                <a:cs typeface="Calibri"/>
              </a:rPr>
              <a:t> </a:t>
            </a:r>
            <a:r>
              <a:rPr lang="en-US" sz="2400" spc="-10" dirty="0">
                <a:latin typeface="Calibri"/>
                <a:cs typeface="Calibri"/>
              </a:rPr>
              <a:t>probabilistic</a:t>
            </a:r>
            <a:r>
              <a:rPr lang="en-US" sz="2400" spc="-45" dirty="0">
                <a:latin typeface="Calibri"/>
                <a:cs typeface="Calibri"/>
              </a:rPr>
              <a:t> </a:t>
            </a:r>
            <a:r>
              <a:rPr lang="en-US" sz="2400" dirty="0">
                <a:latin typeface="Calibri"/>
                <a:cs typeface="Calibri"/>
              </a:rPr>
              <a:t>reasoning</a:t>
            </a:r>
            <a:r>
              <a:rPr lang="en-US" sz="2400" spc="-70" dirty="0">
                <a:latin typeface="Calibri"/>
                <a:cs typeface="Calibri"/>
              </a:rPr>
              <a:t> </a:t>
            </a:r>
            <a:r>
              <a:rPr lang="en-US" sz="2400" dirty="0">
                <a:latin typeface="Calibri"/>
                <a:cs typeface="Calibri"/>
              </a:rPr>
              <a:t>we</a:t>
            </a:r>
            <a:r>
              <a:rPr lang="en-US" sz="2400" spc="-85" dirty="0">
                <a:latin typeface="Calibri"/>
                <a:cs typeface="Calibri"/>
              </a:rPr>
              <a:t> </a:t>
            </a:r>
            <a:r>
              <a:rPr lang="en-US" sz="2400" dirty="0">
                <a:latin typeface="Calibri"/>
                <a:cs typeface="Calibri"/>
              </a:rPr>
              <a:t>assign</a:t>
            </a:r>
            <a:r>
              <a:rPr lang="en-US" sz="2400" spc="-60" dirty="0">
                <a:latin typeface="Calibri"/>
                <a:cs typeface="Calibri"/>
              </a:rPr>
              <a:t> </a:t>
            </a:r>
            <a:r>
              <a:rPr lang="en-US" sz="2400" spc="-10" dirty="0">
                <a:latin typeface="Calibri"/>
                <a:cs typeface="Calibri"/>
              </a:rPr>
              <a:t>numeric </a:t>
            </a:r>
            <a:r>
              <a:rPr lang="en-US" sz="2400" dirty="0">
                <a:latin typeface="Calibri"/>
                <a:cs typeface="Calibri"/>
              </a:rPr>
              <a:t>value</a:t>
            </a:r>
            <a:r>
              <a:rPr lang="en-US" sz="2400" spc="-95" dirty="0">
                <a:latin typeface="Calibri"/>
                <a:cs typeface="Calibri"/>
              </a:rPr>
              <a:t> </a:t>
            </a:r>
            <a:r>
              <a:rPr lang="en-US" sz="2400" dirty="0">
                <a:latin typeface="Calibri"/>
                <a:cs typeface="Calibri"/>
              </a:rPr>
              <a:t>from</a:t>
            </a:r>
            <a:r>
              <a:rPr lang="en-US" sz="2400" spc="-90" dirty="0">
                <a:latin typeface="Calibri"/>
                <a:cs typeface="Calibri"/>
              </a:rPr>
              <a:t> </a:t>
            </a:r>
            <a:r>
              <a:rPr lang="en-US" sz="2400" dirty="0">
                <a:latin typeface="Calibri"/>
                <a:cs typeface="Calibri"/>
              </a:rPr>
              <a:t>a</a:t>
            </a:r>
            <a:r>
              <a:rPr lang="en-US" sz="2400" spc="-95" dirty="0">
                <a:latin typeface="Calibri"/>
                <a:cs typeface="Calibri"/>
              </a:rPr>
              <a:t> </a:t>
            </a:r>
            <a:r>
              <a:rPr lang="en-US" sz="2400" spc="-10" dirty="0">
                <a:latin typeface="Calibri"/>
                <a:cs typeface="Calibri"/>
              </a:rPr>
              <a:t>continuous</a:t>
            </a:r>
            <a:r>
              <a:rPr lang="en-US" sz="2400" spc="-90" dirty="0">
                <a:latin typeface="Calibri"/>
                <a:cs typeface="Calibri"/>
              </a:rPr>
              <a:t> </a:t>
            </a:r>
            <a:r>
              <a:rPr lang="en-US" sz="2400" dirty="0">
                <a:latin typeface="Calibri"/>
                <a:cs typeface="Calibri"/>
              </a:rPr>
              <a:t>domain</a:t>
            </a:r>
            <a:r>
              <a:rPr lang="en-US" sz="2400" spc="-80" dirty="0">
                <a:latin typeface="Calibri"/>
                <a:cs typeface="Calibri"/>
              </a:rPr>
              <a:t> </a:t>
            </a:r>
            <a:r>
              <a:rPr lang="en-US" sz="2400" spc="-10" dirty="0">
                <a:latin typeface="Calibri"/>
                <a:cs typeface="Calibri"/>
              </a:rPr>
              <a:t>[0,1]</a:t>
            </a:r>
          </a:p>
          <a:p>
            <a:pPr marL="756285" lvl="1" indent="-286385">
              <a:lnSpc>
                <a:spcPct val="100000"/>
              </a:lnSpc>
              <a:spcBef>
                <a:spcPts val="690"/>
              </a:spcBef>
              <a:buFont typeface="Arial MT"/>
              <a:buChar char="–"/>
              <a:tabLst>
                <a:tab pos="756285" algn="l"/>
                <a:tab pos="4225290" algn="l"/>
              </a:tabLst>
            </a:pPr>
            <a:r>
              <a:rPr lang="en-US" sz="2400" dirty="0">
                <a:latin typeface="Calibri"/>
                <a:cs typeface="Calibri"/>
              </a:rPr>
              <a:t>P(</a:t>
            </a:r>
            <a:r>
              <a:rPr lang="en-US" sz="2400" spc="-30" dirty="0">
                <a:latin typeface="Calibri"/>
                <a:cs typeface="Calibri"/>
              </a:rPr>
              <a:t> </a:t>
            </a:r>
            <a:r>
              <a:rPr lang="en-US" sz="2400" dirty="0">
                <a:latin typeface="Calibri"/>
                <a:cs typeface="Calibri"/>
              </a:rPr>
              <a:t>Cavity</a:t>
            </a:r>
            <a:r>
              <a:rPr lang="en-US" sz="2400" spc="-45" dirty="0">
                <a:latin typeface="Calibri"/>
                <a:cs typeface="Calibri"/>
              </a:rPr>
              <a:t> </a:t>
            </a:r>
            <a:r>
              <a:rPr lang="en-US" sz="2400" dirty="0">
                <a:latin typeface="Calibri"/>
                <a:cs typeface="Calibri"/>
              </a:rPr>
              <a:t>=&gt;</a:t>
            </a:r>
            <a:r>
              <a:rPr lang="en-US" sz="2400" spc="-20" dirty="0">
                <a:latin typeface="Calibri"/>
                <a:cs typeface="Calibri"/>
              </a:rPr>
              <a:t> </a:t>
            </a:r>
            <a:r>
              <a:rPr lang="en-US" sz="2400" spc="-10" dirty="0" err="1">
                <a:latin typeface="Calibri"/>
                <a:cs typeface="Calibri"/>
              </a:rPr>
              <a:t>ToothAche</a:t>
            </a:r>
            <a:r>
              <a:rPr lang="en-US" sz="2400" dirty="0">
                <a:latin typeface="Calibri"/>
                <a:cs typeface="Calibri"/>
              </a:rPr>
              <a:t>	=</a:t>
            </a:r>
            <a:r>
              <a:rPr lang="en-US" sz="2400" spc="-15" dirty="0">
                <a:latin typeface="Calibri"/>
                <a:cs typeface="Calibri"/>
              </a:rPr>
              <a:t> </a:t>
            </a:r>
            <a:r>
              <a:rPr lang="en-US" sz="2400" dirty="0">
                <a:latin typeface="Calibri"/>
                <a:cs typeface="Calibri"/>
              </a:rPr>
              <a:t>true</a:t>
            </a:r>
            <a:r>
              <a:rPr lang="en-US" sz="2400" spc="-15" dirty="0">
                <a:latin typeface="Calibri"/>
                <a:cs typeface="Calibri"/>
              </a:rPr>
              <a:t> </a:t>
            </a:r>
            <a:r>
              <a:rPr lang="en-US" sz="2400" dirty="0">
                <a:latin typeface="Calibri"/>
                <a:cs typeface="Calibri"/>
              </a:rPr>
              <a:t>)</a:t>
            </a:r>
            <a:r>
              <a:rPr lang="en-US" sz="2400" spc="-15" dirty="0">
                <a:latin typeface="Calibri"/>
                <a:cs typeface="Calibri"/>
              </a:rPr>
              <a:t> =</a:t>
            </a:r>
            <a:r>
              <a:rPr lang="en-US" sz="2400" spc="-10" dirty="0">
                <a:latin typeface="Calibri"/>
                <a:cs typeface="Calibri"/>
              </a:rPr>
              <a:t> </a:t>
            </a:r>
            <a:r>
              <a:rPr lang="en-US" sz="2400" spc="-20" dirty="0">
                <a:latin typeface="Calibri"/>
                <a:cs typeface="Calibri"/>
              </a:rPr>
              <a:t>0.85</a:t>
            </a:r>
            <a:endParaRPr lang="en-US" sz="2400" dirty="0">
              <a:latin typeface="Calibri"/>
              <a:cs typeface="Calibri"/>
            </a:endParaRPr>
          </a:p>
          <a:p>
            <a:pPr marL="756285" lvl="1" indent="-286385">
              <a:lnSpc>
                <a:spcPct val="100000"/>
              </a:lnSpc>
              <a:spcBef>
                <a:spcPts val="670"/>
              </a:spcBef>
              <a:buFont typeface="Arial MT"/>
              <a:buChar char="–"/>
              <a:tabLst>
                <a:tab pos="756285" algn="l"/>
                <a:tab pos="5025390" algn="l"/>
              </a:tabLst>
            </a:pPr>
            <a:r>
              <a:rPr lang="en-US" sz="2400" spc="-10" dirty="0">
                <a:latin typeface="Calibri"/>
                <a:cs typeface="Calibri"/>
              </a:rPr>
              <a:t>P(</a:t>
            </a:r>
            <a:r>
              <a:rPr lang="en-US" sz="2400" spc="-10" dirty="0" err="1">
                <a:latin typeface="Calibri"/>
                <a:cs typeface="Calibri"/>
              </a:rPr>
              <a:t>DentalCatch</a:t>
            </a:r>
            <a:r>
              <a:rPr lang="en-US" sz="2400" spc="-60" dirty="0">
                <a:latin typeface="Calibri"/>
                <a:cs typeface="Calibri"/>
              </a:rPr>
              <a:t> </a:t>
            </a:r>
            <a:r>
              <a:rPr lang="en-US" sz="2400" dirty="0">
                <a:latin typeface="Calibri"/>
                <a:cs typeface="Calibri"/>
              </a:rPr>
              <a:t>=&gt;</a:t>
            </a:r>
            <a:r>
              <a:rPr lang="en-US" sz="2400" spc="-65" dirty="0">
                <a:latin typeface="Calibri"/>
                <a:cs typeface="Calibri"/>
              </a:rPr>
              <a:t> </a:t>
            </a:r>
            <a:r>
              <a:rPr lang="en-US" sz="2400" spc="-10" dirty="0" err="1">
                <a:latin typeface="Calibri"/>
                <a:cs typeface="Calibri"/>
              </a:rPr>
              <a:t>ToothAche</a:t>
            </a:r>
            <a:r>
              <a:rPr lang="en-US" sz="2400" dirty="0">
                <a:latin typeface="Calibri"/>
                <a:cs typeface="Calibri"/>
              </a:rPr>
              <a:t>	=</a:t>
            </a:r>
            <a:r>
              <a:rPr lang="en-US" sz="2400" spc="-25" dirty="0">
                <a:latin typeface="Calibri"/>
                <a:cs typeface="Calibri"/>
              </a:rPr>
              <a:t> </a:t>
            </a:r>
            <a:r>
              <a:rPr lang="en-US" sz="2400" dirty="0">
                <a:latin typeface="Calibri"/>
                <a:cs typeface="Calibri"/>
              </a:rPr>
              <a:t>true</a:t>
            </a:r>
            <a:r>
              <a:rPr lang="en-US" sz="2400" spc="-15" dirty="0">
                <a:latin typeface="Calibri"/>
                <a:cs typeface="Calibri"/>
              </a:rPr>
              <a:t> </a:t>
            </a:r>
            <a:r>
              <a:rPr lang="en-US" sz="2400" dirty="0">
                <a:latin typeface="Calibri"/>
                <a:cs typeface="Calibri"/>
              </a:rPr>
              <a:t>)</a:t>
            </a:r>
            <a:r>
              <a:rPr lang="en-US" sz="2400" spc="-15" dirty="0">
                <a:latin typeface="Calibri"/>
                <a:cs typeface="Calibri"/>
              </a:rPr>
              <a:t> =</a:t>
            </a:r>
            <a:r>
              <a:rPr lang="en-US" sz="2400" spc="-10" dirty="0">
                <a:latin typeface="Calibri"/>
                <a:cs typeface="Calibri"/>
              </a:rPr>
              <a:t> </a:t>
            </a:r>
            <a:r>
              <a:rPr lang="en-US" sz="2400" spc="-20" dirty="0">
                <a:latin typeface="Calibri"/>
                <a:cs typeface="Calibri"/>
              </a:rPr>
              <a:t>0.35</a:t>
            </a:r>
            <a:endParaRPr lang="en-US" sz="2400" spc="-10" dirty="0">
              <a:latin typeface="Calibri"/>
              <a:cs typeface="Calibri"/>
            </a:endParaRPr>
          </a:p>
          <a:p>
            <a:pPr marL="355600" marR="367030" indent="-342900" algn="just">
              <a:lnSpc>
                <a:spcPct val="100000"/>
              </a:lnSpc>
              <a:spcBef>
                <a:spcPts val="750"/>
              </a:spcBef>
              <a:buFont typeface="Arial MT"/>
              <a:buChar char="•"/>
              <a:tabLst>
                <a:tab pos="355600" algn="l"/>
              </a:tabLst>
            </a:pPr>
            <a:endParaRPr lang="en-US" sz="2400" dirty="0">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191465"/>
            <a:ext cx="8376919" cy="627736"/>
          </a:xfrm>
          <a:prstGeom prst="rect">
            <a:avLst/>
          </a:prstGeom>
          <a:solidFill>
            <a:schemeClr val="accent2"/>
          </a:solidFill>
        </p:spPr>
        <p:txBody>
          <a:bodyPr vert="horz" wrap="square" lIns="0" tIns="12065" rIns="0" bIns="0" rtlCol="0">
            <a:spAutoFit/>
          </a:bodyPr>
          <a:lstStyle/>
          <a:p>
            <a:pPr marL="1385570" marR="5080" indent="-513715" algn="ctr">
              <a:lnSpc>
                <a:spcPct val="100000"/>
              </a:lnSpc>
              <a:spcBef>
                <a:spcPts val="95"/>
              </a:spcBef>
            </a:pPr>
            <a:r>
              <a:rPr sz="4000" spc="-25" dirty="0">
                <a:solidFill>
                  <a:schemeClr val="bg1"/>
                </a:solidFill>
              </a:rPr>
              <a:t>Kolmogorov’s</a:t>
            </a:r>
            <a:r>
              <a:rPr sz="4000" spc="-155" dirty="0">
                <a:solidFill>
                  <a:schemeClr val="bg1"/>
                </a:solidFill>
              </a:rPr>
              <a:t> </a:t>
            </a:r>
            <a:r>
              <a:rPr sz="4000" spc="-10" dirty="0">
                <a:solidFill>
                  <a:schemeClr val="bg1"/>
                </a:solidFill>
              </a:rPr>
              <a:t>Axioms</a:t>
            </a:r>
            <a:endParaRPr sz="4000" dirty="0">
              <a:solidFill>
                <a:schemeClr val="bg1"/>
              </a:solidFill>
            </a:endParaRPr>
          </a:p>
        </p:txBody>
      </p:sp>
      <p:sp>
        <p:nvSpPr>
          <p:cNvPr id="3" name="object 3"/>
          <p:cNvSpPr txBox="1"/>
          <p:nvPr/>
        </p:nvSpPr>
        <p:spPr>
          <a:xfrm>
            <a:off x="382269" y="1183640"/>
            <a:ext cx="8069580" cy="4888518"/>
          </a:xfrm>
          <a:prstGeom prst="rect">
            <a:avLst/>
          </a:prstGeom>
        </p:spPr>
        <p:style>
          <a:lnRef idx="2">
            <a:schemeClr val="dk1"/>
          </a:lnRef>
          <a:fillRef idx="1">
            <a:schemeClr val="lt1"/>
          </a:fillRef>
          <a:effectRef idx="0">
            <a:schemeClr val="dk1"/>
          </a:effectRef>
          <a:fontRef idx="minor">
            <a:schemeClr val="dk1"/>
          </a:fontRef>
        </p:style>
        <p:txBody>
          <a:bodyPr vert="horz" wrap="square" lIns="0" tIns="60960" rIns="0" bIns="0" rtlCol="0">
            <a:spAutoFit/>
          </a:bodyPr>
          <a:lstStyle/>
          <a:p>
            <a:pPr marL="355600" marR="5080" indent="-342900">
              <a:lnSpc>
                <a:spcPts val="3460"/>
              </a:lnSpc>
              <a:spcBef>
                <a:spcPts val="819"/>
              </a:spcBef>
              <a:buFont typeface="Arial MT"/>
              <a:buChar char="•"/>
              <a:tabLst>
                <a:tab pos="355600" algn="l"/>
              </a:tabLst>
            </a:pPr>
            <a:r>
              <a:rPr sz="3200" dirty="0">
                <a:latin typeface="Calibri"/>
                <a:cs typeface="Calibri"/>
              </a:rPr>
              <a:t>All</a:t>
            </a:r>
            <a:r>
              <a:rPr sz="3200" spc="-75" dirty="0">
                <a:latin typeface="Calibri"/>
                <a:cs typeface="Calibri"/>
              </a:rPr>
              <a:t> </a:t>
            </a:r>
            <a:r>
              <a:rPr sz="3200" dirty="0">
                <a:latin typeface="Calibri"/>
                <a:cs typeface="Calibri"/>
              </a:rPr>
              <a:t>propositions</a:t>
            </a:r>
            <a:r>
              <a:rPr sz="3200" spc="-55" dirty="0">
                <a:latin typeface="Calibri"/>
                <a:cs typeface="Calibri"/>
              </a:rPr>
              <a:t> </a:t>
            </a:r>
            <a:r>
              <a:rPr sz="3200" dirty="0">
                <a:latin typeface="Calibri"/>
                <a:cs typeface="Calibri"/>
              </a:rPr>
              <a:t>are</a:t>
            </a:r>
            <a:r>
              <a:rPr sz="3200" spc="-85" dirty="0">
                <a:latin typeface="Calibri"/>
                <a:cs typeface="Calibri"/>
              </a:rPr>
              <a:t> </a:t>
            </a:r>
            <a:r>
              <a:rPr sz="3200" dirty="0">
                <a:latin typeface="Calibri"/>
                <a:cs typeface="Calibri"/>
              </a:rPr>
              <a:t>assigned</a:t>
            </a:r>
            <a:r>
              <a:rPr sz="3200" spc="-65" dirty="0">
                <a:latin typeface="Calibri"/>
                <a:cs typeface="Calibri"/>
              </a:rPr>
              <a:t> </a:t>
            </a:r>
            <a:r>
              <a:rPr sz="3200" dirty="0">
                <a:latin typeface="Calibri"/>
                <a:cs typeface="Calibri"/>
              </a:rPr>
              <a:t>values</a:t>
            </a:r>
            <a:r>
              <a:rPr sz="3200" spc="-90" dirty="0">
                <a:latin typeface="Calibri"/>
                <a:cs typeface="Calibri"/>
              </a:rPr>
              <a:t> </a:t>
            </a:r>
            <a:r>
              <a:rPr sz="3200" dirty="0">
                <a:latin typeface="Calibri"/>
                <a:cs typeface="Calibri"/>
              </a:rPr>
              <a:t>between</a:t>
            </a:r>
            <a:r>
              <a:rPr sz="3200" spc="-95" dirty="0">
                <a:latin typeface="Calibri"/>
                <a:cs typeface="Calibri"/>
              </a:rPr>
              <a:t> </a:t>
            </a:r>
            <a:r>
              <a:rPr sz="3200" spc="-50" dirty="0">
                <a:latin typeface="Calibri"/>
                <a:cs typeface="Calibri"/>
              </a:rPr>
              <a:t>0 </a:t>
            </a:r>
            <a:r>
              <a:rPr sz="3200" dirty="0">
                <a:latin typeface="Calibri"/>
                <a:cs typeface="Calibri"/>
              </a:rPr>
              <a:t>and</a:t>
            </a:r>
            <a:r>
              <a:rPr sz="3200" spc="-50" dirty="0">
                <a:latin typeface="Calibri"/>
                <a:cs typeface="Calibri"/>
              </a:rPr>
              <a:t> 1</a:t>
            </a:r>
            <a:endParaRPr sz="3200" dirty="0">
              <a:latin typeface="Calibri"/>
              <a:cs typeface="Calibri"/>
            </a:endParaRPr>
          </a:p>
          <a:p>
            <a:pPr marL="469900">
              <a:lnSpc>
                <a:spcPct val="100000"/>
              </a:lnSpc>
              <a:spcBef>
                <a:spcPts val="295"/>
              </a:spcBef>
              <a:tabLst>
                <a:tab pos="836930" algn="l"/>
              </a:tabLst>
            </a:pPr>
            <a:r>
              <a:rPr sz="2800" spc="-50" dirty="0">
                <a:latin typeface="Arial MT"/>
                <a:cs typeface="Arial MT"/>
              </a:rPr>
              <a:t>–</a:t>
            </a:r>
            <a:r>
              <a:rPr sz="2800" dirty="0">
                <a:latin typeface="Arial MT"/>
                <a:cs typeface="Arial MT"/>
              </a:rPr>
              <a:t>	</a:t>
            </a:r>
            <a:r>
              <a:rPr sz="2800" dirty="0">
                <a:latin typeface="Calibri"/>
                <a:cs typeface="Calibri"/>
              </a:rPr>
              <a:t>0&lt;=</a:t>
            </a:r>
            <a:r>
              <a:rPr sz="2800" spc="-40" dirty="0">
                <a:latin typeface="Calibri"/>
                <a:cs typeface="Calibri"/>
              </a:rPr>
              <a:t> </a:t>
            </a:r>
            <a:r>
              <a:rPr sz="2800" dirty="0">
                <a:latin typeface="Calibri"/>
                <a:cs typeface="Calibri"/>
              </a:rPr>
              <a:t>P(a)</a:t>
            </a:r>
            <a:r>
              <a:rPr sz="2800" spc="-55" dirty="0">
                <a:latin typeface="Calibri"/>
                <a:cs typeface="Calibri"/>
              </a:rPr>
              <a:t> </a:t>
            </a:r>
            <a:r>
              <a:rPr sz="2800" spc="-25" dirty="0">
                <a:latin typeface="Calibri"/>
                <a:cs typeface="Calibri"/>
              </a:rPr>
              <a:t>&lt;=1</a:t>
            </a:r>
            <a:endParaRPr lang="en-US" sz="2800" spc="-25" dirty="0">
              <a:latin typeface="Calibri"/>
              <a:cs typeface="Calibri"/>
            </a:endParaRPr>
          </a:p>
          <a:p>
            <a:pPr marL="469900">
              <a:lnSpc>
                <a:spcPct val="100000"/>
              </a:lnSpc>
              <a:spcBef>
                <a:spcPts val="295"/>
              </a:spcBef>
              <a:tabLst>
                <a:tab pos="836930" algn="l"/>
              </a:tabLst>
            </a:pPr>
            <a:endParaRPr sz="2800" dirty="0">
              <a:latin typeface="Calibri"/>
              <a:cs typeface="Calibri"/>
            </a:endParaRPr>
          </a:p>
          <a:p>
            <a:pPr marL="354965" indent="-342265">
              <a:lnSpc>
                <a:spcPct val="100000"/>
              </a:lnSpc>
              <a:spcBef>
                <a:spcPts val="370"/>
              </a:spcBef>
              <a:buFont typeface="Arial MT"/>
              <a:buChar char="•"/>
              <a:tabLst>
                <a:tab pos="354965" algn="l"/>
              </a:tabLst>
            </a:pPr>
            <a:r>
              <a:rPr lang="en-US" sz="3200" dirty="0">
                <a:latin typeface="Calibri"/>
                <a:cs typeface="Calibri"/>
              </a:rPr>
              <a:t>T</a:t>
            </a:r>
            <a:r>
              <a:rPr sz="3200" dirty="0">
                <a:latin typeface="Calibri"/>
                <a:cs typeface="Calibri"/>
              </a:rPr>
              <a:t>rue</a:t>
            </a:r>
            <a:r>
              <a:rPr sz="3200" spc="-45" dirty="0">
                <a:latin typeface="Calibri"/>
                <a:cs typeface="Calibri"/>
              </a:rPr>
              <a:t> </a:t>
            </a:r>
            <a:r>
              <a:rPr sz="3200" dirty="0">
                <a:latin typeface="Calibri"/>
                <a:cs typeface="Calibri"/>
              </a:rPr>
              <a:t>or</a:t>
            </a:r>
            <a:r>
              <a:rPr sz="3200" spc="-45" dirty="0">
                <a:latin typeface="Calibri"/>
                <a:cs typeface="Calibri"/>
              </a:rPr>
              <a:t> </a:t>
            </a:r>
            <a:r>
              <a:rPr lang="en-US" sz="3200" spc="-45" dirty="0">
                <a:latin typeface="Calibri"/>
                <a:cs typeface="Calibri"/>
              </a:rPr>
              <a:t>F</a:t>
            </a:r>
            <a:r>
              <a:rPr sz="3200" dirty="0">
                <a:latin typeface="Calibri"/>
                <a:cs typeface="Calibri"/>
              </a:rPr>
              <a:t>alse</a:t>
            </a:r>
            <a:r>
              <a:rPr sz="3200" spc="-50" dirty="0">
                <a:latin typeface="Calibri"/>
                <a:cs typeface="Calibri"/>
              </a:rPr>
              <a:t> </a:t>
            </a:r>
            <a:r>
              <a:rPr sz="3200" spc="-10" dirty="0">
                <a:latin typeface="Calibri"/>
                <a:cs typeface="Calibri"/>
              </a:rPr>
              <a:t>propositions</a:t>
            </a:r>
            <a:endParaRPr sz="3200" dirty="0">
              <a:latin typeface="Calibri"/>
              <a:cs typeface="Calibri"/>
            </a:endParaRPr>
          </a:p>
          <a:p>
            <a:pPr marL="756285" lvl="1" indent="-286385">
              <a:lnSpc>
                <a:spcPct val="100000"/>
              </a:lnSpc>
              <a:spcBef>
                <a:spcPts val="355"/>
              </a:spcBef>
              <a:buFont typeface="Arial MT"/>
              <a:buChar char="–"/>
              <a:tabLst>
                <a:tab pos="756285" algn="l"/>
              </a:tabLst>
            </a:pPr>
            <a:r>
              <a:rPr sz="2800" spc="-10" dirty="0">
                <a:latin typeface="Calibri"/>
                <a:cs typeface="Calibri"/>
              </a:rPr>
              <a:t>Valid</a:t>
            </a:r>
            <a:r>
              <a:rPr sz="2800" spc="-85" dirty="0">
                <a:latin typeface="Calibri"/>
                <a:cs typeface="Calibri"/>
              </a:rPr>
              <a:t> </a:t>
            </a:r>
            <a:r>
              <a:rPr sz="2800" spc="-10" dirty="0">
                <a:latin typeface="Calibri"/>
                <a:cs typeface="Calibri"/>
              </a:rPr>
              <a:t>Propositions</a:t>
            </a:r>
            <a:r>
              <a:rPr sz="2800" spc="-35" dirty="0">
                <a:latin typeface="Calibri"/>
                <a:cs typeface="Calibri"/>
              </a:rPr>
              <a:t> </a:t>
            </a:r>
            <a:r>
              <a:rPr sz="2800" dirty="0">
                <a:latin typeface="Calibri"/>
                <a:cs typeface="Calibri"/>
              </a:rPr>
              <a:t>have</a:t>
            </a:r>
            <a:r>
              <a:rPr sz="2800" spc="-90" dirty="0">
                <a:latin typeface="Calibri"/>
                <a:cs typeface="Calibri"/>
              </a:rPr>
              <a:t> </a:t>
            </a:r>
            <a:r>
              <a:rPr sz="2800" dirty="0">
                <a:latin typeface="Calibri"/>
                <a:cs typeface="Calibri"/>
              </a:rPr>
              <a:t>P(a)</a:t>
            </a:r>
            <a:r>
              <a:rPr sz="2800" spc="-80" dirty="0">
                <a:latin typeface="Calibri"/>
                <a:cs typeface="Calibri"/>
              </a:rPr>
              <a:t> </a:t>
            </a:r>
            <a:r>
              <a:rPr sz="2800" dirty="0">
                <a:latin typeface="Calibri"/>
                <a:cs typeface="Calibri"/>
              </a:rPr>
              <a:t>=</a:t>
            </a:r>
            <a:r>
              <a:rPr sz="2800" spc="-70" dirty="0">
                <a:latin typeface="Calibri"/>
                <a:cs typeface="Calibri"/>
              </a:rPr>
              <a:t> </a:t>
            </a:r>
            <a:r>
              <a:rPr sz="2800" spc="-50" dirty="0">
                <a:latin typeface="Calibri"/>
                <a:cs typeface="Calibri"/>
              </a:rPr>
              <a:t>1</a:t>
            </a:r>
            <a:endParaRPr sz="2800" dirty="0">
              <a:latin typeface="Calibri"/>
              <a:cs typeface="Calibri"/>
            </a:endParaRPr>
          </a:p>
          <a:p>
            <a:pPr marL="756285" lvl="1" indent="-286385">
              <a:lnSpc>
                <a:spcPct val="100000"/>
              </a:lnSpc>
              <a:spcBef>
                <a:spcPts val="335"/>
              </a:spcBef>
              <a:buFont typeface="Arial MT"/>
              <a:buChar char="–"/>
              <a:tabLst>
                <a:tab pos="756285" algn="l"/>
              </a:tabLst>
            </a:pPr>
            <a:r>
              <a:rPr sz="2800" dirty="0">
                <a:latin typeface="Calibri"/>
                <a:cs typeface="Calibri"/>
              </a:rPr>
              <a:t>Invalid</a:t>
            </a:r>
            <a:r>
              <a:rPr sz="2800" spc="-80" dirty="0">
                <a:latin typeface="Calibri"/>
                <a:cs typeface="Calibri"/>
              </a:rPr>
              <a:t> </a:t>
            </a:r>
            <a:r>
              <a:rPr sz="2800" spc="-10" dirty="0">
                <a:latin typeface="Calibri"/>
                <a:cs typeface="Calibri"/>
              </a:rPr>
              <a:t>Propositions</a:t>
            </a:r>
            <a:r>
              <a:rPr sz="2800" spc="-40" dirty="0">
                <a:latin typeface="Calibri"/>
                <a:cs typeface="Calibri"/>
              </a:rPr>
              <a:t> </a:t>
            </a:r>
            <a:r>
              <a:rPr sz="2800" dirty="0">
                <a:latin typeface="Calibri"/>
                <a:cs typeface="Calibri"/>
              </a:rPr>
              <a:t>have</a:t>
            </a:r>
            <a:r>
              <a:rPr sz="2800" spc="-80" dirty="0">
                <a:latin typeface="Calibri"/>
                <a:cs typeface="Calibri"/>
              </a:rPr>
              <a:t> </a:t>
            </a:r>
            <a:r>
              <a:rPr sz="2800" dirty="0">
                <a:latin typeface="Calibri"/>
                <a:cs typeface="Calibri"/>
              </a:rPr>
              <a:t>P(a)</a:t>
            </a:r>
            <a:r>
              <a:rPr sz="2800" spc="-80" dirty="0">
                <a:latin typeface="Calibri"/>
                <a:cs typeface="Calibri"/>
              </a:rPr>
              <a:t> </a:t>
            </a:r>
            <a:r>
              <a:rPr sz="2800" dirty="0">
                <a:latin typeface="Calibri"/>
                <a:cs typeface="Calibri"/>
              </a:rPr>
              <a:t>=</a:t>
            </a:r>
            <a:r>
              <a:rPr sz="2800" spc="-75" dirty="0">
                <a:latin typeface="Calibri"/>
                <a:cs typeface="Calibri"/>
              </a:rPr>
              <a:t> </a:t>
            </a:r>
            <a:r>
              <a:rPr sz="2800" spc="-50" dirty="0">
                <a:latin typeface="Calibri"/>
                <a:cs typeface="Calibri"/>
              </a:rPr>
              <a:t>0</a:t>
            </a:r>
            <a:endParaRPr lang="en-US" sz="2800" spc="-50" dirty="0">
              <a:latin typeface="Calibri"/>
              <a:cs typeface="Calibri"/>
            </a:endParaRPr>
          </a:p>
          <a:p>
            <a:pPr marL="756285" lvl="1" indent="-286385">
              <a:lnSpc>
                <a:spcPct val="100000"/>
              </a:lnSpc>
              <a:spcBef>
                <a:spcPts val="335"/>
              </a:spcBef>
              <a:buFont typeface="Arial MT"/>
              <a:buChar char="–"/>
              <a:tabLst>
                <a:tab pos="756285" algn="l"/>
              </a:tabLst>
            </a:pPr>
            <a:endParaRPr sz="2800" dirty="0">
              <a:latin typeface="Calibri"/>
              <a:cs typeface="Calibri"/>
            </a:endParaRPr>
          </a:p>
          <a:p>
            <a:pPr marL="354965" indent="-342265">
              <a:lnSpc>
                <a:spcPct val="100000"/>
              </a:lnSpc>
              <a:spcBef>
                <a:spcPts val="370"/>
              </a:spcBef>
              <a:buFont typeface="Arial MT"/>
              <a:buChar char="•"/>
              <a:tabLst>
                <a:tab pos="354965" algn="l"/>
              </a:tabLst>
            </a:pPr>
            <a:r>
              <a:rPr sz="3200" dirty="0">
                <a:latin typeface="Calibri"/>
                <a:cs typeface="Calibri"/>
              </a:rPr>
              <a:t>The</a:t>
            </a:r>
            <a:r>
              <a:rPr sz="3200" spc="-50" dirty="0">
                <a:latin typeface="Calibri"/>
                <a:cs typeface="Calibri"/>
              </a:rPr>
              <a:t> </a:t>
            </a:r>
            <a:r>
              <a:rPr sz="3200" dirty="0">
                <a:latin typeface="Calibri"/>
                <a:cs typeface="Calibri"/>
              </a:rPr>
              <a:t>probability</a:t>
            </a:r>
            <a:r>
              <a:rPr sz="3200" spc="-30" dirty="0">
                <a:latin typeface="Calibri"/>
                <a:cs typeface="Calibri"/>
              </a:rPr>
              <a:t> </a:t>
            </a:r>
            <a:r>
              <a:rPr sz="3200" dirty="0">
                <a:latin typeface="Calibri"/>
                <a:cs typeface="Calibri"/>
              </a:rPr>
              <a:t>of</a:t>
            </a:r>
            <a:r>
              <a:rPr sz="3200" spc="-50" dirty="0">
                <a:latin typeface="Calibri"/>
                <a:cs typeface="Calibri"/>
              </a:rPr>
              <a:t> </a:t>
            </a:r>
            <a:r>
              <a:rPr sz="3200" dirty="0">
                <a:latin typeface="Calibri"/>
                <a:cs typeface="Calibri"/>
              </a:rPr>
              <a:t>a</a:t>
            </a:r>
            <a:r>
              <a:rPr sz="3200" spc="-50" dirty="0">
                <a:latin typeface="Calibri"/>
                <a:cs typeface="Calibri"/>
              </a:rPr>
              <a:t> </a:t>
            </a:r>
            <a:r>
              <a:rPr sz="3200" dirty="0">
                <a:latin typeface="Calibri"/>
                <a:cs typeface="Calibri"/>
              </a:rPr>
              <a:t>disjunction</a:t>
            </a:r>
            <a:r>
              <a:rPr sz="3200" spc="-25" dirty="0">
                <a:latin typeface="Calibri"/>
                <a:cs typeface="Calibri"/>
              </a:rPr>
              <a:t> </a:t>
            </a:r>
            <a:r>
              <a:rPr sz="3200" dirty="0">
                <a:latin typeface="Calibri"/>
                <a:cs typeface="Calibri"/>
              </a:rPr>
              <a:t>is</a:t>
            </a:r>
            <a:r>
              <a:rPr sz="3200" spc="-60" dirty="0">
                <a:latin typeface="Calibri"/>
                <a:cs typeface="Calibri"/>
              </a:rPr>
              <a:t> </a:t>
            </a:r>
            <a:r>
              <a:rPr sz="3200" dirty="0">
                <a:latin typeface="Calibri"/>
                <a:cs typeface="Calibri"/>
              </a:rPr>
              <a:t>given</a:t>
            </a:r>
            <a:r>
              <a:rPr sz="3200" spc="-45" dirty="0">
                <a:latin typeface="Calibri"/>
                <a:cs typeface="Calibri"/>
              </a:rPr>
              <a:t> </a:t>
            </a:r>
            <a:r>
              <a:rPr sz="3200" spc="-25" dirty="0">
                <a:latin typeface="Calibri"/>
                <a:cs typeface="Calibri"/>
              </a:rPr>
              <a:t>by</a:t>
            </a:r>
            <a:endParaRPr sz="3200" dirty="0">
              <a:latin typeface="Calibri"/>
              <a:cs typeface="Calibri"/>
            </a:endParaRPr>
          </a:p>
          <a:p>
            <a:pPr marL="756285" lvl="1" indent="-286385">
              <a:lnSpc>
                <a:spcPct val="100000"/>
              </a:lnSpc>
              <a:spcBef>
                <a:spcPts val="355"/>
              </a:spcBef>
              <a:buFont typeface="Arial MT"/>
              <a:buChar char="–"/>
              <a:tabLst>
                <a:tab pos="756285" algn="l"/>
                <a:tab pos="2038350" algn="l"/>
              </a:tabLst>
            </a:pPr>
            <a:r>
              <a:rPr sz="2800" dirty="0">
                <a:latin typeface="Calibri"/>
                <a:cs typeface="Calibri"/>
              </a:rPr>
              <a:t>P(a</a:t>
            </a:r>
            <a:r>
              <a:rPr sz="2800" spc="-35" dirty="0">
                <a:latin typeface="Calibri"/>
                <a:cs typeface="Calibri"/>
              </a:rPr>
              <a:t> </a:t>
            </a:r>
            <a:r>
              <a:rPr sz="2800" dirty="0">
                <a:latin typeface="Calibri"/>
                <a:cs typeface="Calibri"/>
              </a:rPr>
              <a:t>V</a:t>
            </a:r>
            <a:r>
              <a:rPr sz="2800" spc="-10" dirty="0">
                <a:latin typeface="Calibri"/>
                <a:cs typeface="Calibri"/>
              </a:rPr>
              <a:t> </a:t>
            </a:r>
            <a:r>
              <a:rPr sz="2800" spc="-25" dirty="0">
                <a:latin typeface="Calibri"/>
                <a:cs typeface="Calibri"/>
              </a:rPr>
              <a:t>b)</a:t>
            </a:r>
            <a:r>
              <a:rPr sz="2800" dirty="0">
                <a:latin typeface="Calibri"/>
                <a:cs typeface="Calibri"/>
              </a:rPr>
              <a:t>	=</a:t>
            </a:r>
            <a:r>
              <a:rPr sz="2800" spc="-35" dirty="0">
                <a:latin typeface="Calibri"/>
                <a:cs typeface="Calibri"/>
              </a:rPr>
              <a:t> </a:t>
            </a:r>
            <a:r>
              <a:rPr sz="2800" dirty="0">
                <a:latin typeface="Calibri"/>
                <a:cs typeface="Calibri"/>
              </a:rPr>
              <a:t>P(a)</a:t>
            </a:r>
            <a:r>
              <a:rPr sz="2800" spc="-10"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P(b)</a:t>
            </a:r>
            <a:r>
              <a:rPr sz="2800" spc="15"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P(a</a:t>
            </a:r>
            <a:r>
              <a:rPr sz="2800" spc="-35" dirty="0">
                <a:latin typeface="Calibri"/>
                <a:cs typeface="Calibri"/>
              </a:rPr>
              <a:t> </a:t>
            </a:r>
            <a:r>
              <a:rPr sz="2800" dirty="0">
                <a:latin typeface="Calibri"/>
                <a:cs typeface="Calibri"/>
              </a:rPr>
              <a:t>^</a:t>
            </a:r>
            <a:r>
              <a:rPr sz="2800" spc="-5" dirty="0">
                <a:latin typeface="Calibri"/>
                <a:cs typeface="Calibri"/>
              </a:rPr>
              <a:t> </a:t>
            </a:r>
            <a:r>
              <a:rPr sz="2800" spc="-25" dirty="0">
                <a:latin typeface="Calibri"/>
                <a:cs typeface="Calibri"/>
              </a:rPr>
              <a:t>b)</a:t>
            </a:r>
            <a:endParaRPr sz="28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1049" y="191465"/>
            <a:ext cx="7181900" cy="901785"/>
          </a:xfrm>
          <a:prstGeom prst="rect">
            <a:avLst/>
          </a:prstGeom>
          <a:solidFill>
            <a:schemeClr val="accent2"/>
          </a:solidFill>
        </p:spPr>
        <p:txBody>
          <a:bodyPr vert="horz" wrap="square" lIns="0" tIns="283464" rIns="0" bIns="0" rtlCol="0">
            <a:spAutoFit/>
          </a:bodyPr>
          <a:lstStyle/>
          <a:p>
            <a:pPr algn="ctr">
              <a:lnSpc>
                <a:spcPct val="100000"/>
              </a:lnSpc>
              <a:spcBef>
                <a:spcPts val="105"/>
              </a:spcBef>
            </a:pPr>
            <a:r>
              <a:rPr sz="4000" dirty="0">
                <a:solidFill>
                  <a:schemeClr val="bg1"/>
                </a:solidFill>
              </a:rPr>
              <a:t>Derived</a:t>
            </a:r>
            <a:r>
              <a:rPr sz="4000" spc="-50" dirty="0">
                <a:solidFill>
                  <a:schemeClr val="bg1"/>
                </a:solidFill>
              </a:rPr>
              <a:t> </a:t>
            </a:r>
            <a:r>
              <a:rPr sz="4000" spc="-10" dirty="0">
                <a:solidFill>
                  <a:schemeClr val="bg1"/>
                </a:solidFill>
              </a:rPr>
              <a:t>Axioms</a:t>
            </a:r>
          </a:p>
        </p:txBody>
      </p:sp>
      <p:sp>
        <p:nvSpPr>
          <p:cNvPr id="3" name="object 3"/>
          <p:cNvSpPr txBox="1"/>
          <p:nvPr/>
        </p:nvSpPr>
        <p:spPr>
          <a:xfrm>
            <a:off x="485140" y="1509112"/>
            <a:ext cx="7612380" cy="3382977"/>
          </a:xfrm>
          <a:prstGeom prst="rect">
            <a:avLst/>
          </a:prstGeom>
        </p:spPr>
        <p:txBody>
          <a:bodyPr vert="horz" wrap="square" lIns="0" tIns="111760" rIns="0" bIns="0" rtlCol="0">
            <a:spAutoFit/>
          </a:bodyPr>
          <a:lstStyle/>
          <a:p>
            <a:pPr marL="405765" indent="-342265">
              <a:lnSpc>
                <a:spcPct val="100000"/>
              </a:lnSpc>
              <a:spcBef>
                <a:spcPts val="880"/>
              </a:spcBef>
              <a:buFont typeface="Arial MT"/>
              <a:buChar char="•"/>
              <a:tabLst>
                <a:tab pos="405765" algn="l"/>
              </a:tabLst>
            </a:pPr>
            <a:r>
              <a:rPr sz="3200" dirty="0">
                <a:latin typeface="Calibri"/>
                <a:cs typeface="Calibri"/>
              </a:rPr>
              <a:t>P(~a)</a:t>
            </a:r>
            <a:r>
              <a:rPr sz="3200" spc="-40" dirty="0">
                <a:latin typeface="Calibri"/>
                <a:cs typeface="Calibri"/>
              </a:rPr>
              <a:t> </a:t>
            </a:r>
            <a:r>
              <a:rPr sz="3200" dirty="0">
                <a:latin typeface="Calibri"/>
                <a:cs typeface="Calibri"/>
              </a:rPr>
              <a:t>=</a:t>
            </a:r>
            <a:r>
              <a:rPr sz="3200" spc="-45" dirty="0">
                <a:latin typeface="Calibri"/>
                <a:cs typeface="Calibri"/>
              </a:rPr>
              <a:t> </a:t>
            </a:r>
            <a:r>
              <a:rPr sz="3200" spc="-10" dirty="0">
                <a:latin typeface="Calibri"/>
                <a:cs typeface="Calibri"/>
              </a:rPr>
              <a:t>1-</a:t>
            </a:r>
            <a:r>
              <a:rPr sz="3200" spc="-20" dirty="0">
                <a:latin typeface="Calibri"/>
                <a:cs typeface="Calibri"/>
              </a:rPr>
              <a:t>P(a)</a:t>
            </a:r>
            <a:endParaRPr lang="en-US" sz="3200" spc="-20" dirty="0">
              <a:latin typeface="Calibri"/>
              <a:cs typeface="Calibri"/>
            </a:endParaRPr>
          </a:p>
          <a:p>
            <a:pPr marL="405765" indent="-342265">
              <a:lnSpc>
                <a:spcPct val="100000"/>
              </a:lnSpc>
              <a:spcBef>
                <a:spcPts val="880"/>
              </a:spcBef>
              <a:buFont typeface="Arial MT"/>
              <a:buChar char="•"/>
              <a:tabLst>
                <a:tab pos="405765" algn="l"/>
              </a:tabLst>
            </a:pPr>
            <a:endParaRPr sz="3200" dirty="0">
              <a:latin typeface="Calibri"/>
              <a:cs typeface="Calibri"/>
            </a:endParaRPr>
          </a:p>
          <a:p>
            <a:pPr marL="405765" indent="-342265">
              <a:lnSpc>
                <a:spcPts val="2740"/>
              </a:lnSpc>
              <a:spcBef>
                <a:spcPts val="780"/>
              </a:spcBef>
              <a:buFont typeface="Arial MT"/>
              <a:buChar char="•"/>
              <a:tabLst>
                <a:tab pos="405765" algn="l"/>
              </a:tabLst>
            </a:pPr>
            <a:r>
              <a:rPr sz="4800" spc="112" baseline="2604" dirty="0">
                <a:latin typeface="Cambria Math"/>
                <a:cs typeface="Cambria Math"/>
              </a:rPr>
              <a:t>∑</a:t>
            </a:r>
            <a:r>
              <a:rPr sz="3525" spc="112" baseline="30732" dirty="0">
                <a:latin typeface="Cambria Math"/>
                <a:cs typeface="Cambria Math"/>
              </a:rPr>
              <a:t>𝑛</a:t>
            </a:r>
            <a:r>
              <a:rPr sz="3525" spc="97" baseline="30732" dirty="0">
                <a:latin typeface="Cambria Math"/>
                <a:cs typeface="Cambria Math"/>
              </a:rPr>
              <a:t> </a:t>
            </a:r>
            <a:r>
              <a:rPr sz="3200" dirty="0">
                <a:latin typeface="Cambria Math"/>
                <a:cs typeface="Cambria Math"/>
              </a:rPr>
              <a:t>𝑃(𝐷</a:t>
            </a:r>
            <a:r>
              <a:rPr sz="3200" spc="305" dirty="0">
                <a:latin typeface="Cambria Math"/>
                <a:cs typeface="Cambria Math"/>
              </a:rPr>
              <a:t> </a:t>
            </a:r>
            <a:r>
              <a:rPr sz="3200" dirty="0">
                <a:latin typeface="Cambria Math"/>
                <a:cs typeface="Cambria Math"/>
              </a:rPr>
              <a:t>=</a:t>
            </a:r>
            <a:r>
              <a:rPr sz="3200" spc="210" dirty="0">
                <a:latin typeface="Cambria Math"/>
                <a:cs typeface="Cambria Math"/>
              </a:rPr>
              <a:t> </a:t>
            </a:r>
            <a:r>
              <a:rPr lang="en-US" sz="3200" spc="-30" dirty="0">
                <a:latin typeface="Calibri"/>
                <a:cs typeface="Calibri"/>
              </a:rPr>
              <a:t>d</a:t>
            </a:r>
            <a:r>
              <a:rPr lang="en-US" sz="3200" baseline="-25000" dirty="0">
                <a:latin typeface="Calibri"/>
                <a:cs typeface="Calibri"/>
              </a:rPr>
              <a:t>i</a:t>
            </a:r>
            <a:r>
              <a:rPr sz="3200" dirty="0">
                <a:latin typeface="Cambria Math"/>
                <a:cs typeface="Cambria Math"/>
              </a:rPr>
              <a:t>)</a:t>
            </a:r>
            <a:r>
              <a:rPr sz="3200" spc="210" dirty="0">
                <a:latin typeface="Cambria Math"/>
                <a:cs typeface="Cambria Math"/>
              </a:rPr>
              <a:t> </a:t>
            </a:r>
            <a:r>
              <a:rPr sz="3200" dirty="0">
                <a:latin typeface="Cambria Math"/>
                <a:cs typeface="Cambria Math"/>
              </a:rPr>
              <a:t>=</a:t>
            </a:r>
            <a:r>
              <a:rPr sz="3200" spc="210" dirty="0">
                <a:latin typeface="Cambria Math"/>
                <a:cs typeface="Cambria Math"/>
              </a:rPr>
              <a:t> </a:t>
            </a:r>
            <a:r>
              <a:rPr sz="3200" spc="-50" dirty="0">
                <a:latin typeface="Cambria Math"/>
                <a:cs typeface="Cambria Math"/>
              </a:rPr>
              <a:t>1</a:t>
            </a:r>
            <a:endParaRPr sz="3200" dirty="0">
              <a:latin typeface="Cambria Math"/>
              <a:cs typeface="Cambria Math"/>
            </a:endParaRPr>
          </a:p>
          <a:p>
            <a:pPr marL="694690">
              <a:lnSpc>
                <a:spcPts val="1720"/>
              </a:lnSpc>
            </a:pPr>
            <a:r>
              <a:rPr sz="2350" spc="15" dirty="0">
                <a:latin typeface="Cambria Math"/>
                <a:cs typeface="Cambria Math"/>
              </a:rPr>
              <a:t>𝑖</a:t>
            </a:r>
            <a:endParaRPr sz="2350" dirty="0">
              <a:latin typeface="Cambria Math"/>
              <a:cs typeface="Cambria Math"/>
            </a:endParaRPr>
          </a:p>
          <a:p>
            <a:pPr marL="63500" marR="43180">
              <a:lnSpc>
                <a:spcPct val="100000"/>
              </a:lnSpc>
              <a:spcBef>
                <a:spcPts val="145"/>
              </a:spcBef>
              <a:tabLst>
                <a:tab pos="406400" algn="l"/>
                <a:tab pos="681990" algn="l"/>
              </a:tabLst>
            </a:pPr>
            <a:endParaRPr lang="en-US" sz="3200" dirty="0">
              <a:latin typeface="Arial MT"/>
              <a:cs typeface="Calibri"/>
            </a:endParaRPr>
          </a:p>
          <a:p>
            <a:pPr marL="63500" marR="43180">
              <a:lnSpc>
                <a:spcPct val="100000"/>
              </a:lnSpc>
              <a:spcBef>
                <a:spcPts val="145"/>
              </a:spcBef>
              <a:tabLst>
                <a:tab pos="406400" algn="l"/>
                <a:tab pos="681990" algn="l"/>
              </a:tabLst>
            </a:pPr>
            <a:r>
              <a:rPr sz="3200" dirty="0">
                <a:latin typeface="Calibri"/>
                <a:cs typeface="Calibri"/>
              </a:rPr>
              <a:t>where</a:t>
            </a:r>
            <a:r>
              <a:rPr sz="3200" spc="-65" dirty="0">
                <a:latin typeface="Calibri"/>
                <a:cs typeface="Calibri"/>
              </a:rPr>
              <a:t> </a:t>
            </a:r>
            <a:r>
              <a:rPr sz="3200" dirty="0">
                <a:latin typeface="Calibri"/>
                <a:cs typeface="Calibri"/>
              </a:rPr>
              <a:t>D</a:t>
            </a:r>
            <a:r>
              <a:rPr sz="3200" spc="-55" dirty="0">
                <a:latin typeface="Calibri"/>
                <a:cs typeface="Calibri"/>
              </a:rPr>
              <a:t> </a:t>
            </a:r>
            <a:r>
              <a:rPr sz="3200" dirty="0">
                <a:latin typeface="Calibri"/>
                <a:cs typeface="Calibri"/>
              </a:rPr>
              <a:t>is</a:t>
            </a:r>
            <a:r>
              <a:rPr sz="3200" spc="-45" dirty="0">
                <a:latin typeface="Calibri"/>
                <a:cs typeface="Calibri"/>
              </a:rPr>
              <a:t> </a:t>
            </a:r>
            <a:r>
              <a:rPr sz="3200" dirty="0">
                <a:latin typeface="Calibri"/>
                <a:cs typeface="Calibri"/>
              </a:rPr>
              <a:t>a</a:t>
            </a:r>
            <a:r>
              <a:rPr sz="3200" spc="-50" dirty="0">
                <a:latin typeface="Calibri"/>
                <a:cs typeface="Calibri"/>
              </a:rPr>
              <a:t> </a:t>
            </a:r>
            <a:r>
              <a:rPr sz="3200" dirty="0">
                <a:latin typeface="Calibri"/>
                <a:cs typeface="Calibri"/>
              </a:rPr>
              <a:t>domain</a:t>
            </a:r>
            <a:r>
              <a:rPr sz="3200" spc="-30" dirty="0">
                <a:latin typeface="Calibri"/>
                <a:cs typeface="Calibri"/>
              </a:rPr>
              <a:t> </a:t>
            </a:r>
            <a:r>
              <a:rPr sz="3200" dirty="0">
                <a:latin typeface="Calibri"/>
                <a:cs typeface="Calibri"/>
              </a:rPr>
              <a:t>variable</a:t>
            </a:r>
            <a:r>
              <a:rPr sz="3200" spc="-50" dirty="0">
                <a:latin typeface="Calibri"/>
                <a:cs typeface="Calibri"/>
              </a:rPr>
              <a:t> </a:t>
            </a:r>
            <a:r>
              <a:rPr sz="3200" dirty="0">
                <a:latin typeface="Calibri"/>
                <a:cs typeface="Calibri"/>
              </a:rPr>
              <a:t>and</a:t>
            </a:r>
            <a:r>
              <a:rPr lang="en-US" sz="3200" spc="-30" dirty="0">
                <a:latin typeface="Calibri"/>
                <a:cs typeface="Calibri"/>
              </a:rPr>
              <a:t> d</a:t>
            </a:r>
            <a:r>
              <a:rPr sz="3200" baseline="-25000" dirty="0">
                <a:latin typeface="Calibri"/>
                <a:cs typeface="Calibri"/>
              </a:rPr>
              <a:t>i</a:t>
            </a:r>
            <a:r>
              <a:rPr sz="3200" spc="-50" dirty="0">
                <a:latin typeface="Calibri"/>
                <a:cs typeface="Calibri"/>
              </a:rPr>
              <a:t> </a:t>
            </a:r>
            <a:r>
              <a:rPr sz="3200" dirty="0">
                <a:latin typeface="Calibri"/>
                <a:cs typeface="Calibri"/>
              </a:rPr>
              <a:t>is</a:t>
            </a:r>
            <a:r>
              <a:rPr sz="3200" spc="-50" dirty="0">
                <a:latin typeface="Calibri"/>
                <a:cs typeface="Calibri"/>
              </a:rPr>
              <a:t> </a:t>
            </a:r>
            <a:r>
              <a:rPr sz="3200" spc="-25" dirty="0">
                <a:latin typeface="Calibri"/>
                <a:cs typeface="Calibri"/>
              </a:rPr>
              <a:t>the </a:t>
            </a:r>
            <a:r>
              <a:rPr sz="3200" dirty="0">
                <a:latin typeface="Calibri"/>
                <a:cs typeface="Calibri"/>
              </a:rPr>
              <a:t>set</a:t>
            </a:r>
            <a:r>
              <a:rPr sz="3200" spc="-35" dirty="0">
                <a:latin typeface="Calibri"/>
                <a:cs typeface="Calibri"/>
              </a:rPr>
              <a:t> </a:t>
            </a:r>
            <a:r>
              <a:rPr sz="3200" dirty="0">
                <a:latin typeface="Calibri"/>
                <a:cs typeface="Calibri"/>
              </a:rPr>
              <a:t>of</a:t>
            </a:r>
            <a:r>
              <a:rPr sz="3200" spc="-45" dirty="0">
                <a:latin typeface="Calibri"/>
                <a:cs typeface="Calibri"/>
              </a:rPr>
              <a:t> </a:t>
            </a:r>
            <a:r>
              <a:rPr sz="3200" dirty="0">
                <a:latin typeface="Calibri"/>
                <a:cs typeface="Calibri"/>
              </a:rPr>
              <a:t>all</a:t>
            </a:r>
            <a:r>
              <a:rPr sz="3200" spc="-30" dirty="0">
                <a:latin typeface="Calibri"/>
                <a:cs typeface="Calibri"/>
              </a:rPr>
              <a:t> </a:t>
            </a:r>
            <a:r>
              <a:rPr sz="3200" dirty="0">
                <a:latin typeface="Calibri"/>
                <a:cs typeface="Calibri"/>
              </a:rPr>
              <a:t>possible</a:t>
            </a:r>
            <a:r>
              <a:rPr sz="3200" spc="-25" dirty="0">
                <a:latin typeface="Calibri"/>
                <a:cs typeface="Calibri"/>
              </a:rPr>
              <a:t> </a:t>
            </a:r>
            <a:r>
              <a:rPr sz="3200" spc="-10" dirty="0">
                <a:latin typeface="Calibri"/>
                <a:cs typeface="Calibri"/>
              </a:rPr>
              <a:t>discrete</a:t>
            </a:r>
            <a:r>
              <a:rPr sz="3200" spc="-50" dirty="0">
                <a:latin typeface="Calibri"/>
                <a:cs typeface="Calibri"/>
              </a:rPr>
              <a:t> </a:t>
            </a:r>
            <a:r>
              <a:rPr sz="3200" dirty="0">
                <a:latin typeface="Calibri"/>
                <a:cs typeface="Calibri"/>
              </a:rPr>
              <a:t>values</a:t>
            </a:r>
            <a:r>
              <a:rPr sz="3200" spc="-45" dirty="0">
                <a:latin typeface="Calibri"/>
                <a:cs typeface="Calibri"/>
              </a:rPr>
              <a:t> </a:t>
            </a:r>
            <a:r>
              <a:rPr sz="3200" dirty="0">
                <a:latin typeface="Calibri"/>
                <a:cs typeface="Calibri"/>
              </a:rPr>
              <a:t>of</a:t>
            </a:r>
            <a:r>
              <a:rPr sz="3200" spc="-35" dirty="0">
                <a:latin typeface="Calibri"/>
                <a:cs typeface="Calibri"/>
              </a:rPr>
              <a:t> </a:t>
            </a:r>
            <a:r>
              <a:rPr sz="3200" spc="-25" dirty="0">
                <a:latin typeface="Calibri"/>
                <a:cs typeface="Calibri"/>
              </a:rPr>
              <a:t>D.</a:t>
            </a:r>
            <a:endParaRPr sz="32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535940" y="1527621"/>
            <a:ext cx="8227060" cy="2250616"/>
          </a:xfrm>
          <a:prstGeom prst="rect">
            <a:avLst/>
          </a:prstGeom>
        </p:spPr>
        <p:style>
          <a:lnRef idx="2">
            <a:schemeClr val="dk1"/>
          </a:lnRef>
          <a:fillRef idx="1">
            <a:schemeClr val="lt1"/>
          </a:fillRef>
          <a:effectRef idx="0">
            <a:schemeClr val="dk1"/>
          </a:effectRef>
          <a:fontRef idx="minor">
            <a:schemeClr val="dk1"/>
          </a:fontRef>
        </p:style>
        <p:txBody>
          <a:bodyPr vert="horz" wrap="square" lIns="0" tIns="95250" rIns="0" bIns="0" rtlCol="0">
            <a:spAutoFit/>
          </a:bodyPr>
          <a:lstStyle/>
          <a:p>
            <a:pPr marL="12700">
              <a:lnSpc>
                <a:spcPct val="100000"/>
              </a:lnSpc>
              <a:spcBef>
                <a:spcPts val="750"/>
              </a:spcBef>
              <a:tabLst>
                <a:tab pos="5187315" algn="l"/>
              </a:tabLst>
            </a:pPr>
            <a:r>
              <a:rPr sz="2800" dirty="0">
                <a:latin typeface="Calibri"/>
                <a:cs typeface="Calibri"/>
              </a:rPr>
              <a:t>Given</a:t>
            </a:r>
            <a:r>
              <a:rPr sz="2800" spc="-80" dirty="0">
                <a:latin typeface="Calibri"/>
                <a:cs typeface="Calibri"/>
              </a:rPr>
              <a:t> </a:t>
            </a:r>
            <a:r>
              <a:rPr sz="2800" spc="-10" dirty="0">
                <a:latin typeface="Calibri"/>
                <a:cs typeface="Calibri"/>
              </a:rPr>
              <a:t>P(DentalCatch</a:t>
            </a:r>
            <a:r>
              <a:rPr sz="2800" spc="-50" dirty="0">
                <a:latin typeface="Calibri"/>
                <a:cs typeface="Calibri"/>
              </a:rPr>
              <a:t> </a:t>
            </a:r>
            <a:r>
              <a:rPr sz="2800" dirty="0">
                <a:latin typeface="Calibri"/>
                <a:cs typeface="Calibri"/>
              </a:rPr>
              <a:t>=&gt;</a:t>
            </a:r>
            <a:r>
              <a:rPr sz="2800" spc="-75" dirty="0">
                <a:latin typeface="Calibri"/>
                <a:cs typeface="Calibri"/>
              </a:rPr>
              <a:t> </a:t>
            </a:r>
            <a:r>
              <a:rPr sz="2800" spc="-10" dirty="0">
                <a:latin typeface="Calibri"/>
                <a:cs typeface="Calibri"/>
              </a:rPr>
              <a:t>ToothAche</a:t>
            </a:r>
            <a:r>
              <a:rPr sz="2800" dirty="0">
                <a:latin typeface="Calibri"/>
                <a:cs typeface="Calibri"/>
              </a:rPr>
              <a:t>	=</a:t>
            </a:r>
            <a:r>
              <a:rPr sz="2800" spc="-10" dirty="0">
                <a:latin typeface="Calibri"/>
                <a:cs typeface="Calibri"/>
              </a:rPr>
              <a:t> </a:t>
            </a:r>
            <a:r>
              <a:rPr sz="2800" dirty="0">
                <a:latin typeface="Calibri"/>
                <a:cs typeface="Calibri"/>
              </a:rPr>
              <a:t>true</a:t>
            </a:r>
            <a:r>
              <a:rPr sz="2800" spc="-15" dirty="0">
                <a:latin typeface="Calibri"/>
                <a:cs typeface="Calibri"/>
              </a:rPr>
              <a:t> </a:t>
            </a:r>
            <a:r>
              <a:rPr sz="2800" dirty="0">
                <a:latin typeface="Calibri"/>
                <a:cs typeface="Calibri"/>
              </a:rPr>
              <a:t>)</a:t>
            </a:r>
            <a:r>
              <a:rPr sz="2800" spc="-15" dirty="0">
                <a:latin typeface="Calibri"/>
                <a:cs typeface="Calibri"/>
              </a:rPr>
              <a:t> </a:t>
            </a:r>
            <a:r>
              <a:rPr sz="2800" dirty="0">
                <a:latin typeface="Calibri"/>
                <a:cs typeface="Calibri"/>
              </a:rPr>
              <a:t>-</a:t>
            </a:r>
            <a:r>
              <a:rPr sz="2800" spc="-10" dirty="0">
                <a:latin typeface="Calibri"/>
                <a:cs typeface="Calibri"/>
              </a:rPr>
              <a:t> </a:t>
            </a:r>
            <a:r>
              <a:rPr sz="2800" spc="-20" dirty="0">
                <a:latin typeface="Calibri"/>
                <a:cs typeface="Calibri"/>
              </a:rPr>
              <a:t>0.35</a:t>
            </a:r>
            <a:endParaRPr lang="en-US" sz="2800" spc="-20" dirty="0">
              <a:latin typeface="Calibri"/>
              <a:cs typeface="Calibri"/>
            </a:endParaRPr>
          </a:p>
          <a:p>
            <a:pPr marL="12700">
              <a:lnSpc>
                <a:spcPct val="100000"/>
              </a:lnSpc>
              <a:spcBef>
                <a:spcPts val="750"/>
              </a:spcBef>
              <a:tabLst>
                <a:tab pos="5187315" algn="l"/>
              </a:tabLst>
            </a:pPr>
            <a:endParaRPr sz="2800" dirty="0">
              <a:latin typeface="Calibri"/>
              <a:cs typeface="Calibri"/>
            </a:endParaRPr>
          </a:p>
          <a:p>
            <a:pPr marL="354965" indent="-342265">
              <a:lnSpc>
                <a:spcPct val="100000"/>
              </a:lnSpc>
              <a:spcBef>
                <a:spcPts val="755"/>
              </a:spcBef>
              <a:buFont typeface="Arial MT"/>
              <a:buChar char="•"/>
              <a:tabLst>
                <a:tab pos="354965" algn="l"/>
              </a:tabLst>
            </a:pPr>
            <a:r>
              <a:rPr sz="3200" dirty="0">
                <a:latin typeface="Calibri"/>
                <a:cs typeface="Calibri"/>
              </a:rPr>
              <a:t>P(~a)</a:t>
            </a:r>
            <a:r>
              <a:rPr sz="3200" spc="-55" dirty="0">
                <a:latin typeface="Calibri"/>
                <a:cs typeface="Calibri"/>
              </a:rPr>
              <a:t> </a:t>
            </a:r>
            <a:r>
              <a:rPr sz="3200" dirty="0">
                <a:latin typeface="Calibri"/>
                <a:cs typeface="Calibri"/>
              </a:rPr>
              <a:t>=</a:t>
            </a:r>
            <a:r>
              <a:rPr sz="3200" spc="-40" dirty="0">
                <a:latin typeface="Calibri"/>
                <a:cs typeface="Calibri"/>
              </a:rPr>
              <a:t> </a:t>
            </a:r>
            <a:r>
              <a:rPr sz="3200" dirty="0">
                <a:latin typeface="Calibri"/>
                <a:cs typeface="Calibri"/>
              </a:rPr>
              <a:t>1-</a:t>
            </a:r>
            <a:r>
              <a:rPr sz="3200" spc="-20" dirty="0">
                <a:latin typeface="Calibri"/>
                <a:cs typeface="Calibri"/>
              </a:rPr>
              <a:t>P(a)</a:t>
            </a:r>
            <a:endParaRPr lang="en-US" sz="3200" dirty="0">
              <a:latin typeface="Calibri"/>
              <a:cs typeface="Calibri"/>
            </a:endParaRPr>
          </a:p>
          <a:p>
            <a:pPr marL="354965" indent="-342265">
              <a:lnSpc>
                <a:spcPct val="100000"/>
              </a:lnSpc>
              <a:spcBef>
                <a:spcPts val="755"/>
              </a:spcBef>
              <a:buFont typeface="Arial MT"/>
              <a:buChar char="•"/>
              <a:tabLst>
                <a:tab pos="354965" algn="l"/>
              </a:tabLst>
            </a:pPr>
            <a:r>
              <a:rPr sz="3200" spc="-10" dirty="0">
                <a:latin typeface="Calibri"/>
                <a:cs typeface="Calibri"/>
              </a:rPr>
              <a:t>P(DentalCatch</a:t>
            </a:r>
            <a:r>
              <a:rPr sz="3200" spc="-80" dirty="0">
                <a:latin typeface="Calibri"/>
                <a:cs typeface="Calibri"/>
              </a:rPr>
              <a:t> </a:t>
            </a:r>
            <a:r>
              <a:rPr sz="3200" dirty="0">
                <a:latin typeface="Calibri"/>
                <a:cs typeface="Calibri"/>
              </a:rPr>
              <a:t>=&gt;</a:t>
            </a:r>
            <a:r>
              <a:rPr sz="3200" spc="-45" dirty="0">
                <a:latin typeface="Calibri"/>
                <a:cs typeface="Calibri"/>
              </a:rPr>
              <a:t> </a:t>
            </a:r>
            <a:r>
              <a:rPr sz="3200" spc="-10" dirty="0" err="1">
                <a:latin typeface="Calibri"/>
                <a:cs typeface="Calibri"/>
              </a:rPr>
              <a:t>ToothAche</a:t>
            </a:r>
            <a:r>
              <a:rPr lang="en-US" sz="3200" spc="-10" dirty="0">
                <a:latin typeface="Calibri"/>
                <a:cs typeface="Calibri"/>
              </a:rPr>
              <a:t> </a:t>
            </a:r>
            <a:r>
              <a:rPr sz="3200" dirty="0">
                <a:latin typeface="Calibri"/>
                <a:cs typeface="Calibri"/>
              </a:rPr>
              <a:t>=</a:t>
            </a:r>
            <a:r>
              <a:rPr sz="3200" spc="-55" dirty="0">
                <a:latin typeface="Calibri"/>
                <a:cs typeface="Calibri"/>
              </a:rPr>
              <a:t> </a:t>
            </a:r>
            <a:r>
              <a:rPr sz="3200" dirty="0">
                <a:latin typeface="Calibri"/>
                <a:cs typeface="Calibri"/>
              </a:rPr>
              <a:t>false)</a:t>
            </a:r>
            <a:r>
              <a:rPr sz="3200" spc="-40" dirty="0">
                <a:latin typeface="Calibri"/>
                <a:cs typeface="Calibri"/>
              </a:rPr>
              <a:t> </a:t>
            </a:r>
            <a:r>
              <a:rPr sz="3200" dirty="0">
                <a:latin typeface="Calibri"/>
                <a:cs typeface="Calibri"/>
              </a:rPr>
              <a:t>-</a:t>
            </a:r>
            <a:r>
              <a:rPr sz="3200" spc="-55" dirty="0">
                <a:latin typeface="Calibri"/>
                <a:cs typeface="Calibri"/>
              </a:rPr>
              <a:t> </a:t>
            </a:r>
            <a:r>
              <a:rPr sz="3200" spc="-20" dirty="0">
                <a:latin typeface="Calibri"/>
                <a:cs typeface="Calibri"/>
              </a:rPr>
              <a:t>0.65</a:t>
            </a:r>
            <a:endParaRPr sz="2400" dirty="0">
              <a:latin typeface="Calibri"/>
              <a:cs typeface="Calibri"/>
            </a:endParaRPr>
          </a:p>
        </p:txBody>
      </p:sp>
      <p:sp>
        <p:nvSpPr>
          <p:cNvPr id="5" name="Title 4">
            <a:extLst>
              <a:ext uri="{FF2B5EF4-FFF2-40B4-BE49-F238E27FC236}">
                <a16:creationId xmlns:a16="http://schemas.microsoft.com/office/drawing/2014/main" id="{0410BF9A-C46C-36C6-6AFE-7FC41E5A0753}"/>
              </a:ext>
            </a:extLst>
          </p:cNvPr>
          <p:cNvSpPr>
            <a:spLocks noGrp="1"/>
          </p:cNvSpPr>
          <p:nvPr>
            <p:ph type="title"/>
          </p:nvPr>
        </p:nvSpPr>
        <p:spPr/>
        <p:txBody>
          <a:bodyPr/>
          <a:lstStyle/>
          <a:p>
            <a:endParaRPr lang="en-IN"/>
          </a:p>
        </p:txBody>
      </p:sp>
      <p:sp>
        <p:nvSpPr>
          <p:cNvPr id="6" name="object 2">
            <a:extLst>
              <a:ext uri="{FF2B5EF4-FFF2-40B4-BE49-F238E27FC236}">
                <a16:creationId xmlns:a16="http://schemas.microsoft.com/office/drawing/2014/main" id="{30DB554C-F370-4AB0-3096-B17BD1FC84FC}"/>
              </a:ext>
            </a:extLst>
          </p:cNvPr>
          <p:cNvSpPr txBox="1">
            <a:spLocks/>
          </p:cNvSpPr>
          <p:nvPr/>
        </p:nvSpPr>
        <p:spPr>
          <a:xfrm>
            <a:off x="981049" y="191465"/>
            <a:ext cx="7181900" cy="901785"/>
          </a:xfrm>
          <a:prstGeom prst="rect">
            <a:avLst/>
          </a:prstGeom>
          <a:solidFill>
            <a:schemeClr val="accent2"/>
          </a:solidFill>
        </p:spPr>
        <p:txBody>
          <a:bodyPr vert="horz" wrap="square" lIns="0" tIns="283464" rIns="0" bIns="0" rtlCol="0">
            <a:spAutoFit/>
          </a:bodyPr>
          <a:lstStyle>
            <a:lvl1pPr>
              <a:defRPr sz="4400" b="0" i="0">
                <a:solidFill>
                  <a:schemeClr val="tx1"/>
                </a:solidFill>
                <a:latin typeface="Calibri"/>
                <a:ea typeface="+mj-ea"/>
                <a:cs typeface="Calibri"/>
              </a:defRPr>
            </a:lvl1pPr>
          </a:lstStyle>
          <a:p>
            <a:pPr algn="ctr">
              <a:spcBef>
                <a:spcPts val="105"/>
              </a:spcBef>
            </a:pPr>
            <a:r>
              <a:rPr lang="en-IN" sz="4000">
                <a:solidFill>
                  <a:schemeClr val="bg1"/>
                </a:solidFill>
              </a:rPr>
              <a:t>Derived</a:t>
            </a:r>
            <a:r>
              <a:rPr lang="en-IN" sz="4000" spc="-50">
                <a:solidFill>
                  <a:schemeClr val="bg1"/>
                </a:solidFill>
              </a:rPr>
              <a:t> </a:t>
            </a:r>
            <a:r>
              <a:rPr lang="en-IN" sz="4000" spc="-10">
                <a:solidFill>
                  <a:schemeClr val="bg1"/>
                </a:solidFill>
              </a:rPr>
              <a:t>Axioms</a:t>
            </a:r>
            <a:endParaRPr lang="en-IN" sz="4000" spc="-10" dirty="0">
              <a:solidFill>
                <a:schemeClr val="bg1"/>
              </a:solidFill>
            </a:endParaRPr>
          </a:p>
        </p:txBody>
      </p:sp>
      <p:sp>
        <p:nvSpPr>
          <p:cNvPr id="7" name="object 3">
            <a:extLst>
              <a:ext uri="{FF2B5EF4-FFF2-40B4-BE49-F238E27FC236}">
                <a16:creationId xmlns:a16="http://schemas.microsoft.com/office/drawing/2014/main" id="{1C669B67-5DF4-856B-03D4-8347C110AA31}"/>
              </a:ext>
            </a:extLst>
          </p:cNvPr>
          <p:cNvSpPr txBox="1"/>
          <p:nvPr/>
        </p:nvSpPr>
        <p:spPr>
          <a:xfrm>
            <a:off x="457200" y="4212608"/>
            <a:ext cx="4582160" cy="452120"/>
          </a:xfrm>
          <a:prstGeom prst="rect">
            <a:avLst/>
          </a:prstGeom>
        </p:spPr>
        <p:txBody>
          <a:bodyPr vert="horz" wrap="square" lIns="0" tIns="12065" rIns="0" bIns="0" rtlCol="0">
            <a:spAutoFit/>
          </a:bodyPr>
          <a:lstStyle/>
          <a:p>
            <a:pPr marL="38100">
              <a:lnSpc>
                <a:spcPct val="100000"/>
              </a:lnSpc>
              <a:spcBef>
                <a:spcPts val="95"/>
              </a:spcBef>
            </a:pPr>
            <a:r>
              <a:rPr sz="2800" dirty="0">
                <a:latin typeface="Calibri"/>
                <a:cs typeface="Calibri"/>
              </a:rPr>
              <a:t>From</a:t>
            </a:r>
            <a:r>
              <a:rPr sz="2800" spc="-5" dirty="0">
                <a:latin typeface="Calibri"/>
                <a:cs typeface="Calibri"/>
              </a:rPr>
              <a:t> </a:t>
            </a:r>
            <a:r>
              <a:rPr sz="2800" dirty="0">
                <a:latin typeface="Calibri"/>
                <a:cs typeface="Calibri"/>
              </a:rPr>
              <a:t>axiom</a:t>
            </a:r>
            <a:r>
              <a:rPr sz="2800" spc="-20" dirty="0">
                <a:latin typeface="Calibri"/>
                <a:cs typeface="Calibri"/>
              </a:rPr>
              <a:t> </a:t>
            </a:r>
            <a:r>
              <a:rPr sz="2800" spc="82" baseline="1984" dirty="0">
                <a:latin typeface="Cambria Math"/>
                <a:cs typeface="Cambria Math"/>
              </a:rPr>
              <a:t>∑</a:t>
            </a:r>
            <a:r>
              <a:rPr sz="2800" spc="82" baseline="31165" dirty="0">
                <a:latin typeface="Cambria Math"/>
                <a:cs typeface="Cambria Math"/>
              </a:rPr>
              <a:t>𝑛</a:t>
            </a:r>
            <a:r>
              <a:rPr sz="2800" spc="67" baseline="31165" dirty="0">
                <a:latin typeface="Cambria Math"/>
                <a:cs typeface="Cambria Math"/>
              </a:rPr>
              <a:t> </a:t>
            </a:r>
            <a:r>
              <a:rPr sz="2800" dirty="0">
                <a:latin typeface="Cambria Math"/>
                <a:cs typeface="Cambria Math"/>
              </a:rPr>
              <a:t>𝑃(𝐷</a:t>
            </a:r>
            <a:r>
              <a:rPr sz="2800" spc="220" dirty="0">
                <a:latin typeface="Cambria Math"/>
                <a:cs typeface="Cambria Math"/>
              </a:rPr>
              <a:t> </a:t>
            </a:r>
            <a:r>
              <a:rPr sz="2800" dirty="0">
                <a:latin typeface="Cambria Math"/>
                <a:cs typeface="Cambria Math"/>
              </a:rPr>
              <a:t>=</a:t>
            </a:r>
            <a:r>
              <a:rPr sz="2800" spc="145" dirty="0">
                <a:latin typeface="Cambria Math"/>
                <a:cs typeface="Cambria Math"/>
              </a:rPr>
              <a:t> </a:t>
            </a:r>
            <a:r>
              <a:rPr lang="en-US" sz="2800" spc="-30" dirty="0">
                <a:latin typeface="Calibri"/>
                <a:cs typeface="Calibri"/>
              </a:rPr>
              <a:t>d</a:t>
            </a:r>
            <a:r>
              <a:rPr lang="en-US" sz="2800" baseline="-25000" dirty="0">
                <a:latin typeface="Calibri"/>
                <a:cs typeface="Calibri"/>
              </a:rPr>
              <a:t>i</a:t>
            </a:r>
            <a:r>
              <a:rPr sz="2800" dirty="0">
                <a:latin typeface="Cambria Math"/>
                <a:cs typeface="Cambria Math"/>
              </a:rPr>
              <a:t>)</a:t>
            </a:r>
            <a:r>
              <a:rPr sz="2800" spc="150" dirty="0">
                <a:latin typeface="Cambria Math"/>
                <a:cs typeface="Cambria Math"/>
              </a:rPr>
              <a:t> </a:t>
            </a:r>
            <a:r>
              <a:rPr sz="2800" dirty="0">
                <a:latin typeface="Cambria Math"/>
                <a:cs typeface="Cambria Math"/>
              </a:rPr>
              <a:t>=</a:t>
            </a:r>
            <a:r>
              <a:rPr sz="2800" spc="135" dirty="0">
                <a:latin typeface="Cambria Math"/>
                <a:cs typeface="Cambria Math"/>
              </a:rPr>
              <a:t> </a:t>
            </a:r>
            <a:r>
              <a:rPr sz="2800" spc="-50" dirty="0">
                <a:latin typeface="Cambria Math"/>
                <a:cs typeface="Cambria Math"/>
              </a:rPr>
              <a:t>1</a:t>
            </a:r>
            <a:endParaRPr sz="2800" dirty="0">
              <a:latin typeface="Cambria Math"/>
              <a:cs typeface="Cambria Math"/>
            </a:endParaRPr>
          </a:p>
        </p:txBody>
      </p:sp>
      <p:sp>
        <p:nvSpPr>
          <p:cNvPr id="8" name="object 5">
            <a:extLst>
              <a:ext uri="{FF2B5EF4-FFF2-40B4-BE49-F238E27FC236}">
                <a16:creationId xmlns:a16="http://schemas.microsoft.com/office/drawing/2014/main" id="{F5BC8964-8199-85A9-0EDE-69DF63945E10}"/>
              </a:ext>
            </a:extLst>
          </p:cNvPr>
          <p:cNvSpPr txBox="1"/>
          <p:nvPr/>
        </p:nvSpPr>
        <p:spPr>
          <a:xfrm>
            <a:off x="512903" y="4886668"/>
            <a:ext cx="7927340" cy="887422"/>
          </a:xfrm>
          <a:prstGeom prst="rect">
            <a:avLst/>
          </a:prstGeom>
        </p:spPr>
        <p:txBody>
          <a:bodyPr vert="horz" wrap="square" lIns="0" tIns="12700" rIns="0" bIns="0" rtlCol="0">
            <a:spAutoFit/>
          </a:bodyPr>
          <a:lstStyle/>
          <a:p>
            <a:pPr marL="12699">
              <a:lnSpc>
                <a:spcPct val="100000"/>
              </a:lnSpc>
              <a:spcBef>
                <a:spcPts val="100"/>
              </a:spcBef>
              <a:tabLst>
                <a:tab pos="413384" algn="l"/>
              </a:tabLst>
            </a:pPr>
            <a:r>
              <a:rPr sz="2800" spc="-10" dirty="0">
                <a:latin typeface="Calibri"/>
                <a:cs typeface="Calibri"/>
              </a:rPr>
              <a:t>P(DentalCatch</a:t>
            </a:r>
            <a:r>
              <a:rPr sz="2800" spc="-15" dirty="0">
                <a:latin typeface="Calibri"/>
                <a:cs typeface="Calibri"/>
              </a:rPr>
              <a:t> </a:t>
            </a:r>
            <a:r>
              <a:rPr sz="2800" dirty="0">
                <a:latin typeface="Calibri"/>
                <a:cs typeface="Calibri"/>
              </a:rPr>
              <a:t>=&gt;</a:t>
            </a:r>
            <a:r>
              <a:rPr sz="2800" spc="-45" dirty="0">
                <a:latin typeface="Calibri"/>
                <a:cs typeface="Calibri"/>
              </a:rPr>
              <a:t> </a:t>
            </a:r>
            <a:r>
              <a:rPr sz="2800" dirty="0">
                <a:latin typeface="Calibri"/>
                <a:cs typeface="Calibri"/>
              </a:rPr>
              <a:t>ToothAche</a:t>
            </a:r>
            <a:r>
              <a:rPr sz="2800" spc="325" dirty="0">
                <a:latin typeface="Calibri"/>
                <a:cs typeface="Calibri"/>
              </a:rPr>
              <a:t> </a:t>
            </a:r>
            <a:r>
              <a:rPr sz="2800" dirty="0">
                <a:latin typeface="Calibri"/>
                <a:cs typeface="Calibri"/>
              </a:rPr>
              <a:t>=</a:t>
            </a:r>
            <a:r>
              <a:rPr sz="2800" spc="-40" dirty="0">
                <a:latin typeface="Calibri"/>
                <a:cs typeface="Calibri"/>
              </a:rPr>
              <a:t> </a:t>
            </a:r>
            <a:r>
              <a:rPr sz="2800" dirty="0">
                <a:latin typeface="Calibri"/>
                <a:cs typeface="Calibri"/>
              </a:rPr>
              <a:t>false</a:t>
            </a:r>
            <a:r>
              <a:rPr sz="2800" spc="-60" dirty="0">
                <a:latin typeface="Calibri"/>
                <a:cs typeface="Calibri"/>
              </a:rPr>
              <a:t> </a:t>
            </a:r>
            <a:r>
              <a:rPr sz="2800" dirty="0">
                <a:latin typeface="Calibri"/>
                <a:cs typeface="Calibri"/>
              </a:rPr>
              <a:t>)</a:t>
            </a:r>
            <a:r>
              <a:rPr sz="2800" spc="-30" dirty="0">
                <a:latin typeface="Calibri"/>
                <a:cs typeface="Calibri"/>
              </a:rPr>
              <a:t> </a:t>
            </a:r>
            <a:r>
              <a:rPr sz="2800" dirty="0">
                <a:latin typeface="Calibri"/>
                <a:cs typeface="Calibri"/>
              </a:rPr>
              <a:t>+</a:t>
            </a:r>
            <a:r>
              <a:rPr sz="2800" spc="-55" dirty="0">
                <a:latin typeface="Calibri"/>
                <a:cs typeface="Calibri"/>
              </a:rPr>
              <a:t> </a:t>
            </a:r>
            <a:endParaRPr lang="en-US" sz="2800" spc="-55" dirty="0">
              <a:latin typeface="Calibri"/>
              <a:cs typeface="Calibri"/>
            </a:endParaRPr>
          </a:p>
          <a:p>
            <a:pPr marL="12699">
              <a:lnSpc>
                <a:spcPct val="100000"/>
              </a:lnSpc>
              <a:spcBef>
                <a:spcPts val="100"/>
              </a:spcBef>
              <a:tabLst>
                <a:tab pos="413384" algn="l"/>
              </a:tabLst>
            </a:pPr>
            <a:r>
              <a:rPr sz="2800" dirty="0">
                <a:latin typeface="Calibri"/>
                <a:cs typeface="Calibri"/>
              </a:rPr>
              <a:t>P(</a:t>
            </a:r>
            <a:r>
              <a:rPr sz="2800" spc="-40" dirty="0">
                <a:latin typeface="Calibri"/>
                <a:cs typeface="Calibri"/>
              </a:rPr>
              <a:t> </a:t>
            </a:r>
            <a:r>
              <a:rPr sz="2800" spc="-10" dirty="0">
                <a:latin typeface="Calibri"/>
                <a:cs typeface="Calibri"/>
              </a:rPr>
              <a:t>DentalCatch</a:t>
            </a:r>
            <a:r>
              <a:rPr sz="2800" spc="-20" dirty="0">
                <a:latin typeface="Calibri"/>
                <a:cs typeface="Calibri"/>
              </a:rPr>
              <a:t> </a:t>
            </a:r>
            <a:r>
              <a:rPr sz="2800" dirty="0">
                <a:latin typeface="Calibri"/>
                <a:cs typeface="Calibri"/>
              </a:rPr>
              <a:t>=&gt;</a:t>
            </a:r>
            <a:r>
              <a:rPr sz="2800" spc="-35" dirty="0">
                <a:latin typeface="Calibri"/>
                <a:cs typeface="Calibri"/>
              </a:rPr>
              <a:t> </a:t>
            </a:r>
            <a:r>
              <a:rPr sz="2800" dirty="0">
                <a:latin typeface="Calibri"/>
                <a:cs typeface="Calibri"/>
              </a:rPr>
              <a:t>ToothAche</a:t>
            </a:r>
            <a:r>
              <a:rPr sz="2800" spc="325" dirty="0">
                <a:latin typeface="Calibri"/>
                <a:cs typeface="Calibri"/>
              </a:rPr>
              <a:t> </a:t>
            </a:r>
            <a:r>
              <a:rPr sz="2800" dirty="0">
                <a:latin typeface="Calibri"/>
                <a:cs typeface="Calibri"/>
              </a:rPr>
              <a:t>=</a:t>
            </a:r>
            <a:r>
              <a:rPr sz="2800" spc="-50" dirty="0">
                <a:latin typeface="Calibri"/>
                <a:cs typeface="Calibri"/>
              </a:rPr>
              <a:t> </a:t>
            </a:r>
            <a:r>
              <a:rPr sz="2800" dirty="0">
                <a:latin typeface="Calibri"/>
                <a:cs typeface="Calibri"/>
              </a:rPr>
              <a:t>true)</a:t>
            </a:r>
            <a:r>
              <a:rPr sz="2800" spc="335" dirty="0">
                <a:latin typeface="Calibri"/>
                <a:cs typeface="Calibri"/>
              </a:rPr>
              <a:t> </a:t>
            </a:r>
            <a:r>
              <a:rPr sz="2800" dirty="0">
                <a:latin typeface="Calibri"/>
                <a:cs typeface="Calibri"/>
              </a:rPr>
              <a:t>=</a:t>
            </a:r>
            <a:r>
              <a:rPr sz="2800" spc="-50" dirty="0">
                <a:latin typeface="Calibri"/>
                <a:cs typeface="Calibri"/>
              </a:rPr>
              <a:t> 1</a:t>
            </a:r>
            <a:endParaRPr sz="2800"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a:solidFill>
            <a:schemeClr val="accent2"/>
          </a:solidFill>
        </p:spPr>
        <p:style>
          <a:lnRef idx="2">
            <a:schemeClr val="accent2"/>
          </a:lnRef>
          <a:fillRef idx="1">
            <a:schemeClr val="lt1"/>
          </a:fillRef>
          <a:effectRef idx="0">
            <a:schemeClr val="accent2"/>
          </a:effectRef>
          <a:fontRef idx="minor">
            <a:schemeClr val="dk1"/>
          </a:fontRef>
        </p:style>
        <p:txBody>
          <a:bodyPr vert="horz" wrap="square" lIns="0" tIns="12065" rIns="0" bIns="0" rtlCol="0">
            <a:spAutoFit/>
          </a:bodyPr>
          <a:lstStyle/>
          <a:p>
            <a:pPr marL="180975" marR="5080" indent="63500" algn="ctr">
              <a:lnSpc>
                <a:spcPct val="100000"/>
              </a:lnSpc>
              <a:spcBef>
                <a:spcPts val="95"/>
              </a:spcBef>
            </a:pPr>
            <a:r>
              <a:rPr sz="4000" dirty="0">
                <a:solidFill>
                  <a:schemeClr val="bg1"/>
                </a:solidFill>
              </a:rPr>
              <a:t>Joint</a:t>
            </a:r>
            <a:r>
              <a:rPr sz="4000" spc="-80" dirty="0">
                <a:solidFill>
                  <a:schemeClr val="bg1"/>
                </a:solidFill>
              </a:rPr>
              <a:t> </a:t>
            </a:r>
            <a:r>
              <a:rPr sz="4000" dirty="0">
                <a:solidFill>
                  <a:schemeClr val="bg1"/>
                </a:solidFill>
              </a:rPr>
              <a:t>Probability</a:t>
            </a:r>
            <a:r>
              <a:rPr sz="4000" spc="-90" dirty="0">
                <a:solidFill>
                  <a:schemeClr val="bg1"/>
                </a:solidFill>
              </a:rPr>
              <a:t> </a:t>
            </a:r>
            <a:r>
              <a:rPr lang="en-US" sz="4000" dirty="0">
                <a:solidFill>
                  <a:schemeClr val="bg1"/>
                </a:solidFill>
              </a:rPr>
              <a:t>&amp;</a:t>
            </a:r>
            <a:br>
              <a:rPr lang="en-US" sz="4000" spc="-90" dirty="0">
                <a:solidFill>
                  <a:schemeClr val="bg1"/>
                </a:solidFill>
              </a:rPr>
            </a:br>
            <a:r>
              <a:rPr sz="4000" spc="-10" dirty="0">
                <a:solidFill>
                  <a:schemeClr val="bg1"/>
                </a:solidFill>
              </a:rPr>
              <a:t>Conditional Probability</a:t>
            </a:r>
            <a:endParaRPr sz="4000" dirty="0">
              <a:solidFill>
                <a:schemeClr val="bg1"/>
              </a:solidFill>
            </a:endParaRPr>
          </a:p>
        </p:txBody>
      </p:sp>
      <p:sp>
        <p:nvSpPr>
          <p:cNvPr id="3" name="object 3"/>
          <p:cNvSpPr txBox="1"/>
          <p:nvPr/>
        </p:nvSpPr>
        <p:spPr>
          <a:xfrm>
            <a:off x="948392" y="2057400"/>
            <a:ext cx="6747808" cy="1198405"/>
          </a:xfrm>
          <a:prstGeom prst="rect">
            <a:avLst/>
          </a:prstGeom>
        </p:spPr>
        <p:txBody>
          <a:bodyPr vert="horz" wrap="square" lIns="0" tIns="109855" rIns="0" bIns="0" rtlCol="0">
            <a:spAutoFit/>
          </a:bodyPr>
          <a:lstStyle/>
          <a:p>
            <a:pPr marL="354965" indent="-342265">
              <a:lnSpc>
                <a:spcPct val="100000"/>
              </a:lnSpc>
              <a:spcBef>
                <a:spcPts val="865"/>
              </a:spcBef>
              <a:buFont typeface="Arial MT"/>
              <a:buChar char="•"/>
              <a:tabLst>
                <a:tab pos="354965" algn="l"/>
                <a:tab pos="3265170" algn="l"/>
                <a:tab pos="3670300" algn="l"/>
              </a:tabLst>
            </a:pPr>
            <a:r>
              <a:rPr sz="3200" dirty="0">
                <a:latin typeface="Calibri"/>
                <a:cs typeface="Calibri"/>
              </a:rPr>
              <a:t>P(a)</a:t>
            </a:r>
            <a:r>
              <a:rPr sz="3200" spc="-40" dirty="0">
                <a:latin typeface="Calibri"/>
                <a:cs typeface="Calibri"/>
              </a:rPr>
              <a:t> </a:t>
            </a:r>
            <a:r>
              <a:rPr sz="3200" dirty="0">
                <a:latin typeface="Calibri"/>
                <a:cs typeface="Calibri"/>
              </a:rPr>
              <a:t>^</a:t>
            </a:r>
            <a:r>
              <a:rPr sz="3200" spc="-40" dirty="0">
                <a:latin typeface="Calibri"/>
                <a:cs typeface="Calibri"/>
              </a:rPr>
              <a:t> </a:t>
            </a:r>
            <a:r>
              <a:rPr sz="3200" dirty="0">
                <a:latin typeface="Calibri"/>
                <a:cs typeface="Calibri"/>
              </a:rPr>
              <a:t>P(b)</a:t>
            </a:r>
            <a:r>
              <a:rPr sz="3200" spc="-40" dirty="0">
                <a:latin typeface="Calibri"/>
                <a:cs typeface="Calibri"/>
              </a:rPr>
              <a:t> </a:t>
            </a:r>
            <a:r>
              <a:rPr sz="3200" dirty="0">
                <a:latin typeface="Calibri"/>
                <a:cs typeface="Calibri"/>
              </a:rPr>
              <a:t>^</a:t>
            </a:r>
            <a:r>
              <a:rPr sz="3200" spc="-35" dirty="0">
                <a:latin typeface="Calibri"/>
                <a:cs typeface="Calibri"/>
              </a:rPr>
              <a:t> </a:t>
            </a:r>
            <a:r>
              <a:rPr sz="3200" spc="-20" dirty="0">
                <a:latin typeface="Calibri"/>
                <a:cs typeface="Calibri"/>
              </a:rPr>
              <a:t>P(c)</a:t>
            </a:r>
            <a:r>
              <a:rPr sz="3200" dirty="0">
                <a:latin typeface="Calibri"/>
                <a:cs typeface="Calibri"/>
              </a:rPr>
              <a:t>	</a:t>
            </a:r>
            <a:r>
              <a:rPr sz="3200" spc="-50" dirty="0">
                <a:latin typeface="Calibri"/>
                <a:cs typeface="Calibri"/>
              </a:rPr>
              <a:t>=</a:t>
            </a:r>
            <a:r>
              <a:rPr sz="3200" dirty="0">
                <a:latin typeface="Calibri"/>
                <a:cs typeface="Calibri"/>
              </a:rPr>
              <a:t>	</a:t>
            </a:r>
            <a:r>
              <a:rPr sz="3200" spc="-10" dirty="0">
                <a:latin typeface="Calibri"/>
                <a:cs typeface="Calibri"/>
              </a:rPr>
              <a:t>P(a,b,c)</a:t>
            </a:r>
            <a:endParaRPr sz="3200" dirty="0">
              <a:latin typeface="Calibri"/>
              <a:cs typeface="Calibri"/>
            </a:endParaRPr>
          </a:p>
          <a:p>
            <a:pPr marL="354965" indent="-342265">
              <a:lnSpc>
                <a:spcPct val="100000"/>
              </a:lnSpc>
              <a:spcBef>
                <a:spcPts val="770"/>
              </a:spcBef>
              <a:buFont typeface="Arial MT"/>
              <a:buChar char="•"/>
              <a:tabLst>
                <a:tab pos="354965" algn="l"/>
                <a:tab pos="1160145" algn="l"/>
                <a:tab pos="1750695" algn="l"/>
                <a:tab pos="2272030" algn="l"/>
              </a:tabLst>
            </a:pPr>
            <a:r>
              <a:rPr sz="3200" spc="-25" dirty="0">
                <a:latin typeface="Calibri"/>
                <a:cs typeface="Calibri"/>
              </a:rPr>
              <a:t>P(a</a:t>
            </a:r>
            <a:r>
              <a:rPr sz="3200" dirty="0">
                <a:latin typeface="Calibri"/>
                <a:cs typeface="Calibri"/>
              </a:rPr>
              <a:t>	</a:t>
            </a:r>
            <a:r>
              <a:rPr sz="3200" spc="-25" dirty="0">
                <a:latin typeface="Calibri"/>
                <a:cs typeface="Calibri"/>
              </a:rPr>
              <a:t>=&gt;</a:t>
            </a:r>
            <a:r>
              <a:rPr sz="3200" dirty="0">
                <a:latin typeface="Calibri"/>
                <a:cs typeface="Calibri"/>
              </a:rPr>
              <a:t>	</a:t>
            </a:r>
            <a:r>
              <a:rPr sz="3200" spc="-25" dirty="0">
                <a:latin typeface="Calibri"/>
                <a:cs typeface="Calibri"/>
              </a:rPr>
              <a:t>b)</a:t>
            </a:r>
            <a:r>
              <a:rPr sz="3200" dirty="0">
                <a:latin typeface="Calibri"/>
                <a:cs typeface="Calibri"/>
              </a:rPr>
              <a:t>	=</a:t>
            </a:r>
            <a:r>
              <a:rPr sz="3200" spc="-20" dirty="0">
                <a:latin typeface="Calibri"/>
                <a:cs typeface="Calibri"/>
              </a:rPr>
              <a:t> </a:t>
            </a:r>
            <a:r>
              <a:rPr sz="3200" spc="-10" dirty="0">
                <a:latin typeface="Calibri"/>
                <a:cs typeface="Calibri"/>
              </a:rPr>
              <a:t>P(b|a)</a:t>
            </a:r>
            <a:endParaRPr sz="3200" dirty="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1049" y="191465"/>
            <a:ext cx="7181900" cy="963341"/>
          </a:xfrm>
          <a:prstGeom prst="rect">
            <a:avLst/>
          </a:prstGeom>
          <a:solidFill>
            <a:schemeClr val="accent2"/>
          </a:solidFill>
        </p:spPr>
        <p:txBody>
          <a:bodyPr vert="horz" wrap="square" lIns="0" tIns="283464" rIns="0" bIns="0" rtlCol="0">
            <a:spAutoFit/>
          </a:bodyPr>
          <a:lstStyle/>
          <a:p>
            <a:pPr marL="1644014">
              <a:lnSpc>
                <a:spcPct val="100000"/>
              </a:lnSpc>
              <a:spcBef>
                <a:spcPts val="105"/>
              </a:spcBef>
            </a:pPr>
            <a:r>
              <a:rPr dirty="0">
                <a:solidFill>
                  <a:schemeClr val="bg1"/>
                </a:solidFill>
              </a:rPr>
              <a:t>Joint</a:t>
            </a:r>
            <a:r>
              <a:rPr spc="-45" dirty="0">
                <a:solidFill>
                  <a:schemeClr val="bg1"/>
                </a:solidFill>
              </a:rPr>
              <a:t> </a:t>
            </a:r>
            <a:r>
              <a:rPr spc="-10" dirty="0">
                <a:solidFill>
                  <a:schemeClr val="bg1"/>
                </a:solidFill>
              </a:rPr>
              <a:t>Distribution</a:t>
            </a:r>
          </a:p>
        </p:txBody>
      </p:sp>
      <p:graphicFrame>
        <p:nvGraphicFramePr>
          <p:cNvPr id="3" name="object 3"/>
          <p:cNvGraphicFramePr>
            <a:graphicFrameLocks noGrp="1"/>
          </p:cNvGraphicFramePr>
          <p:nvPr>
            <p:extLst>
              <p:ext uri="{D42A27DB-BD31-4B8C-83A1-F6EECF244321}">
                <p14:modId xmlns:p14="http://schemas.microsoft.com/office/powerpoint/2010/main" val="1219469440"/>
              </p:ext>
            </p:extLst>
          </p:nvPr>
        </p:nvGraphicFramePr>
        <p:xfrm>
          <a:off x="450850" y="1593850"/>
          <a:ext cx="8235949" cy="2292350"/>
        </p:xfrm>
        <a:graphic>
          <a:graphicData uri="http://schemas.openxmlformats.org/drawingml/2006/table">
            <a:tbl>
              <a:tblPr firstRow="1" bandRow="1">
                <a:tableStyleId>{2D5ABB26-0587-4C30-8999-92F81FD0307C}</a:tableStyleId>
              </a:tblPr>
              <a:tblGrid>
                <a:gridCol w="1647190">
                  <a:extLst>
                    <a:ext uri="{9D8B030D-6E8A-4147-A177-3AD203B41FA5}">
                      <a16:colId xmlns:a16="http://schemas.microsoft.com/office/drawing/2014/main" val="20000"/>
                    </a:ext>
                  </a:extLst>
                </a:gridCol>
                <a:gridCol w="1647190">
                  <a:extLst>
                    <a:ext uri="{9D8B030D-6E8A-4147-A177-3AD203B41FA5}">
                      <a16:colId xmlns:a16="http://schemas.microsoft.com/office/drawing/2014/main" val="20001"/>
                    </a:ext>
                  </a:extLst>
                </a:gridCol>
                <a:gridCol w="1647189">
                  <a:extLst>
                    <a:ext uri="{9D8B030D-6E8A-4147-A177-3AD203B41FA5}">
                      <a16:colId xmlns:a16="http://schemas.microsoft.com/office/drawing/2014/main" val="20002"/>
                    </a:ext>
                  </a:extLst>
                </a:gridCol>
                <a:gridCol w="1647190">
                  <a:extLst>
                    <a:ext uri="{9D8B030D-6E8A-4147-A177-3AD203B41FA5}">
                      <a16:colId xmlns:a16="http://schemas.microsoft.com/office/drawing/2014/main" val="20003"/>
                    </a:ext>
                  </a:extLst>
                </a:gridCol>
                <a:gridCol w="1647190">
                  <a:extLst>
                    <a:ext uri="{9D8B030D-6E8A-4147-A177-3AD203B41FA5}">
                      <a16:colId xmlns:a16="http://schemas.microsoft.com/office/drawing/2014/main" val="20004"/>
                    </a:ext>
                  </a:extLst>
                </a:gridCol>
              </a:tblGrid>
              <a:tr h="572842">
                <a:tc>
                  <a:txBody>
                    <a:bodyPr/>
                    <a:lstStyle/>
                    <a:p>
                      <a:pPr algn="ctr">
                        <a:lnSpc>
                          <a:spcPct val="100000"/>
                        </a:lnSpc>
                      </a:pPr>
                      <a:endParaRPr sz="2100" dirty="0">
                        <a:latin typeface="Times New Roman"/>
                        <a:cs typeface="Times New Roman"/>
                      </a:endParaRPr>
                    </a:p>
                  </a:txBody>
                  <a:tcPr marL="0" marR="0" marT="0" marB="0" anchor="ctr">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gridSpan="2">
                  <a:txBody>
                    <a:bodyPr/>
                    <a:lstStyle/>
                    <a:p>
                      <a:pPr marL="91440" algn="ctr">
                        <a:lnSpc>
                          <a:spcPct val="100000"/>
                        </a:lnSpc>
                        <a:spcBef>
                          <a:spcPts val="240"/>
                        </a:spcBef>
                      </a:pPr>
                      <a:r>
                        <a:rPr sz="1800" b="1" spc="-10" dirty="0">
                          <a:solidFill>
                            <a:srgbClr val="FFFFFF"/>
                          </a:solidFill>
                          <a:latin typeface="Calibri"/>
                          <a:cs typeface="Calibri"/>
                        </a:rPr>
                        <a:t>toothache</a:t>
                      </a:r>
                      <a:endParaRPr sz="1800" dirty="0">
                        <a:latin typeface="Calibri"/>
                        <a:cs typeface="Calibri"/>
                      </a:endParaRPr>
                    </a:p>
                  </a:txBody>
                  <a:tcPr marL="0" marR="0" marT="30480" marB="0" anchor="ctr">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hMerge="1">
                  <a:txBody>
                    <a:bodyPr/>
                    <a:lstStyle/>
                    <a:p>
                      <a:endParaRPr/>
                    </a:p>
                  </a:txBody>
                  <a:tcPr marL="0" marR="0" marT="0" marB="0"/>
                </a:tc>
                <a:tc gridSpan="2">
                  <a:txBody>
                    <a:bodyPr/>
                    <a:lstStyle/>
                    <a:p>
                      <a:pPr marL="92075" algn="ctr">
                        <a:lnSpc>
                          <a:spcPct val="100000"/>
                        </a:lnSpc>
                        <a:spcBef>
                          <a:spcPts val="240"/>
                        </a:spcBef>
                      </a:pPr>
                      <a:r>
                        <a:rPr sz="1800" b="1" spc="-10" dirty="0">
                          <a:solidFill>
                            <a:srgbClr val="FFFFFF"/>
                          </a:solidFill>
                          <a:latin typeface="Calibri"/>
                          <a:cs typeface="Calibri"/>
                        </a:rPr>
                        <a:t>~toothache</a:t>
                      </a:r>
                      <a:endParaRPr sz="1800" dirty="0">
                        <a:latin typeface="Calibri"/>
                        <a:cs typeface="Calibri"/>
                      </a:endParaRPr>
                    </a:p>
                  </a:txBody>
                  <a:tcPr marL="0" marR="0" marT="30480" marB="0" anchor="ctr">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hMerge="1">
                  <a:txBody>
                    <a:bodyPr/>
                    <a:lstStyle/>
                    <a:p>
                      <a:endParaRPr/>
                    </a:p>
                  </a:txBody>
                  <a:tcPr marL="0" marR="0" marT="0" marB="0"/>
                </a:tc>
                <a:extLst>
                  <a:ext uri="{0D108BD9-81ED-4DB2-BD59-A6C34878D82A}">
                    <a16:rowId xmlns:a16="http://schemas.microsoft.com/office/drawing/2014/main" val="10000"/>
                  </a:ext>
                </a:extLst>
              </a:tr>
              <a:tr h="572842">
                <a:tc>
                  <a:txBody>
                    <a:bodyPr/>
                    <a:lstStyle/>
                    <a:p>
                      <a:pPr algn="ctr">
                        <a:lnSpc>
                          <a:spcPct val="100000"/>
                        </a:lnSpc>
                      </a:pPr>
                      <a:endParaRPr sz="2100">
                        <a:latin typeface="Times New Roman"/>
                        <a:cs typeface="Times New Roman"/>
                      </a:endParaRPr>
                    </a:p>
                  </a:txBody>
                  <a:tcPr marL="0" marR="0" marT="0" marB="0"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91440" algn="ctr">
                        <a:lnSpc>
                          <a:spcPct val="100000"/>
                        </a:lnSpc>
                        <a:spcBef>
                          <a:spcPts val="240"/>
                        </a:spcBef>
                      </a:pPr>
                      <a:r>
                        <a:rPr sz="1800" spc="-10" dirty="0">
                          <a:solidFill>
                            <a:srgbClr val="C00000"/>
                          </a:solidFill>
                          <a:latin typeface="Calibri"/>
                          <a:cs typeface="Calibri"/>
                        </a:rPr>
                        <a:t>Catch</a:t>
                      </a:r>
                      <a:endParaRPr sz="1800" dirty="0">
                        <a:solidFill>
                          <a:srgbClr val="C00000"/>
                        </a:solidFill>
                        <a:latin typeface="Calibri"/>
                        <a:cs typeface="Calibri"/>
                      </a:endParaRPr>
                    </a:p>
                  </a:txBody>
                  <a:tcPr marL="0" marR="0" marT="30480" marB="0"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92075" algn="ctr">
                        <a:lnSpc>
                          <a:spcPct val="100000"/>
                        </a:lnSpc>
                        <a:spcBef>
                          <a:spcPts val="240"/>
                        </a:spcBef>
                      </a:pPr>
                      <a:r>
                        <a:rPr sz="1800" spc="-10" dirty="0">
                          <a:solidFill>
                            <a:srgbClr val="C00000"/>
                          </a:solidFill>
                          <a:latin typeface="Calibri"/>
                          <a:cs typeface="Calibri"/>
                        </a:rPr>
                        <a:t>~Catch</a:t>
                      </a:r>
                      <a:endParaRPr sz="1800" dirty="0">
                        <a:solidFill>
                          <a:srgbClr val="C00000"/>
                        </a:solidFill>
                        <a:latin typeface="Calibri"/>
                        <a:cs typeface="Calibri"/>
                      </a:endParaRPr>
                    </a:p>
                  </a:txBody>
                  <a:tcPr marL="0" marR="0" marT="30480" marB="0"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92075" algn="ctr">
                        <a:lnSpc>
                          <a:spcPct val="100000"/>
                        </a:lnSpc>
                        <a:spcBef>
                          <a:spcPts val="240"/>
                        </a:spcBef>
                      </a:pPr>
                      <a:r>
                        <a:rPr sz="1800" spc="-10" dirty="0">
                          <a:solidFill>
                            <a:srgbClr val="C00000"/>
                          </a:solidFill>
                          <a:latin typeface="Calibri"/>
                          <a:cs typeface="Calibri"/>
                        </a:rPr>
                        <a:t>Catch</a:t>
                      </a:r>
                      <a:endParaRPr sz="1800" dirty="0">
                        <a:solidFill>
                          <a:srgbClr val="C00000"/>
                        </a:solidFill>
                        <a:latin typeface="Calibri"/>
                        <a:cs typeface="Calibri"/>
                      </a:endParaRPr>
                    </a:p>
                  </a:txBody>
                  <a:tcPr marL="0" marR="0" marT="30480" marB="0"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92710" algn="ctr">
                        <a:lnSpc>
                          <a:spcPct val="100000"/>
                        </a:lnSpc>
                        <a:spcBef>
                          <a:spcPts val="240"/>
                        </a:spcBef>
                      </a:pPr>
                      <a:r>
                        <a:rPr sz="1800" spc="-10" dirty="0">
                          <a:solidFill>
                            <a:srgbClr val="C00000"/>
                          </a:solidFill>
                          <a:latin typeface="Calibri"/>
                          <a:cs typeface="Calibri"/>
                        </a:rPr>
                        <a:t>~Catch</a:t>
                      </a:r>
                      <a:endParaRPr sz="1800" dirty="0">
                        <a:solidFill>
                          <a:srgbClr val="C00000"/>
                        </a:solidFill>
                        <a:latin typeface="Calibri"/>
                        <a:cs typeface="Calibri"/>
                      </a:endParaRPr>
                    </a:p>
                  </a:txBody>
                  <a:tcPr marL="0" marR="0" marT="30480" marB="0"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573824">
                <a:tc>
                  <a:txBody>
                    <a:bodyPr/>
                    <a:lstStyle/>
                    <a:p>
                      <a:pPr marL="91440" algn="ctr">
                        <a:lnSpc>
                          <a:spcPct val="100000"/>
                        </a:lnSpc>
                        <a:spcBef>
                          <a:spcPts val="240"/>
                        </a:spcBef>
                      </a:pPr>
                      <a:r>
                        <a:rPr sz="1800" spc="-10" dirty="0">
                          <a:solidFill>
                            <a:srgbClr val="C00000"/>
                          </a:solidFill>
                          <a:latin typeface="Calibri"/>
                          <a:cs typeface="Calibri"/>
                        </a:rPr>
                        <a:t>Cavity</a:t>
                      </a:r>
                      <a:endParaRPr sz="1800" dirty="0">
                        <a:solidFill>
                          <a:srgbClr val="C00000"/>
                        </a:solidFill>
                        <a:latin typeface="Calibri"/>
                        <a:cs typeface="Calibri"/>
                      </a:endParaRPr>
                    </a:p>
                  </a:txBody>
                  <a:tcPr marL="0" marR="0" marT="30480" marB="0"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1440" algn="ctr">
                        <a:lnSpc>
                          <a:spcPct val="100000"/>
                        </a:lnSpc>
                        <a:spcBef>
                          <a:spcPts val="240"/>
                        </a:spcBef>
                      </a:pPr>
                      <a:r>
                        <a:rPr sz="1800" spc="-10" dirty="0">
                          <a:latin typeface="Calibri"/>
                          <a:cs typeface="Calibri"/>
                        </a:rPr>
                        <a:t>0.108</a:t>
                      </a:r>
                      <a:endParaRPr sz="1800">
                        <a:latin typeface="Calibri"/>
                        <a:cs typeface="Calibri"/>
                      </a:endParaRPr>
                    </a:p>
                  </a:txBody>
                  <a:tcPr marL="0" marR="0" marT="30480" marB="0"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gn="ctr">
                        <a:lnSpc>
                          <a:spcPct val="100000"/>
                        </a:lnSpc>
                        <a:spcBef>
                          <a:spcPts val="240"/>
                        </a:spcBef>
                      </a:pPr>
                      <a:r>
                        <a:rPr sz="1800" spc="-10" dirty="0">
                          <a:latin typeface="Calibri"/>
                          <a:cs typeface="Calibri"/>
                        </a:rPr>
                        <a:t>0.012</a:t>
                      </a:r>
                      <a:endParaRPr sz="1800">
                        <a:latin typeface="Calibri"/>
                        <a:cs typeface="Calibri"/>
                      </a:endParaRPr>
                    </a:p>
                  </a:txBody>
                  <a:tcPr marL="0" marR="0" marT="30480" marB="0"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gn="ctr">
                        <a:lnSpc>
                          <a:spcPct val="100000"/>
                        </a:lnSpc>
                        <a:spcBef>
                          <a:spcPts val="240"/>
                        </a:spcBef>
                      </a:pPr>
                      <a:r>
                        <a:rPr sz="1800" spc="-10" dirty="0">
                          <a:latin typeface="Calibri"/>
                          <a:cs typeface="Calibri"/>
                        </a:rPr>
                        <a:t>0.072</a:t>
                      </a:r>
                      <a:endParaRPr sz="1800">
                        <a:latin typeface="Calibri"/>
                        <a:cs typeface="Calibri"/>
                      </a:endParaRPr>
                    </a:p>
                  </a:txBody>
                  <a:tcPr marL="0" marR="0" marT="30480" marB="0"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710" algn="ctr">
                        <a:lnSpc>
                          <a:spcPct val="100000"/>
                        </a:lnSpc>
                        <a:spcBef>
                          <a:spcPts val="240"/>
                        </a:spcBef>
                      </a:pPr>
                      <a:r>
                        <a:rPr sz="1800" spc="-10" dirty="0">
                          <a:latin typeface="Calibri"/>
                          <a:cs typeface="Calibri"/>
                        </a:rPr>
                        <a:t>0.008</a:t>
                      </a:r>
                      <a:endParaRPr sz="1800" dirty="0">
                        <a:latin typeface="Calibri"/>
                        <a:cs typeface="Calibri"/>
                      </a:endParaRPr>
                    </a:p>
                  </a:txBody>
                  <a:tcPr marL="0" marR="0" marT="30480" marB="0"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572842">
                <a:tc>
                  <a:txBody>
                    <a:bodyPr/>
                    <a:lstStyle/>
                    <a:p>
                      <a:pPr marL="91440" algn="ctr">
                        <a:lnSpc>
                          <a:spcPct val="100000"/>
                        </a:lnSpc>
                        <a:spcBef>
                          <a:spcPts val="244"/>
                        </a:spcBef>
                      </a:pPr>
                      <a:r>
                        <a:rPr sz="1800" spc="-10" dirty="0">
                          <a:solidFill>
                            <a:srgbClr val="C00000"/>
                          </a:solidFill>
                          <a:latin typeface="Calibri"/>
                          <a:cs typeface="Calibri"/>
                        </a:rPr>
                        <a:t>~Cavity</a:t>
                      </a:r>
                      <a:endParaRPr sz="1800" dirty="0">
                        <a:solidFill>
                          <a:srgbClr val="C00000"/>
                        </a:solidFill>
                        <a:latin typeface="Calibri"/>
                        <a:cs typeface="Calibri"/>
                      </a:endParaRPr>
                    </a:p>
                  </a:txBody>
                  <a:tcPr marL="0" marR="0" marT="31114" marB="0"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1440" algn="ctr">
                        <a:lnSpc>
                          <a:spcPct val="100000"/>
                        </a:lnSpc>
                        <a:spcBef>
                          <a:spcPts val="244"/>
                        </a:spcBef>
                      </a:pPr>
                      <a:r>
                        <a:rPr sz="1800" spc="-10" dirty="0">
                          <a:latin typeface="Calibri"/>
                          <a:cs typeface="Calibri"/>
                        </a:rPr>
                        <a:t>0.016</a:t>
                      </a:r>
                      <a:endParaRPr sz="1800" dirty="0">
                        <a:latin typeface="Calibri"/>
                        <a:cs typeface="Calibri"/>
                      </a:endParaRPr>
                    </a:p>
                  </a:txBody>
                  <a:tcPr marL="0" marR="0" marT="31114" marB="0"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gn="ctr">
                        <a:lnSpc>
                          <a:spcPct val="100000"/>
                        </a:lnSpc>
                        <a:spcBef>
                          <a:spcPts val="244"/>
                        </a:spcBef>
                      </a:pPr>
                      <a:r>
                        <a:rPr sz="1800" spc="-10" dirty="0">
                          <a:latin typeface="Calibri"/>
                          <a:cs typeface="Calibri"/>
                        </a:rPr>
                        <a:t>0.064</a:t>
                      </a:r>
                      <a:endParaRPr sz="1800">
                        <a:latin typeface="Calibri"/>
                        <a:cs typeface="Calibri"/>
                      </a:endParaRPr>
                    </a:p>
                  </a:txBody>
                  <a:tcPr marL="0" marR="0" marT="31114" marB="0"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gn="ctr">
                        <a:lnSpc>
                          <a:spcPct val="100000"/>
                        </a:lnSpc>
                        <a:spcBef>
                          <a:spcPts val="244"/>
                        </a:spcBef>
                      </a:pPr>
                      <a:r>
                        <a:rPr sz="1800" spc="-10" dirty="0">
                          <a:latin typeface="Calibri"/>
                          <a:cs typeface="Calibri"/>
                        </a:rPr>
                        <a:t>0.144</a:t>
                      </a:r>
                      <a:endParaRPr sz="1800">
                        <a:latin typeface="Calibri"/>
                        <a:cs typeface="Calibri"/>
                      </a:endParaRPr>
                    </a:p>
                  </a:txBody>
                  <a:tcPr marL="0" marR="0" marT="31114" marB="0"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710" algn="ctr">
                        <a:lnSpc>
                          <a:spcPct val="100000"/>
                        </a:lnSpc>
                        <a:spcBef>
                          <a:spcPts val="244"/>
                        </a:spcBef>
                      </a:pPr>
                      <a:r>
                        <a:rPr sz="1800" spc="-10" dirty="0">
                          <a:latin typeface="Calibri"/>
                          <a:cs typeface="Calibri"/>
                        </a:rPr>
                        <a:t>0.576</a:t>
                      </a:r>
                      <a:endParaRPr sz="1800" dirty="0">
                        <a:latin typeface="Calibri"/>
                        <a:cs typeface="Calibri"/>
                      </a:endParaRPr>
                    </a:p>
                  </a:txBody>
                  <a:tcPr marL="0" marR="0" marT="31114" marB="0"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bl>
          </a:graphicData>
        </a:graphic>
      </p:graphicFrame>
      <p:grpSp>
        <p:nvGrpSpPr>
          <p:cNvPr id="4" name="object 4"/>
          <p:cNvGrpSpPr/>
          <p:nvPr/>
        </p:nvGrpSpPr>
        <p:grpSpPr>
          <a:xfrm>
            <a:off x="3826128" y="3258311"/>
            <a:ext cx="3121025" cy="3082290"/>
            <a:chOff x="3826128" y="3258311"/>
            <a:chExt cx="3121025" cy="3082290"/>
          </a:xfrm>
        </p:grpSpPr>
        <p:sp>
          <p:nvSpPr>
            <p:cNvPr id="5" name="object 5"/>
            <p:cNvSpPr/>
            <p:nvPr/>
          </p:nvSpPr>
          <p:spPr>
            <a:xfrm>
              <a:off x="3838828" y="3271011"/>
              <a:ext cx="3095625" cy="3056890"/>
            </a:xfrm>
            <a:custGeom>
              <a:avLst/>
              <a:gdLst/>
              <a:ahLst/>
              <a:cxnLst/>
              <a:rect l="l" t="t" r="r" b="b"/>
              <a:pathLst>
                <a:path w="3095625" h="3056890">
                  <a:moveTo>
                    <a:pt x="2853563" y="1605788"/>
                  </a:moveTo>
                  <a:lnTo>
                    <a:pt x="1203579" y="1605788"/>
                  </a:lnTo>
                  <a:lnTo>
                    <a:pt x="1154829" y="1610698"/>
                  </a:lnTo>
                  <a:lnTo>
                    <a:pt x="1109432" y="1624782"/>
                  </a:lnTo>
                  <a:lnTo>
                    <a:pt x="1068356" y="1647069"/>
                  </a:lnTo>
                  <a:lnTo>
                    <a:pt x="1032573" y="1676590"/>
                  </a:lnTo>
                  <a:lnTo>
                    <a:pt x="1003052" y="1712373"/>
                  </a:lnTo>
                  <a:lnTo>
                    <a:pt x="980765" y="1753449"/>
                  </a:lnTo>
                  <a:lnTo>
                    <a:pt x="966681" y="1798846"/>
                  </a:lnTo>
                  <a:lnTo>
                    <a:pt x="961771" y="1847595"/>
                  </a:lnTo>
                  <a:lnTo>
                    <a:pt x="961771" y="2814828"/>
                  </a:lnTo>
                  <a:lnTo>
                    <a:pt x="966681" y="2863558"/>
                  </a:lnTo>
                  <a:lnTo>
                    <a:pt x="980765" y="2908947"/>
                  </a:lnTo>
                  <a:lnTo>
                    <a:pt x="1003052" y="2950022"/>
                  </a:lnTo>
                  <a:lnTo>
                    <a:pt x="1032573" y="2985809"/>
                  </a:lnTo>
                  <a:lnTo>
                    <a:pt x="1068356" y="3015337"/>
                  </a:lnTo>
                  <a:lnTo>
                    <a:pt x="1109432" y="3037632"/>
                  </a:lnTo>
                  <a:lnTo>
                    <a:pt x="1154829" y="3051723"/>
                  </a:lnTo>
                  <a:lnTo>
                    <a:pt x="1203579" y="3056636"/>
                  </a:lnTo>
                  <a:lnTo>
                    <a:pt x="2853563" y="3056636"/>
                  </a:lnTo>
                  <a:lnTo>
                    <a:pt x="2902312" y="3051723"/>
                  </a:lnTo>
                  <a:lnTo>
                    <a:pt x="2947709" y="3037632"/>
                  </a:lnTo>
                  <a:lnTo>
                    <a:pt x="2988785" y="3015337"/>
                  </a:lnTo>
                  <a:lnTo>
                    <a:pt x="3024568" y="2985809"/>
                  </a:lnTo>
                  <a:lnTo>
                    <a:pt x="3054089" y="2950022"/>
                  </a:lnTo>
                  <a:lnTo>
                    <a:pt x="3076376" y="2908947"/>
                  </a:lnTo>
                  <a:lnTo>
                    <a:pt x="3090460" y="2863558"/>
                  </a:lnTo>
                  <a:lnTo>
                    <a:pt x="3095371" y="2814828"/>
                  </a:lnTo>
                  <a:lnTo>
                    <a:pt x="3095371" y="1847595"/>
                  </a:lnTo>
                  <a:lnTo>
                    <a:pt x="3090460" y="1798846"/>
                  </a:lnTo>
                  <a:lnTo>
                    <a:pt x="3076376" y="1753449"/>
                  </a:lnTo>
                  <a:lnTo>
                    <a:pt x="3054089" y="1712373"/>
                  </a:lnTo>
                  <a:lnTo>
                    <a:pt x="3024568" y="1676590"/>
                  </a:lnTo>
                  <a:lnTo>
                    <a:pt x="2988785" y="1647069"/>
                  </a:lnTo>
                  <a:lnTo>
                    <a:pt x="2947709" y="1624782"/>
                  </a:lnTo>
                  <a:lnTo>
                    <a:pt x="2902312" y="1610698"/>
                  </a:lnTo>
                  <a:lnTo>
                    <a:pt x="2853563" y="1605788"/>
                  </a:lnTo>
                  <a:close/>
                </a:path>
                <a:path w="3095625" h="3056890">
                  <a:moveTo>
                    <a:pt x="0" y="0"/>
                  </a:moveTo>
                  <a:lnTo>
                    <a:pt x="1317371" y="1605788"/>
                  </a:lnTo>
                  <a:lnTo>
                    <a:pt x="1850771" y="1605788"/>
                  </a:lnTo>
                  <a:lnTo>
                    <a:pt x="0" y="0"/>
                  </a:lnTo>
                  <a:close/>
                </a:path>
              </a:pathLst>
            </a:custGeom>
            <a:solidFill>
              <a:srgbClr val="4F81BC"/>
            </a:solidFill>
          </p:spPr>
          <p:txBody>
            <a:bodyPr wrap="square" lIns="0" tIns="0" rIns="0" bIns="0" rtlCol="0"/>
            <a:lstStyle/>
            <a:p>
              <a:endParaRPr/>
            </a:p>
          </p:txBody>
        </p:sp>
        <p:sp>
          <p:nvSpPr>
            <p:cNvPr id="6" name="object 6"/>
            <p:cNvSpPr/>
            <p:nvPr/>
          </p:nvSpPr>
          <p:spPr>
            <a:xfrm>
              <a:off x="3838828" y="3271011"/>
              <a:ext cx="3095625" cy="3056890"/>
            </a:xfrm>
            <a:custGeom>
              <a:avLst/>
              <a:gdLst/>
              <a:ahLst/>
              <a:cxnLst/>
              <a:rect l="l" t="t" r="r" b="b"/>
              <a:pathLst>
                <a:path w="3095625" h="3056890">
                  <a:moveTo>
                    <a:pt x="961771" y="1847595"/>
                  </a:moveTo>
                  <a:lnTo>
                    <a:pt x="966681" y="1798846"/>
                  </a:lnTo>
                  <a:lnTo>
                    <a:pt x="980765" y="1753449"/>
                  </a:lnTo>
                  <a:lnTo>
                    <a:pt x="1003052" y="1712373"/>
                  </a:lnTo>
                  <a:lnTo>
                    <a:pt x="1032573" y="1676590"/>
                  </a:lnTo>
                  <a:lnTo>
                    <a:pt x="1068356" y="1647069"/>
                  </a:lnTo>
                  <a:lnTo>
                    <a:pt x="1109432" y="1624782"/>
                  </a:lnTo>
                  <a:lnTo>
                    <a:pt x="1154829" y="1610698"/>
                  </a:lnTo>
                  <a:lnTo>
                    <a:pt x="1203579" y="1605788"/>
                  </a:lnTo>
                  <a:lnTo>
                    <a:pt x="1317371" y="1605788"/>
                  </a:lnTo>
                  <a:lnTo>
                    <a:pt x="0" y="0"/>
                  </a:lnTo>
                  <a:lnTo>
                    <a:pt x="1850771" y="1605788"/>
                  </a:lnTo>
                  <a:lnTo>
                    <a:pt x="2853563" y="1605788"/>
                  </a:lnTo>
                  <a:lnTo>
                    <a:pt x="2902312" y="1610698"/>
                  </a:lnTo>
                  <a:lnTo>
                    <a:pt x="2947709" y="1624782"/>
                  </a:lnTo>
                  <a:lnTo>
                    <a:pt x="2988785" y="1647069"/>
                  </a:lnTo>
                  <a:lnTo>
                    <a:pt x="3024568" y="1676590"/>
                  </a:lnTo>
                  <a:lnTo>
                    <a:pt x="3054089" y="1712373"/>
                  </a:lnTo>
                  <a:lnTo>
                    <a:pt x="3076376" y="1753449"/>
                  </a:lnTo>
                  <a:lnTo>
                    <a:pt x="3090460" y="1798846"/>
                  </a:lnTo>
                  <a:lnTo>
                    <a:pt x="3095371" y="1847595"/>
                  </a:lnTo>
                  <a:lnTo>
                    <a:pt x="3095371" y="2210308"/>
                  </a:lnTo>
                  <a:lnTo>
                    <a:pt x="3095371" y="2814828"/>
                  </a:lnTo>
                  <a:lnTo>
                    <a:pt x="3090460" y="2863558"/>
                  </a:lnTo>
                  <a:lnTo>
                    <a:pt x="3076376" y="2908947"/>
                  </a:lnTo>
                  <a:lnTo>
                    <a:pt x="3054089" y="2950022"/>
                  </a:lnTo>
                  <a:lnTo>
                    <a:pt x="3024568" y="2985809"/>
                  </a:lnTo>
                  <a:lnTo>
                    <a:pt x="2988785" y="3015337"/>
                  </a:lnTo>
                  <a:lnTo>
                    <a:pt x="2947709" y="3037632"/>
                  </a:lnTo>
                  <a:lnTo>
                    <a:pt x="2902312" y="3051723"/>
                  </a:lnTo>
                  <a:lnTo>
                    <a:pt x="2853563" y="3056636"/>
                  </a:lnTo>
                  <a:lnTo>
                    <a:pt x="1850771" y="3056636"/>
                  </a:lnTo>
                  <a:lnTo>
                    <a:pt x="1317371" y="3056636"/>
                  </a:lnTo>
                  <a:lnTo>
                    <a:pt x="1203579" y="3056636"/>
                  </a:lnTo>
                  <a:lnTo>
                    <a:pt x="1154829" y="3051723"/>
                  </a:lnTo>
                  <a:lnTo>
                    <a:pt x="1109432" y="3037632"/>
                  </a:lnTo>
                  <a:lnTo>
                    <a:pt x="1068356" y="3015337"/>
                  </a:lnTo>
                  <a:lnTo>
                    <a:pt x="1032573" y="2985809"/>
                  </a:lnTo>
                  <a:lnTo>
                    <a:pt x="1003052" y="2950022"/>
                  </a:lnTo>
                  <a:lnTo>
                    <a:pt x="980765" y="2908947"/>
                  </a:lnTo>
                  <a:lnTo>
                    <a:pt x="966681" y="2863558"/>
                  </a:lnTo>
                  <a:lnTo>
                    <a:pt x="961771" y="2814828"/>
                  </a:lnTo>
                  <a:lnTo>
                    <a:pt x="961771" y="2210308"/>
                  </a:lnTo>
                  <a:lnTo>
                    <a:pt x="961771" y="1847595"/>
                  </a:lnTo>
                  <a:close/>
                </a:path>
              </a:pathLst>
            </a:custGeom>
            <a:ln w="25400">
              <a:solidFill>
                <a:srgbClr val="385D89"/>
              </a:solidFill>
            </a:ln>
          </p:spPr>
          <p:txBody>
            <a:bodyPr wrap="square" lIns="0" tIns="0" rIns="0" bIns="0" rtlCol="0"/>
            <a:lstStyle/>
            <a:p>
              <a:endParaRPr/>
            </a:p>
          </p:txBody>
        </p:sp>
      </p:grpSp>
      <p:sp>
        <p:nvSpPr>
          <p:cNvPr id="7" name="object 7"/>
          <p:cNvSpPr txBox="1"/>
          <p:nvPr/>
        </p:nvSpPr>
        <p:spPr>
          <a:xfrm>
            <a:off x="5214873" y="5300929"/>
            <a:ext cx="1306195" cy="574675"/>
          </a:xfrm>
          <a:prstGeom prst="rect">
            <a:avLst/>
          </a:prstGeom>
        </p:spPr>
        <p:txBody>
          <a:bodyPr vert="horz" wrap="square" lIns="0" tIns="12700" rIns="0" bIns="0" rtlCol="0">
            <a:spAutoFit/>
          </a:bodyPr>
          <a:lstStyle/>
          <a:p>
            <a:pPr algn="ctr">
              <a:lnSpc>
                <a:spcPct val="100000"/>
              </a:lnSpc>
              <a:spcBef>
                <a:spcPts val="100"/>
              </a:spcBef>
            </a:pPr>
            <a:r>
              <a:rPr sz="1800" dirty="0">
                <a:solidFill>
                  <a:srgbClr val="FFFFFF"/>
                </a:solidFill>
                <a:latin typeface="Calibri"/>
                <a:cs typeface="Calibri"/>
              </a:rPr>
              <a:t>Sum</a:t>
            </a:r>
            <a:r>
              <a:rPr sz="1800" spc="-5" dirty="0">
                <a:solidFill>
                  <a:srgbClr val="FFFFFF"/>
                </a:solidFill>
                <a:latin typeface="Calibri"/>
                <a:cs typeface="Calibri"/>
              </a:rPr>
              <a:t> </a:t>
            </a:r>
            <a:r>
              <a:rPr sz="1800" dirty="0">
                <a:solidFill>
                  <a:srgbClr val="FFFFFF"/>
                </a:solidFill>
                <a:latin typeface="Calibri"/>
                <a:cs typeface="Calibri"/>
              </a:rPr>
              <a:t>of all </a:t>
            </a:r>
            <a:r>
              <a:rPr sz="1800" spc="-25" dirty="0">
                <a:solidFill>
                  <a:srgbClr val="FFFFFF"/>
                </a:solidFill>
                <a:latin typeface="Calibri"/>
                <a:cs typeface="Calibri"/>
              </a:rPr>
              <a:t>the</a:t>
            </a:r>
            <a:endParaRPr sz="1800">
              <a:latin typeface="Calibri"/>
              <a:cs typeface="Calibri"/>
            </a:endParaRPr>
          </a:p>
          <a:p>
            <a:pPr algn="ctr">
              <a:lnSpc>
                <a:spcPct val="100000"/>
              </a:lnSpc>
            </a:pPr>
            <a:r>
              <a:rPr sz="1800" dirty="0">
                <a:solidFill>
                  <a:srgbClr val="FFFFFF"/>
                </a:solidFill>
                <a:latin typeface="Calibri"/>
                <a:cs typeface="Calibri"/>
              </a:rPr>
              <a:t>values</a:t>
            </a:r>
            <a:r>
              <a:rPr sz="1800" spc="-45" dirty="0">
                <a:solidFill>
                  <a:srgbClr val="FFFFFF"/>
                </a:solidFill>
                <a:latin typeface="Calibri"/>
                <a:cs typeface="Calibri"/>
              </a:rPr>
              <a:t> </a:t>
            </a:r>
            <a:r>
              <a:rPr sz="1800" dirty="0">
                <a:solidFill>
                  <a:srgbClr val="FFFFFF"/>
                </a:solidFill>
                <a:latin typeface="Calibri"/>
                <a:cs typeface="Calibri"/>
              </a:rPr>
              <a:t>=</a:t>
            </a:r>
            <a:r>
              <a:rPr sz="1800" spc="-45" dirty="0">
                <a:solidFill>
                  <a:srgbClr val="FFFFFF"/>
                </a:solidFill>
                <a:latin typeface="Calibri"/>
                <a:cs typeface="Calibri"/>
              </a:rPr>
              <a:t> </a:t>
            </a:r>
            <a:r>
              <a:rPr sz="1800" spc="-50" dirty="0">
                <a:solidFill>
                  <a:srgbClr val="FFFFFF"/>
                </a:solidFill>
                <a:latin typeface="Calibri"/>
                <a:cs typeface="Calibri"/>
              </a:rPr>
              <a:t>1</a:t>
            </a:r>
            <a:endParaRPr sz="1800">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1049" y="191465"/>
            <a:ext cx="7181900" cy="963341"/>
          </a:xfrm>
          <a:prstGeom prst="rect">
            <a:avLst/>
          </a:prstGeom>
          <a:solidFill>
            <a:schemeClr val="accent2"/>
          </a:solidFill>
        </p:spPr>
        <p:txBody>
          <a:bodyPr vert="horz" wrap="square" lIns="0" tIns="283464" rIns="0" bIns="0" rtlCol="0">
            <a:spAutoFit/>
          </a:bodyPr>
          <a:lstStyle/>
          <a:p>
            <a:pPr marL="337820">
              <a:lnSpc>
                <a:spcPct val="100000"/>
              </a:lnSpc>
              <a:spcBef>
                <a:spcPts val="105"/>
              </a:spcBef>
            </a:pPr>
            <a:r>
              <a:rPr dirty="0">
                <a:solidFill>
                  <a:schemeClr val="bg1"/>
                </a:solidFill>
              </a:rPr>
              <a:t>Queries</a:t>
            </a:r>
            <a:r>
              <a:rPr spc="-30" dirty="0">
                <a:solidFill>
                  <a:schemeClr val="bg1"/>
                </a:solidFill>
              </a:rPr>
              <a:t> </a:t>
            </a:r>
            <a:r>
              <a:rPr dirty="0">
                <a:solidFill>
                  <a:schemeClr val="bg1"/>
                </a:solidFill>
              </a:rPr>
              <a:t>on</a:t>
            </a:r>
            <a:r>
              <a:rPr spc="-25" dirty="0">
                <a:solidFill>
                  <a:schemeClr val="bg1"/>
                </a:solidFill>
              </a:rPr>
              <a:t> </a:t>
            </a:r>
            <a:r>
              <a:rPr dirty="0">
                <a:solidFill>
                  <a:schemeClr val="bg1"/>
                </a:solidFill>
              </a:rPr>
              <a:t>Joint</a:t>
            </a:r>
            <a:r>
              <a:rPr spc="-25" dirty="0">
                <a:solidFill>
                  <a:schemeClr val="bg1"/>
                </a:solidFill>
              </a:rPr>
              <a:t> </a:t>
            </a:r>
            <a:r>
              <a:rPr spc="-10" dirty="0">
                <a:solidFill>
                  <a:schemeClr val="bg1"/>
                </a:solidFill>
              </a:rPr>
              <a:t>Distribution</a:t>
            </a:r>
          </a:p>
        </p:txBody>
      </p:sp>
      <p:graphicFrame>
        <p:nvGraphicFramePr>
          <p:cNvPr id="3" name="object 3"/>
          <p:cNvGraphicFramePr>
            <a:graphicFrameLocks noGrp="1"/>
          </p:cNvGraphicFramePr>
          <p:nvPr>
            <p:extLst>
              <p:ext uri="{D42A27DB-BD31-4B8C-83A1-F6EECF244321}">
                <p14:modId xmlns:p14="http://schemas.microsoft.com/office/powerpoint/2010/main" val="676670628"/>
              </p:ext>
            </p:extLst>
          </p:nvPr>
        </p:nvGraphicFramePr>
        <p:xfrm>
          <a:off x="457199" y="1831403"/>
          <a:ext cx="8229599" cy="1481455"/>
        </p:xfrm>
        <a:graphic>
          <a:graphicData uri="http://schemas.openxmlformats.org/drawingml/2006/table">
            <a:tbl>
              <a:tblPr firstRow="1" bandRow="1">
                <a:tableStyleId>{2D5ABB26-0587-4C30-8999-92F81FD0307C}</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19">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70205">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91440">
                        <a:lnSpc>
                          <a:spcPct val="100000"/>
                        </a:lnSpc>
                        <a:spcBef>
                          <a:spcPts val="240"/>
                        </a:spcBef>
                      </a:pPr>
                      <a:r>
                        <a:rPr sz="1800" b="1" spc="-10" dirty="0">
                          <a:latin typeface="Calibri"/>
                          <a:cs typeface="Calibri"/>
                        </a:rPr>
                        <a:t>toothache</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gridSpan="2">
                  <a:txBody>
                    <a:bodyPr/>
                    <a:lstStyle/>
                    <a:p>
                      <a:pPr marL="92075">
                        <a:lnSpc>
                          <a:spcPct val="100000"/>
                        </a:lnSpc>
                        <a:spcBef>
                          <a:spcPts val="240"/>
                        </a:spcBef>
                      </a:pPr>
                      <a:r>
                        <a:rPr sz="1800" b="1" spc="-10" dirty="0">
                          <a:latin typeface="Calibri"/>
                          <a:cs typeface="Calibri"/>
                        </a:rPr>
                        <a:t>~toothache</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0"/>
                  </a:ext>
                </a:extLst>
              </a:tr>
              <a:tr h="370205">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marL="91440">
                        <a:lnSpc>
                          <a:spcPct val="100000"/>
                        </a:lnSpc>
                        <a:spcBef>
                          <a:spcPts val="240"/>
                        </a:spcBef>
                      </a:pPr>
                      <a:r>
                        <a:rPr sz="1800" spc="-10" dirty="0">
                          <a:latin typeface="Calibri"/>
                          <a:cs typeface="Calibri"/>
                        </a:rPr>
                        <a:t>Cavity</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0"/>
                        </a:spcBef>
                      </a:pPr>
                      <a:r>
                        <a:rPr sz="1800" spc="-10" dirty="0">
                          <a:latin typeface="Calibri"/>
                          <a:cs typeface="Calibri"/>
                        </a:rPr>
                        <a:t>0.108</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solidFill>
                  </a:tcPr>
                </a:tc>
                <a:tc>
                  <a:txBody>
                    <a:bodyPr/>
                    <a:lstStyle/>
                    <a:p>
                      <a:pPr marL="92075">
                        <a:lnSpc>
                          <a:spcPct val="100000"/>
                        </a:lnSpc>
                        <a:spcBef>
                          <a:spcPts val="240"/>
                        </a:spcBef>
                      </a:pPr>
                      <a:r>
                        <a:rPr sz="1800" spc="-10" dirty="0">
                          <a:latin typeface="Calibri"/>
                          <a:cs typeface="Calibri"/>
                        </a:rPr>
                        <a:t>0.012</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solidFill>
                  </a:tcPr>
                </a:tc>
                <a:tc>
                  <a:txBody>
                    <a:bodyPr/>
                    <a:lstStyle/>
                    <a:p>
                      <a:pPr marL="92075">
                        <a:lnSpc>
                          <a:spcPct val="100000"/>
                        </a:lnSpc>
                        <a:spcBef>
                          <a:spcPts val="240"/>
                        </a:spcBef>
                      </a:pPr>
                      <a:r>
                        <a:rPr sz="1800" spc="-10" dirty="0">
                          <a:latin typeface="Calibri"/>
                          <a:cs typeface="Calibri"/>
                        </a:rPr>
                        <a:t>0.072</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solidFill>
                  </a:tcPr>
                </a:tc>
                <a:tc>
                  <a:txBody>
                    <a:bodyPr/>
                    <a:lstStyle/>
                    <a:p>
                      <a:pPr marL="92710">
                        <a:lnSpc>
                          <a:spcPct val="100000"/>
                        </a:lnSpc>
                        <a:spcBef>
                          <a:spcPts val="240"/>
                        </a:spcBef>
                      </a:pPr>
                      <a:r>
                        <a:rPr sz="1800" spc="-10" dirty="0">
                          <a:latin typeface="Calibri"/>
                          <a:cs typeface="Calibri"/>
                        </a:rPr>
                        <a:t>0.008</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solidFill>
                  </a:tcPr>
                </a:tc>
                <a:extLst>
                  <a:ext uri="{0D108BD9-81ED-4DB2-BD59-A6C34878D82A}">
                    <a16:rowId xmlns:a16="http://schemas.microsoft.com/office/drawing/2014/main" val="10002"/>
                  </a:ext>
                </a:extLst>
              </a:tr>
              <a:tr h="370205">
                <a:tc>
                  <a:txBody>
                    <a:bodyPr/>
                    <a:lstStyle/>
                    <a:p>
                      <a:pPr marL="91440">
                        <a:lnSpc>
                          <a:spcPct val="100000"/>
                        </a:lnSpc>
                        <a:spcBef>
                          <a:spcPts val="244"/>
                        </a:spcBef>
                      </a:pPr>
                      <a:r>
                        <a:rPr sz="1800" spc="-10" dirty="0">
                          <a:latin typeface="Calibri"/>
                          <a:cs typeface="Calibri"/>
                        </a:rPr>
                        <a:t>~Cavity</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4"/>
                        </a:spcBef>
                      </a:pPr>
                      <a:r>
                        <a:rPr sz="1800" spc="-10" dirty="0">
                          <a:latin typeface="Calibri"/>
                          <a:cs typeface="Calibri"/>
                        </a:rPr>
                        <a:t>0.016</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4"/>
                        </a:spcBef>
                      </a:pPr>
                      <a:r>
                        <a:rPr sz="1800" spc="-10" dirty="0">
                          <a:latin typeface="Calibri"/>
                          <a:cs typeface="Calibri"/>
                        </a:rPr>
                        <a:t>0.064</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4"/>
                        </a:spcBef>
                      </a:pPr>
                      <a:r>
                        <a:rPr sz="1800" spc="-10" dirty="0">
                          <a:latin typeface="Calibri"/>
                          <a:cs typeface="Calibri"/>
                        </a:rPr>
                        <a:t>0.144</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44"/>
                        </a:spcBef>
                      </a:pPr>
                      <a:r>
                        <a:rPr sz="1800" spc="-10" dirty="0">
                          <a:latin typeface="Calibri"/>
                          <a:cs typeface="Calibri"/>
                        </a:rPr>
                        <a:t>0.576</a:t>
                      </a:r>
                      <a:endParaRPr sz="1800" dirty="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4" name="object 4"/>
          <p:cNvSpPr txBox="1"/>
          <p:nvPr/>
        </p:nvSpPr>
        <p:spPr>
          <a:xfrm>
            <a:off x="609600" y="3886200"/>
            <a:ext cx="3121406" cy="443711"/>
          </a:xfrm>
          <a:prstGeom prst="rect">
            <a:avLst/>
          </a:prstGeom>
        </p:spPr>
        <p:txBody>
          <a:bodyPr vert="horz" wrap="square" lIns="0" tIns="12700" rIns="0" bIns="0" rtlCol="0">
            <a:spAutoFit/>
          </a:bodyPr>
          <a:lstStyle/>
          <a:p>
            <a:pPr marL="12700">
              <a:lnSpc>
                <a:spcPct val="100000"/>
              </a:lnSpc>
              <a:spcBef>
                <a:spcPts val="100"/>
              </a:spcBef>
            </a:pPr>
            <a:r>
              <a:rPr sz="2800" dirty="0">
                <a:latin typeface="Calibri"/>
                <a:cs typeface="Calibri"/>
              </a:rPr>
              <a:t>P(Cavity)</a:t>
            </a:r>
            <a:r>
              <a:rPr sz="2800" spc="-50" dirty="0">
                <a:latin typeface="Calibri"/>
                <a:cs typeface="Calibri"/>
              </a:rPr>
              <a:t> </a:t>
            </a:r>
            <a:r>
              <a:rPr sz="2800" dirty="0">
                <a:latin typeface="Calibri"/>
                <a:cs typeface="Calibri"/>
              </a:rPr>
              <a:t>=</a:t>
            </a:r>
            <a:r>
              <a:rPr sz="2800" spc="-40" dirty="0">
                <a:latin typeface="Calibri"/>
                <a:cs typeface="Calibri"/>
              </a:rPr>
              <a:t> </a:t>
            </a:r>
            <a:r>
              <a:rPr lang="en-US" sz="2800" spc="-25" dirty="0">
                <a:latin typeface="Calibri"/>
                <a:cs typeface="Calibri"/>
              </a:rPr>
              <a:t>?</a:t>
            </a:r>
            <a:endParaRPr sz="2800" dirty="0">
              <a:latin typeface="Calibri"/>
              <a:cs typeface="Calibri"/>
            </a:endParaRPr>
          </a:p>
        </p:txBody>
      </p:sp>
      <p:sp>
        <p:nvSpPr>
          <p:cNvPr id="5" name="object 4">
            <a:extLst>
              <a:ext uri="{FF2B5EF4-FFF2-40B4-BE49-F238E27FC236}">
                <a16:creationId xmlns:a16="http://schemas.microsoft.com/office/drawing/2014/main" id="{9AA01EA8-67CC-AAAB-788A-571880C93940}"/>
              </a:ext>
            </a:extLst>
          </p:cNvPr>
          <p:cNvSpPr txBox="1"/>
          <p:nvPr/>
        </p:nvSpPr>
        <p:spPr>
          <a:xfrm>
            <a:off x="3852293" y="3886199"/>
            <a:ext cx="3121406" cy="443711"/>
          </a:xfrm>
          <a:prstGeom prst="rect">
            <a:avLst/>
          </a:prstGeom>
        </p:spPr>
        <p:txBody>
          <a:bodyPr vert="horz" wrap="square" lIns="0" tIns="12700" rIns="0" bIns="0" rtlCol="0">
            <a:spAutoFit/>
          </a:bodyPr>
          <a:lstStyle/>
          <a:p>
            <a:pPr marL="12700">
              <a:lnSpc>
                <a:spcPct val="100000"/>
              </a:lnSpc>
              <a:spcBef>
                <a:spcPts val="100"/>
              </a:spcBef>
            </a:pPr>
            <a:r>
              <a:rPr sz="2800" dirty="0">
                <a:latin typeface="Calibri"/>
                <a:cs typeface="Calibri"/>
              </a:rPr>
              <a:t>P(Cavity)</a:t>
            </a:r>
            <a:r>
              <a:rPr sz="2800" spc="-50" dirty="0">
                <a:latin typeface="Calibri"/>
                <a:cs typeface="Calibri"/>
              </a:rPr>
              <a:t> </a:t>
            </a:r>
            <a:r>
              <a:rPr sz="2800" dirty="0">
                <a:latin typeface="Calibri"/>
                <a:cs typeface="Calibri"/>
              </a:rPr>
              <a:t>=</a:t>
            </a:r>
            <a:r>
              <a:rPr sz="2800" spc="-40" dirty="0">
                <a:latin typeface="Calibri"/>
                <a:cs typeface="Calibri"/>
              </a:rPr>
              <a:t> </a:t>
            </a:r>
            <a:r>
              <a:rPr lang="en-US" sz="2800" spc="-25" dirty="0">
                <a:latin typeface="Calibri"/>
                <a:cs typeface="Calibri"/>
              </a:rPr>
              <a:t>0.2</a:t>
            </a:r>
            <a:endParaRPr sz="2800" dirty="0">
              <a:latin typeface="Calibri"/>
              <a:cs typeface="Calibri"/>
            </a:endParaRPr>
          </a:p>
        </p:txBody>
      </p:sp>
      <p:graphicFrame>
        <p:nvGraphicFramePr>
          <p:cNvPr id="6" name="object 3">
            <a:extLst>
              <a:ext uri="{FF2B5EF4-FFF2-40B4-BE49-F238E27FC236}">
                <a16:creationId xmlns:a16="http://schemas.microsoft.com/office/drawing/2014/main" id="{4635844F-DFD9-5671-8ADE-8D618CB43329}"/>
              </a:ext>
            </a:extLst>
          </p:cNvPr>
          <p:cNvGraphicFramePr>
            <a:graphicFrameLocks noGrp="1"/>
          </p:cNvGraphicFramePr>
          <p:nvPr>
            <p:extLst>
              <p:ext uri="{D42A27DB-BD31-4B8C-83A1-F6EECF244321}">
                <p14:modId xmlns:p14="http://schemas.microsoft.com/office/powerpoint/2010/main" val="797655092"/>
              </p:ext>
            </p:extLst>
          </p:nvPr>
        </p:nvGraphicFramePr>
        <p:xfrm>
          <a:off x="470597" y="1831403"/>
          <a:ext cx="8229599" cy="1481455"/>
        </p:xfrm>
        <a:graphic>
          <a:graphicData uri="http://schemas.openxmlformats.org/drawingml/2006/table">
            <a:tbl>
              <a:tblPr firstRow="1" bandRow="1">
                <a:tableStyleId>{2D5ABB26-0587-4C30-8999-92F81FD0307C}</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19">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70205">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91440">
                        <a:lnSpc>
                          <a:spcPct val="100000"/>
                        </a:lnSpc>
                        <a:spcBef>
                          <a:spcPts val="240"/>
                        </a:spcBef>
                      </a:pPr>
                      <a:r>
                        <a:rPr sz="1800" b="1" spc="-10" dirty="0">
                          <a:latin typeface="Calibri"/>
                          <a:cs typeface="Calibri"/>
                        </a:rPr>
                        <a:t>toothache</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gridSpan="2">
                  <a:txBody>
                    <a:bodyPr/>
                    <a:lstStyle/>
                    <a:p>
                      <a:pPr marL="92075">
                        <a:lnSpc>
                          <a:spcPct val="100000"/>
                        </a:lnSpc>
                        <a:spcBef>
                          <a:spcPts val="240"/>
                        </a:spcBef>
                      </a:pPr>
                      <a:r>
                        <a:rPr sz="1800" b="1" spc="-10" dirty="0">
                          <a:latin typeface="Calibri"/>
                          <a:cs typeface="Calibri"/>
                        </a:rPr>
                        <a:t>~toothache</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0"/>
                  </a:ext>
                </a:extLst>
              </a:tr>
              <a:tr h="370205">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marL="91440">
                        <a:lnSpc>
                          <a:spcPct val="100000"/>
                        </a:lnSpc>
                        <a:spcBef>
                          <a:spcPts val="240"/>
                        </a:spcBef>
                      </a:pPr>
                      <a:r>
                        <a:rPr sz="1800" spc="-10" dirty="0">
                          <a:latin typeface="Calibri"/>
                          <a:cs typeface="Calibri"/>
                        </a:rPr>
                        <a:t>Cavity</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0"/>
                        </a:spcBef>
                      </a:pPr>
                      <a:r>
                        <a:rPr sz="1800" spc="-10" dirty="0">
                          <a:latin typeface="Calibri"/>
                          <a:cs typeface="Calibri"/>
                        </a:rPr>
                        <a:t>0.108</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50"/>
                    </a:solidFill>
                  </a:tcPr>
                </a:tc>
                <a:tc>
                  <a:txBody>
                    <a:bodyPr/>
                    <a:lstStyle/>
                    <a:p>
                      <a:pPr marL="92075">
                        <a:lnSpc>
                          <a:spcPct val="100000"/>
                        </a:lnSpc>
                        <a:spcBef>
                          <a:spcPts val="240"/>
                        </a:spcBef>
                      </a:pPr>
                      <a:r>
                        <a:rPr sz="1800" spc="-10" dirty="0">
                          <a:latin typeface="Calibri"/>
                          <a:cs typeface="Calibri"/>
                        </a:rPr>
                        <a:t>0.012</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50"/>
                    </a:solidFill>
                  </a:tcPr>
                </a:tc>
                <a:tc>
                  <a:txBody>
                    <a:bodyPr/>
                    <a:lstStyle/>
                    <a:p>
                      <a:pPr marL="92075">
                        <a:lnSpc>
                          <a:spcPct val="100000"/>
                        </a:lnSpc>
                        <a:spcBef>
                          <a:spcPts val="240"/>
                        </a:spcBef>
                      </a:pPr>
                      <a:r>
                        <a:rPr sz="1800" spc="-10" dirty="0">
                          <a:latin typeface="Calibri"/>
                          <a:cs typeface="Calibri"/>
                        </a:rPr>
                        <a:t>0.072</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50"/>
                    </a:solidFill>
                  </a:tcPr>
                </a:tc>
                <a:tc>
                  <a:txBody>
                    <a:bodyPr/>
                    <a:lstStyle/>
                    <a:p>
                      <a:pPr marL="92710">
                        <a:lnSpc>
                          <a:spcPct val="100000"/>
                        </a:lnSpc>
                        <a:spcBef>
                          <a:spcPts val="240"/>
                        </a:spcBef>
                      </a:pPr>
                      <a:r>
                        <a:rPr sz="1800" spc="-10" dirty="0">
                          <a:latin typeface="Calibri"/>
                          <a:cs typeface="Calibri"/>
                        </a:rPr>
                        <a:t>0.008</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50"/>
                    </a:solidFill>
                  </a:tcPr>
                </a:tc>
                <a:extLst>
                  <a:ext uri="{0D108BD9-81ED-4DB2-BD59-A6C34878D82A}">
                    <a16:rowId xmlns:a16="http://schemas.microsoft.com/office/drawing/2014/main" val="10002"/>
                  </a:ext>
                </a:extLst>
              </a:tr>
              <a:tr h="370205">
                <a:tc>
                  <a:txBody>
                    <a:bodyPr/>
                    <a:lstStyle/>
                    <a:p>
                      <a:pPr marL="91440">
                        <a:lnSpc>
                          <a:spcPct val="100000"/>
                        </a:lnSpc>
                        <a:spcBef>
                          <a:spcPts val="244"/>
                        </a:spcBef>
                      </a:pPr>
                      <a:r>
                        <a:rPr sz="1800" spc="-10" dirty="0">
                          <a:latin typeface="Calibri"/>
                          <a:cs typeface="Calibri"/>
                        </a:rPr>
                        <a:t>~Cavity</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4"/>
                        </a:spcBef>
                      </a:pPr>
                      <a:r>
                        <a:rPr sz="1800" spc="-10" dirty="0">
                          <a:latin typeface="Calibri"/>
                          <a:cs typeface="Calibri"/>
                        </a:rPr>
                        <a:t>0.016</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4"/>
                        </a:spcBef>
                      </a:pPr>
                      <a:r>
                        <a:rPr sz="1800" spc="-10" dirty="0">
                          <a:latin typeface="Calibri"/>
                          <a:cs typeface="Calibri"/>
                        </a:rPr>
                        <a:t>0.064</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4"/>
                        </a:spcBef>
                      </a:pPr>
                      <a:r>
                        <a:rPr sz="1800" spc="-10" dirty="0">
                          <a:latin typeface="Calibri"/>
                          <a:cs typeface="Calibri"/>
                        </a:rPr>
                        <a:t>0.144</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44"/>
                        </a:spcBef>
                      </a:pPr>
                      <a:r>
                        <a:rPr sz="1800" spc="-10" dirty="0">
                          <a:latin typeface="Calibri"/>
                          <a:cs typeface="Calibri"/>
                        </a:rPr>
                        <a:t>0.576</a:t>
                      </a:r>
                      <a:endParaRPr sz="1800" dirty="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53E9C6A-9DAC-F74C-0935-FFECD76312B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FAB62D6-D3B1-F0AF-3AC9-8F49DCFEA4D4}"/>
              </a:ext>
            </a:extLst>
          </p:cNvPr>
          <p:cNvSpPr txBox="1">
            <a:spLocks noGrp="1"/>
          </p:cNvSpPr>
          <p:nvPr>
            <p:ph type="title"/>
          </p:nvPr>
        </p:nvSpPr>
        <p:spPr>
          <a:xfrm>
            <a:off x="981049" y="191465"/>
            <a:ext cx="7181900" cy="963341"/>
          </a:xfrm>
          <a:prstGeom prst="rect">
            <a:avLst/>
          </a:prstGeom>
          <a:solidFill>
            <a:schemeClr val="accent2"/>
          </a:solidFill>
        </p:spPr>
        <p:txBody>
          <a:bodyPr vert="horz" wrap="square" lIns="0" tIns="283464" rIns="0" bIns="0" rtlCol="0">
            <a:spAutoFit/>
          </a:bodyPr>
          <a:lstStyle/>
          <a:p>
            <a:pPr marL="337820">
              <a:lnSpc>
                <a:spcPct val="100000"/>
              </a:lnSpc>
              <a:spcBef>
                <a:spcPts val="105"/>
              </a:spcBef>
            </a:pPr>
            <a:r>
              <a:rPr dirty="0">
                <a:solidFill>
                  <a:schemeClr val="bg1"/>
                </a:solidFill>
              </a:rPr>
              <a:t>Queries</a:t>
            </a:r>
            <a:r>
              <a:rPr spc="-30" dirty="0">
                <a:solidFill>
                  <a:schemeClr val="bg1"/>
                </a:solidFill>
              </a:rPr>
              <a:t> </a:t>
            </a:r>
            <a:r>
              <a:rPr dirty="0">
                <a:solidFill>
                  <a:schemeClr val="bg1"/>
                </a:solidFill>
              </a:rPr>
              <a:t>on</a:t>
            </a:r>
            <a:r>
              <a:rPr spc="-25" dirty="0">
                <a:solidFill>
                  <a:schemeClr val="bg1"/>
                </a:solidFill>
              </a:rPr>
              <a:t> </a:t>
            </a:r>
            <a:r>
              <a:rPr dirty="0">
                <a:solidFill>
                  <a:schemeClr val="bg1"/>
                </a:solidFill>
              </a:rPr>
              <a:t>Joint</a:t>
            </a:r>
            <a:r>
              <a:rPr spc="-25" dirty="0">
                <a:solidFill>
                  <a:schemeClr val="bg1"/>
                </a:solidFill>
              </a:rPr>
              <a:t> </a:t>
            </a:r>
            <a:r>
              <a:rPr spc="-10" dirty="0">
                <a:solidFill>
                  <a:schemeClr val="bg1"/>
                </a:solidFill>
              </a:rPr>
              <a:t>Distribution</a:t>
            </a:r>
          </a:p>
        </p:txBody>
      </p:sp>
      <p:graphicFrame>
        <p:nvGraphicFramePr>
          <p:cNvPr id="3" name="object 3">
            <a:extLst>
              <a:ext uri="{FF2B5EF4-FFF2-40B4-BE49-F238E27FC236}">
                <a16:creationId xmlns:a16="http://schemas.microsoft.com/office/drawing/2014/main" id="{025175FD-9B2A-40D2-B6F3-EAA8E8CC94DA}"/>
              </a:ext>
            </a:extLst>
          </p:cNvPr>
          <p:cNvGraphicFramePr>
            <a:graphicFrameLocks noGrp="1"/>
          </p:cNvGraphicFramePr>
          <p:nvPr/>
        </p:nvGraphicFramePr>
        <p:xfrm>
          <a:off x="457199" y="1831403"/>
          <a:ext cx="8229599" cy="1481455"/>
        </p:xfrm>
        <a:graphic>
          <a:graphicData uri="http://schemas.openxmlformats.org/drawingml/2006/table">
            <a:tbl>
              <a:tblPr firstRow="1" bandRow="1">
                <a:tableStyleId>{2D5ABB26-0587-4C30-8999-92F81FD0307C}</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19">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70205">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91440">
                        <a:lnSpc>
                          <a:spcPct val="100000"/>
                        </a:lnSpc>
                        <a:spcBef>
                          <a:spcPts val="240"/>
                        </a:spcBef>
                      </a:pPr>
                      <a:r>
                        <a:rPr sz="1800" b="1" spc="-10" dirty="0">
                          <a:latin typeface="Calibri"/>
                          <a:cs typeface="Calibri"/>
                        </a:rPr>
                        <a:t>toothache</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gridSpan="2">
                  <a:txBody>
                    <a:bodyPr/>
                    <a:lstStyle/>
                    <a:p>
                      <a:pPr marL="92075">
                        <a:lnSpc>
                          <a:spcPct val="100000"/>
                        </a:lnSpc>
                        <a:spcBef>
                          <a:spcPts val="240"/>
                        </a:spcBef>
                      </a:pPr>
                      <a:r>
                        <a:rPr sz="1800" b="1" spc="-10" dirty="0">
                          <a:latin typeface="Calibri"/>
                          <a:cs typeface="Calibri"/>
                        </a:rPr>
                        <a:t>~toothache</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0"/>
                  </a:ext>
                </a:extLst>
              </a:tr>
              <a:tr h="370205">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marL="91440">
                        <a:lnSpc>
                          <a:spcPct val="100000"/>
                        </a:lnSpc>
                        <a:spcBef>
                          <a:spcPts val="240"/>
                        </a:spcBef>
                      </a:pPr>
                      <a:r>
                        <a:rPr sz="1800" spc="-10" dirty="0">
                          <a:latin typeface="Calibri"/>
                          <a:cs typeface="Calibri"/>
                        </a:rPr>
                        <a:t>Cavity</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0"/>
                        </a:spcBef>
                      </a:pPr>
                      <a:r>
                        <a:rPr sz="1800" spc="-10" dirty="0">
                          <a:latin typeface="Calibri"/>
                          <a:cs typeface="Calibri"/>
                        </a:rPr>
                        <a:t>0.108</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solidFill>
                  </a:tcPr>
                </a:tc>
                <a:tc>
                  <a:txBody>
                    <a:bodyPr/>
                    <a:lstStyle/>
                    <a:p>
                      <a:pPr marL="92075">
                        <a:lnSpc>
                          <a:spcPct val="100000"/>
                        </a:lnSpc>
                        <a:spcBef>
                          <a:spcPts val="240"/>
                        </a:spcBef>
                      </a:pPr>
                      <a:r>
                        <a:rPr sz="1800" spc="-10" dirty="0">
                          <a:latin typeface="Calibri"/>
                          <a:cs typeface="Calibri"/>
                        </a:rPr>
                        <a:t>0.012</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solidFill>
                  </a:tcPr>
                </a:tc>
                <a:tc>
                  <a:txBody>
                    <a:bodyPr/>
                    <a:lstStyle/>
                    <a:p>
                      <a:pPr marL="92075">
                        <a:lnSpc>
                          <a:spcPct val="100000"/>
                        </a:lnSpc>
                        <a:spcBef>
                          <a:spcPts val="240"/>
                        </a:spcBef>
                      </a:pPr>
                      <a:r>
                        <a:rPr sz="1800" spc="-10" dirty="0">
                          <a:latin typeface="Calibri"/>
                          <a:cs typeface="Calibri"/>
                        </a:rPr>
                        <a:t>0.072</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solidFill>
                  </a:tcPr>
                </a:tc>
                <a:tc>
                  <a:txBody>
                    <a:bodyPr/>
                    <a:lstStyle/>
                    <a:p>
                      <a:pPr marL="92710">
                        <a:lnSpc>
                          <a:spcPct val="100000"/>
                        </a:lnSpc>
                        <a:spcBef>
                          <a:spcPts val="240"/>
                        </a:spcBef>
                      </a:pPr>
                      <a:r>
                        <a:rPr sz="1800" spc="-10" dirty="0">
                          <a:latin typeface="Calibri"/>
                          <a:cs typeface="Calibri"/>
                        </a:rPr>
                        <a:t>0.008</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solidFill>
                  </a:tcPr>
                </a:tc>
                <a:extLst>
                  <a:ext uri="{0D108BD9-81ED-4DB2-BD59-A6C34878D82A}">
                    <a16:rowId xmlns:a16="http://schemas.microsoft.com/office/drawing/2014/main" val="10002"/>
                  </a:ext>
                </a:extLst>
              </a:tr>
              <a:tr h="370205">
                <a:tc>
                  <a:txBody>
                    <a:bodyPr/>
                    <a:lstStyle/>
                    <a:p>
                      <a:pPr marL="91440">
                        <a:lnSpc>
                          <a:spcPct val="100000"/>
                        </a:lnSpc>
                        <a:spcBef>
                          <a:spcPts val="244"/>
                        </a:spcBef>
                      </a:pPr>
                      <a:r>
                        <a:rPr sz="1800" spc="-10" dirty="0">
                          <a:latin typeface="Calibri"/>
                          <a:cs typeface="Calibri"/>
                        </a:rPr>
                        <a:t>~Cavity</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4"/>
                        </a:spcBef>
                      </a:pPr>
                      <a:r>
                        <a:rPr sz="1800" spc="-10" dirty="0">
                          <a:latin typeface="Calibri"/>
                          <a:cs typeface="Calibri"/>
                        </a:rPr>
                        <a:t>0.016</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4"/>
                        </a:spcBef>
                      </a:pPr>
                      <a:r>
                        <a:rPr sz="1800" spc="-10" dirty="0">
                          <a:latin typeface="Calibri"/>
                          <a:cs typeface="Calibri"/>
                        </a:rPr>
                        <a:t>0.064</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4"/>
                        </a:spcBef>
                      </a:pPr>
                      <a:r>
                        <a:rPr sz="1800" spc="-10" dirty="0">
                          <a:latin typeface="Calibri"/>
                          <a:cs typeface="Calibri"/>
                        </a:rPr>
                        <a:t>0.144</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44"/>
                        </a:spcBef>
                      </a:pPr>
                      <a:r>
                        <a:rPr sz="1800" spc="-10" dirty="0">
                          <a:latin typeface="Calibri"/>
                          <a:cs typeface="Calibri"/>
                        </a:rPr>
                        <a:t>0.576</a:t>
                      </a:r>
                      <a:endParaRPr sz="1800" dirty="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4" name="object 4">
            <a:extLst>
              <a:ext uri="{FF2B5EF4-FFF2-40B4-BE49-F238E27FC236}">
                <a16:creationId xmlns:a16="http://schemas.microsoft.com/office/drawing/2014/main" id="{65989865-0987-203B-71AF-5C3DE827E65A}"/>
              </a:ext>
            </a:extLst>
          </p:cNvPr>
          <p:cNvSpPr txBox="1"/>
          <p:nvPr/>
        </p:nvSpPr>
        <p:spPr>
          <a:xfrm>
            <a:off x="609600" y="3886200"/>
            <a:ext cx="4648200" cy="443711"/>
          </a:xfrm>
          <a:prstGeom prst="rect">
            <a:avLst/>
          </a:prstGeom>
        </p:spPr>
        <p:txBody>
          <a:bodyPr vert="horz" wrap="square" lIns="0" tIns="12700" rIns="0" bIns="0" rtlCol="0">
            <a:spAutoFit/>
          </a:bodyPr>
          <a:lstStyle/>
          <a:p>
            <a:pPr marL="12700">
              <a:lnSpc>
                <a:spcPct val="100000"/>
              </a:lnSpc>
              <a:spcBef>
                <a:spcPts val="100"/>
              </a:spcBef>
            </a:pPr>
            <a:r>
              <a:rPr sz="2800" dirty="0">
                <a:latin typeface="Calibri"/>
                <a:cs typeface="Calibri"/>
              </a:rPr>
              <a:t>P(Cavity</a:t>
            </a:r>
            <a:r>
              <a:rPr lang="en-US" sz="2800" dirty="0">
                <a:latin typeface="Calibri"/>
                <a:cs typeface="Calibri"/>
              </a:rPr>
              <a:t> </a:t>
            </a:r>
            <a:r>
              <a:rPr lang="en-IN" sz="2800" dirty="0">
                <a:latin typeface="Calibri"/>
                <a:cs typeface="Calibri"/>
              </a:rPr>
              <a:t>V</a:t>
            </a:r>
            <a:r>
              <a:rPr lang="en-IN" sz="2800" spc="-50" dirty="0">
                <a:latin typeface="Calibri"/>
                <a:cs typeface="Calibri"/>
              </a:rPr>
              <a:t> </a:t>
            </a:r>
            <a:r>
              <a:rPr lang="en-IN" sz="2800" dirty="0">
                <a:latin typeface="Calibri"/>
                <a:cs typeface="Calibri"/>
              </a:rPr>
              <a:t>toothache</a:t>
            </a:r>
            <a:r>
              <a:rPr sz="2800" dirty="0">
                <a:latin typeface="Calibri"/>
                <a:cs typeface="Calibri"/>
              </a:rPr>
              <a:t>)</a:t>
            </a:r>
            <a:r>
              <a:rPr sz="2800" spc="-50" dirty="0">
                <a:latin typeface="Calibri"/>
                <a:cs typeface="Calibri"/>
              </a:rPr>
              <a:t> </a:t>
            </a:r>
            <a:r>
              <a:rPr sz="2800" dirty="0">
                <a:latin typeface="Calibri"/>
                <a:cs typeface="Calibri"/>
              </a:rPr>
              <a:t>=</a:t>
            </a:r>
            <a:r>
              <a:rPr sz="2800" spc="-40" dirty="0">
                <a:latin typeface="Calibri"/>
                <a:cs typeface="Calibri"/>
              </a:rPr>
              <a:t> </a:t>
            </a:r>
            <a:r>
              <a:rPr lang="en-US" sz="2800" spc="-25" dirty="0">
                <a:latin typeface="Calibri"/>
                <a:cs typeface="Calibri"/>
              </a:rPr>
              <a:t>?</a:t>
            </a:r>
            <a:endParaRPr sz="2800" dirty="0">
              <a:latin typeface="Calibri"/>
              <a:cs typeface="Calibri"/>
            </a:endParaRPr>
          </a:p>
        </p:txBody>
      </p:sp>
      <p:sp>
        <p:nvSpPr>
          <p:cNvPr id="5" name="object 4">
            <a:extLst>
              <a:ext uri="{FF2B5EF4-FFF2-40B4-BE49-F238E27FC236}">
                <a16:creationId xmlns:a16="http://schemas.microsoft.com/office/drawing/2014/main" id="{DCA45A0A-CF84-A6AE-BB37-995EBFD599CE}"/>
              </a:ext>
            </a:extLst>
          </p:cNvPr>
          <p:cNvSpPr txBox="1"/>
          <p:nvPr/>
        </p:nvSpPr>
        <p:spPr>
          <a:xfrm>
            <a:off x="598714" y="5112284"/>
            <a:ext cx="3121406" cy="443711"/>
          </a:xfrm>
          <a:prstGeom prst="rect">
            <a:avLst/>
          </a:prstGeom>
        </p:spPr>
        <p:txBody>
          <a:bodyPr vert="horz" wrap="square" lIns="0" tIns="12700" rIns="0" bIns="0" rtlCol="0">
            <a:spAutoFit/>
          </a:bodyPr>
          <a:lstStyle/>
          <a:p>
            <a:pPr marL="12700">
              <a:lnSpc>
                <a:spcPct val="100000"/>
              </a:lnSpc>
              <a:spcBef>
                <a:spcPts val="100"/>
              </a:spcBef>
            </a:pPr>
            <a:r>
              <a:rPr sz="2800" dirty="0">
                <a:latin typeface="Calibri"/>
                <a:cs typeface="Calibri"/>
              </a:rPr>
              <a:t>P(Cavity)</a:t>
            </a:r>
            <a:r>
              <a:rPr sz="2800" spc="-50" dirty="0">
                <a:latin typeface="Calibri"/>
                <a:cs typeface="Calibri"/>
              </a:rPr>
              <a:t> </a:t>
            </a:r>
            <a:r>
              <a:rPr sz="2800" dirty="0">
                <a:latin typeface="Calibri"/>
                <a:cs typeface="Calibri"/>
              </a:rPr>
              <a:t>=</a:t>
            </a:r>
            <a:r>
              <a:rPr sz="2800" spc="-40" dirty="0">
                <a:latin typeface="Calibri"/>
                <a:cs typeface="Calibri"/>
              </a:rPr>
              <a:t> </a:t>
            </a:r>
            <a:r>
              <a:rPr lang="en-US" sz="2800" spc="-25" dirty="0">
                <a:latin typeface="Calibri"/>
                <a:cs typeface="Calibri"/>
              </a:rPr>
              <a:t>0.28</a:t>
            </a:r>
            <a:endParaRPr sz="2800" dirty="0">
              <a:latin typeface="Calibri"/>
              <a:cs typeface="Calibri"/>
            </a:endParaRPr>
          </a:p>
        </p:txBody>
      </p:sp>
      <p:graphicFrame>
        <p:nvGraphicFramePr>
          <p:cNvPr id="6" name="object 3">
            <a:extLst>
              <a:ext uri="{FF2B5EF4-FFF2-40B4-BE49-F238E27FC236}">
                <a16:creationId xmlns:a16="http://schemas.microsoft.com/office/drawing/2014/main" id="{DE0C542E-70B6-86D1-B565-899CEBC5E31E}"/>
              </a:ext>
            </a:extLst>
          </p:cNvPr>
          <p:cNvGraphicFramePr>
            <a:graphicFrameLocks noGrp="1"/>
          </p:cNvGraphicFramePr>
          <p:nvPr>
            <p:extLst>
              <p:ext uri="{D42A27DB-BD31-4B8C-83A1-F6EECF244321}">
                <p14:modId xmlns:p14="http://schemas.microsoft.com/office/powerpoint/2010/main" val="1961795601"/>
              </p:ext>
            </p:extLst>
          </p:nvPr>
        </p:nvGraphicFramePr>
        <p:xfrm>
          <a:off x="470597" y="1831403"/>
          <a:ext cx="8229599" cy="1481455"/>
        </p:xfrm>
        <a:graphic>
          <a:graphicData uri="http://schemas.openxmlformats.org/drawingml/2006/table">
            <a:tbl>
              <a:tblPr firstRow="1" bandRow="1">
                <a:tableStyleId>{2D5ABB26-0587-4C30-8999-92F81FD0307C}</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19">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70205">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91440">
                        <a:lnSpc>
                          <a:spcPct val="100000"/>
                        </a:lnSpc>
                        <a:spcBef>
                          <a:spcPts val="240"/>
                        </a:spcBef>
                      </a:pPr>
                      <a:r>
                        <a:rPr sz="1800" b="1" spc="-10" dirty="0">
                          <a:latin typeface="Calibri"/>
                          <a:cs typeface="Calibri"/>
                        </a:rPr>
                        <a:t>toothache</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gridSpan="2">
                  <a:txBody>
                    <a:bodyPr/>
                    <a:lstStyle/>
                    <a:p>
                      <a:pPr marL="92075">
                        <a:lnSpc>
                          <a:spcPct val="100000"/>
                        </a:lnSpc>
                        <a:spcBef>
                          <a:spcPts val="240"/>
                        </a:spcBef>
                      </a:pPr>
                      <a:r>
                        <a:rPr sz="1800" b="1" spc="-10" dirty="0">
                          <a:latin typeface="Calibri"/>
                          <a:cs typeface="Calibri"/>
                        </a:rPr>
                        <a:t>~toothache</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0"/>
                  </a:ext>
                </a:extLst>
              </a:tr>
              <a:tr h="370205">
                <a:tc>
                  <a:txBody>
                    <a:bodyPr/>
                    <a:lstStyle/>
                    <a:p>
                      <a:pPr>
                        <a:lnSpc>
                          <a:spcPct val="100000"/>
                        </a:lnSpc>
                      </a:pPr>
                      <a:endParaRPr sz="2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marL="91440">
                        <a:lnSpc>
                          <a:spcPct val="100000"/>
                        </a:lnSpc>
                        <a:spcBef>
                          <a:spcPts val="240"/>
                        </a:spcBef>
                      </a:pPr>
                      <a:r>
                        <a:rPr sz="1800" spc="-10" dirty="0">
                          <a:latin typeface="Calibri"/>
                          <a:cs typeface="Calibri"/>
                        </a:rPr>
                        <a:t>Cavity</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0"/>
                        </a:spcBef>
                      </a:pPr>
                      <a:r>
                        <a:rPr sz="1800" spc="-10" dirty="0">
                          <a:latin typeface="Calibri"/>
                          <a:cs typeface="Calibri"/>
                        </a:rPr>
                        <a:t>0.108</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50"/>
                    </a:solidFill>
                  </a:tcPr>
                </a:tc>
                <a:tc>
                  <a:txBody>
                    <a:bodyPr/>
                    <a:lstStyle/>
                    <a:p>
                      <a:pPr marL="92075">
                        <a:lnSpc>
                          <a:spcPct val="100000"/>
                        </a:lnSpc>
                        <a:spcBef>
                          <a:spcPts val="240"/>
                        </a:spcBef>
                      </a:pPr>
                      <a:r>
                        <a:rPr sz="1800" spc="-10" dirty="0">
                          <a:latin typeface="Calibri"/>
                          <a:cs typeface="Calibri"/>
                        </a:rPr>
                        <a:t>0.012</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50"/>
                    </a:solidFill>
                  </a:tcPr>
                </a:tc>
                <a:tc>
                  <a:txBody>
                    <a:bodyPr/>
                    <a:lstStyle/>
                    <a:p>
                      <a:pPr marL="92075">
                        <a:lnSpc>
                          <a:spcPct val="100000"/>
                        </a:lnSpc>
                        <a:spcBef>
                          <a:spcPts val="240"/>
                        </a:spcBef>
                      </a:pPr>
                      <a:r>
                        <a:rPr sz="1800" spc="-10" dirty="0">
                          <a:latin typeface="Calibri"/>
                          <a:cs typeface="Calibri"/>
                        </a:rPr>
                        <a:t>0.072</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50"/>
                    </a:solidFill>
                  </a:tcPr>
                </a:tc>
                <a:tc>
                  <a:txBody>
                    <a:bodyPr/>
                    <a:lstStyle/>
                    <a:p>
                      <a:pPr marL="92710">
                        <a:lnSpc>
                          <a:spcPct val="100000"/>
                        </a:lnSpc>
                        <a:spcBef>
                          <a:spcPts val="240"/>
                        </a:spcBef>
                      </a:pPr>
                      <a:r>
                        <a:rPr sz="1800" spc="-10" dirty="0">
                          <a:latin typeface="Calibri"/>
                          <a:cs typeface="Calibri"/>
                        </a:rPr>
                        <a:t>0.008</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50"/>
                    </a:solidFill>
                  </a:tcPr>
                </a:tc>
                <a:extLst>
                  <a:ext uri="{0D108BD9-81ED-4DB2-BD59-A6C34878D82A}">
                    <a16:rowId xmlns:a16="http://schemas.microsoft.com/office/drawing/2014/main" val="10002"/>
                  </a:ext>
                </a:extLst>
              </a:tr>
              <a:tr h="370205">
                <a:tc>
                  <a:txBody>
                    <a:bodyPr/>
                    <a:lstStyle/>
                    <a:p>
                      <a:pPr marL="91440">
                        <a:lnSpc>
                          <a:spcPct val="100000"/>
                        </a:lnSpc>
                        <a:spcBef>
                          <a:spcPts val="244"/>
                        </a:spcBef>
                      </a:pPr>
                      <a:r>
                        <a:rPr sz="1800" spc="-10" dirty="0">
                          <a:latin typeface="Calibri"/>
                          <a:cs typeface="Calibri"/>
                        </a:rPr>
                        <a:t>~Cavity</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4"/>
                        </a:spcBef>
                      </a:pPr>
                      <a:r>
                        <a:rPr sz="1800" spc="-10" dirty="0">
                          <a:latin typeface="Calibri"/>
                          <a:cs typeface="Calibri"/>
                        </a:rPr>
                        <a:t>0.016</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50"/>
                    </a:solidFill>
                  </a:tcPr>
                </a:tc>
                <a:tc>
                  <a:txBody>
                    <a:bodyPr/>
                    <a:lstStyle/>
                    <a:p>
                      <a:pPr marL="92075">
                        <a:lnSpc>
                          <a:spcPct val="100000"/>
                        </a:lnSpc>
                        <a:spcBef>
                          <a:spcPts val="244"/>
                        </a:spcBef>
                      </a:pPr>
                      <a:r>
                        <a:rPr sz="1800" spc="-10" dirty="0">
                          <a:latin typeface="Calibri"/>
                          <a:cs typeface="Calibri"/>
                        </a:rPr>
                        <a:t>0.064</a:t>
                      </a:r>
                      <a:endParaRPr sz="1800" dirty="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B050"/>
                    </a:solidFill>
                  </a:tcPr>
                </a:tc>
                <a:tc>
                  <a:txBody>
                    <a:bodyPr/>
                    <a:lstStyle/>
                    <a:p>
                      <a:pPr marL="92075">
                        <a:lnSpc>
                          <a:spcPct val="100000"/>
                        </a:lnSpc>
                        <a:spcBef>
                          <a:spcPts val="244"/>
                        </a:spcBef>
                      </a:pPr>
                      <a:r>
                        <a:rPr sz="1800" spc="-10" dirty="0">
                          <a:latin typeface="Calibri"/>
                          <a:cs typeface="Calibri"/>
                        </a:rPr>
                        <a:t>0.144</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44"/>
                        </a:spcBef>
                      </a:pPr>
                      <a:r>
                        <a:rPr sz="1800" spc="-10" dirty="0">
                          <a:latin typeface="Calibri"/>
                          <a:cs typeface="Calibri"/>
                        </a:rPr>
                        <a:t>0.576</a:t>
                      </a:r>
                      <a:endParaRPr sz="1800" dirty="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78584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nvGraphicFramePr>
        <p:xfrm>
          <a:off x="450850" y="1593850"/>
          <a:ext cx="8229599" cy="1481455"/>
        </p:xfrm>
        <a:graphic>
          <a:graphicData uri="http://schemas.openxmlformats.org/drawingml/2006/table">
            <a:tbl>
              <a:tblPr firstRow="1" bandRow="1">
                <a:tableStyleId>{2D5ABB26-0587-4C30-8999-92F81FD0307C}</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19">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70205">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91440">
                        <a:lnSpc>
                          <a:spcPct val="100000"/>
                        </a:lnSpc>
                        <a:spcBef>
                          <a:spcPts val="240"/>
                        </a:spcBef>
                      </a:pPr>
                      <a:r>
                        <a:rPr sz="1800" b="1" spc="-10" dirty="0">
                          <a:latin typeface="Calibri"/>
                          <a:cs typeface="Calibri"/>
                        </a:rPr>
                        <a:t>toothache</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gridSpan="2">
                  <a:txBody>
                    <a:bodyPr/>
                    <a:lstStyle/>
                    <a:p>
                      <a:pPr marL="92075">
                        <a:lnSpc>
                          <a:spcPct val="100000"/>
                        </a:lnSpc>
                        <a:spcBef>
                          <a:spcPts val="240"/>
                        </a:spcBef>
                      </a:pPr>
                      <a:r>
                        <a:rPr sz="1800" b="1" spc="-10" dirty="0">
                          <a:latin typeface="Calibri"/>
                          <a:cs typeface="Calibri"/>
                        </a:rPr>
                        <a:t>~toothache</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0"/>
                  </a:ext>
                </a:extLst>
              </a:tr>
              <a:tr h="370205">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marL="91440">
                        <a:lnSpc>
                          <a:spcPct val="100000"/>
                        </a:lnSpc>
                        <a:spcBef>
                          <a:spcPts val="240"/>
                        </a:spcBef>
                      </a:pPr>
                      <a:r>
                        <a:rPr sz="1800" spc="-10" dirty="0">
                          <a:latin typeface="Calibri"/>
                          <a:cs typeface="Calibri"/>
                        </a:rPr>
                        <a:t>Cavity</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0"/>
                        </a:spcBef>
                      </a:pPr>
                      <a:r>
                        <a:rPr sz="1800" spc="-10" dirty="0">
                          <a:latin typeface="Calibri"/>
                          <a:cs typeface="Calibri"/>
                        </a:rPr>
                        <a:t>0.108</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92075">
                        <a:lnSpc>
                          <a:spcPct val="100000"/>
                        </a:lnSpc>
                        <a:spcBef>
                          <a:spcPts val="240"/>
                        </a:spcBef>
                      </a:pPr>
                      <a:r>
                        <a:rPr sz="1800" spc="-10" dirty="0">
                          <a:latin typeface="Calibri"/>
                          <a:cs typeface="Calibri"/>
                        </a:rPr>
                        <a:t>0.012</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92075">
                        <a:lnSpc>
                          <a:spcPct val="100000"/>
                        </a:lnSpc>
                        <a:spcBef>
                          <a:spcPts val="240"/>
                        </a:spcBef>
                      </a:pPr>
                      <a:r>
                        <a:rPr sz="1800" spc="-10" dirty="0">
                          <a:latin typeface="Calibri"/>
                          <a:cs typeface="Calibri"/>
                        </a:rPr>
                        <a:t>0.072</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92710">
                        <a:lnSpc>
                          <a:spcPct val="100000"/>
                        </a:lnSpc>
                        <a:spcBef>
                          <a:spcPts val="240"/>
                        </a:spcBef>
                      </a:pPr>
                      <a:r>
                        <a:rPr sz="1800" spc="-10" dirty="0">
                          <a:latin typeface="Calibri"/>
                          <a:cs typeface="Calibri"/>
                        </a:rPr>
                        <a:t>0.008</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extLst>
                  <a:ext uri="{0D108BD9-81ED-4DB2-BD59-A6C34878D82A}">
                    <a16:rowId xmlns:a16="http://schemas.microsoft.com/office/drawing/2014/main" val="10002"/>
                  </a:ext>
                </a:extLst>
              </a:tr>
              <a:tr h="370205">
                <a:tc>
                  <a:txBody>
                    <a:bodyPr/>
                    <a:lstStyle/>
                    <a:p>
                      <a:pPr marL="91440">
                        <a:lnSpc>
                          <a:spcPct val="100000"/>
                        </a:lnSpc>
                        <a:spcBef>
                          <a:spcPts val="244"/>
                        </a:spcBef>
                      </a:pPr>
                      <a:r>
                        <a:rPr sz="1800" spc="-10" dirty="0">
                          <a:latin typeface="Calibri"/>
                          <a:cs typeface="Calibri"/>
                        </a:rPr>
                        <a:t>~Cavity</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4"/>
                        </a:spcBef>
                      </a:pPr>
                      <a:r>
                        <a:rPr sz="1800" spc="-10" dirty="0">
                          <a:latin typeface="Calibri"/>
                          <a:cs typeface="Calibri"/>
                        </a:rPr>
                        <a:t>0.016</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92075">
                        <a:lnSpc>
                          <a:spcPct val="100000"/>
                        </a:lnSpc>
                        <a:spcBef>
                          <a:spcPts val="244"/>
                        </a:spcBef>
                      </a:pPr>
                      <a:r>
                        <a:rPr sz="1800" spc="-10" dirty="0">
                          <a:latin typeface="Calibri"/>
                          <a:cs typeface="Calibri"/>
                        </a:rPr>
                        <a:t>0.064</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92075">
                        <a:lnSpc>
                          <a:spcPct val="100000"/>
                        </a:lnSpc>
                        <a:spcBef>
                          <a:spcPts val="244"/>
                        </a:spcBef>
                      </a:pPr>
                      <a:r>
                        <a:rPr sz="1800" spc="-10" dirty="0">
                          <a:latin typeface="Calibri"/>
                          <a:cs typeface="Calibri"/>
                        </a:rPr>
                        <a:t>0.144</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44"/>
                        </a:spcBef>
                      </a:pPr>
                      <a:r>
                        <a:rPr sz="1800" spc="-10" dirty="0">
                          <a:latin typeface="Calibri"/>
                          <a:cs typeface="Calibri"/>
                        </a:rPr>
                        <a:t>0.576</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4" name="object 4"/>
          <p:cNvSpPr txBox="1"/>
          <p:nvPr/>
        </p:nvSpPr>
        <p:spPr>
          <a:xfrm>
            <a:off x="535940" y="3218815"/>
            <a:ext cx="27095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P(Cavity</a:t>
            </a:r>
            <a:r>
              <a:rPr sz="1800" spc="-35" dirty="0">
                <a:latin typeface="Calibri"/>
                <a:cs typeface="Calibri"/>
              </a:rPr>
              <a:t> </a:t>
            </a:r>
            <a:r>
              <a:rPr sz="1800" dirty="0">
                <a:latin typeface="Calibri"/>
                <a:cs typeface="Calibri"/>
              </a:rPr>
              <a:t>V</a:t>
            </a:r>
            <a:r>
              <a:rPr sz="1800" spc="-50" dirty="0">
                <a:latin typeface="Calibri"/>
                <a:cs typeface="Calibri"/>
              </a:rPr>
              <a:t> </a:t>
            </a:r>
            <a:r>
              <a:rPr sz="1800" dirty="0">
                <a:latin typeface="Calibri"/>
                <a:cs typeface="Calibri"/>
              </a:rPr>
              <a:t>tooth</a:t>
            </a:r>
            <a:r>
              <a:rPr sz="1800" spc="-35" dirty="0">
                <a:latin typeface="Calibri"/>
                <a:cs typeface="Calibri"/>
              </a:rPr>
              <a:t> </a:t>
            </a:r>
            <a:r>
              <a:rPr sz="1800" dirty="0">
                <a:latin typeface="Calibri"/>
                <a:cs typeface="Calibri"/>
              </a:rPr>
              <a:t>ache)</a:t>
            </a:r>
            <a:r>
              <a:rPr sz="1800" spc="-25" dirty="0">
                <a:latin typeface="Calibri"/>
                <a:cs typeface="Calibri"/>
              </a:rPr>
              <a:t> </a:t>
            </a:r>
            <a:r>
              <a:rPr sz="1800" dirty="0">
                <a:latin typeface="Calibri"/>
                <a:cs typeface="Calibri"/>
              </a:rPr>
              <a:t>=</a:t>
            </a:r>
            <a:r>
              <a:rPr sz="1800" spc="-45" dirty="0">
                <a:latin typeface="Calibri"/>
                <a:cs typeface="Calibri"/>
              </a:rPr>
              <a:t> </a:t>
            </a:r>
            <a:r>
              <a:rPr sz="1800" spc="-20" dirty="0">
                <a:latin typeface="Calibri"/>
                <a:cs typeface="Calibri"/>
              </a:rPr>
              <a:t>0.28</a:t>
            </a:r>
            <a:endParaRPr sz="1800" dirty="0">
              <a:latin typeface="Calibri"/>
              <a:cs typeface="Calibri"/>
            </a:endParaRPr>
          </a:p>
        </p:txBody>
      </p:sp>
      <p:sp>
        <p:nvSpPr>
          <p:cNvPr id="5" name="object 5"/>
          <p:cNvSpPr txBox="1"/>
          <p:nvPr/>
        </p:nvSpPr>
        <p:spPr>
          <a:xfrm>
            <a:off x="479203" y="3962400"/>
            <a:ext cx="7826597" cy="1125949"/>
          </a:xfrm>
          <a:prstGeom prst="rect">
            <a:avLst/>
          </a:prstGeom>
        </p:spPr>
        <p:style>
          <a:lnRef idx="2">
            <a:schemeClr val="dk1"/>
          </a:lnRef>
          <a:fillRef idx="1">
            <a:schemeClr val="lt1"/>
          </a:fillRef>
          <a:effectRef idx="0">
            <a:schemeClr val="dk1"/>
          </a:effectRef>
          <a:fontRef idx="minor">
            <a:schemeClr val="dk1"/>
          </a:fontRef>
        </p:style>
        <p:txBody>
          <a:bodyPr vert="horz" wrap="square" lIns="0" tIns="12700" rIns="0" bIns="0" rtlCol="0">
            <a:spAutoFit/>
          </a:bodyPr>
          <a:lstStyle/>
          <a:p>
            <a:pPr marL="12700">
              <a:lnSpc>
                <a:spcPct val="100000"/>
              </a:lnSpc>
              <a:spcBef>
                <a:spcPts val="100"/>
              </a:spcBef>
            </a:pPr>
            <a:r>
              <a:rPr sz="1800" spc="-10" dirty="0">
                <a:latin typeface="Calibri"/>
                <a:cs typeface="Calibri"/>
              </a:rPr>
              <a:t>Marginalizatio</a:t>
            </a:r>
            <a:r>
              <a:rPr lang="en-US" sz="1800" spc="-10" dirty="0">
                <a:latin typeface="Calibri"/>
                <a:cs typeface="Calibri"/>
              </a:rPr>
              <a:t>n</a:t>
            </a:r>
            <a:r>
              <a:rPr sz="1800" spc="-20" dirty="0">
                <a:latin typeface="Calibri"/>
                <a:cs typeface="Calibri"/>
              </a:rPr>
              <a:t> </a:t>
            </a:r>
            <a:r>
              <a:rPr sz="1800" dirty="0">
                <a:latin typeface="Calibri"/>
                <a:cs typeface="Calibri"/>
              </a:rPr>
              <a:t>or</a:t>
            </a:r>
            <a:r>
              <a:rPr sz="1800" spc="-20" dirty="0">
                <a:latin typeface="Calibri"/>
                <a:cs typeface="Calibri"/>
              </a:rPr>
              <a:t> </a:t>
            </a:r>
            <a:r>
              <a:rPr sz="1800" dirty="0">
                <a:latin typeface="Calibri"/>
                <a:cs typeface="Calibri"/>
              </a:rPr>
              <a:t>summing</a:t>
            </a:r>
            <a:r>
              <a:rPr sz="1800" spc="-20" dirty="0">
                <a:latin typeface="Calibri"/>
                <a:cs typeface="Calibri"/>
              </a:rPr>
              <a:t> </a:t>
            </a:r>
            <a:r>
              <a:rPr sz="1800" dirty="0">
                <a:latin typeface="Calibri"/>
                <a:cs typeface="Calibri"/>
              </a:rPr>
              <a:t>out</a:t>
            </a:r>
            <a:r>
              <a:rPr sz="1800" spc="375" dirty="0">
                <a:latin typeface="Calibri"/>
                <a:cs typeface="Calibri"/>
              </a:rPr>
              <a:t> </a:t>
            </a:r>
            <a:r>
              <a:rPr sz="1800" spc="-50" dirty="0">
                <a:latin typeface="Calibri"/>
                <a:cs typeface="Calibri"/>
              </a:rPr>
              <a:t>-</a:t>
            </a:r>
            <a:endParaRPr sz="1800" dirty="0">
              <a:latin typeface="Calibri"/>
              <a:cs typeface="Calibri"/>
            </a:endParaRPr>
          </a:p>
          <a:p>
            <a:pPr marL="12700" marR="5080" indent="208279">
              <a:lnSpc>
                <a:spcPct val="100000"/>
              </a:lnSpc>
              <a:spcBef>
                <a:spcPts val="2160"/>
              </a:spcBef>
            </a:pPr>
            <a:r>
              <a:rPr sz="1800" dirty="0">
                <a:latin typeface="Calibri"/>
                <a:cs typeface="Calibri"/>
              </a:rPr>
              <a:t>Marginalizing</a:t>
            </a:r>
            <a:r>
              <a:rPr sz="1800" spc="-5" dirty="0">
                <a:latin typeface="Calibri"/>
                <a:cs typeface="Calibri"/>
              </a:rPr>
              <a:t> </a:t>
            </a:r>
            <a:r>
              <a:rPr sz="1800" dirty="0">
                <a:latin typeface="Calibri"/>
                <a:cs typeface="Calibri"/>
              </a:rPr>
              <a:t>the</a:t>
            </a:r>
            <a:r>
              <a:rPr sz="1800" spc="-40" dirty="0">
                <a:latin typeface="Calibri"/>
                <a:cs typeface="Calibri"/>
              </a:rPr>
              <a:t> </a:t>
            </a:r>
            <a:r>
              <a:rPr sz="1800" dirty="0">
                <a:latin typeface="Calibri"/>
                <a:cs typeface="Calibri"/>
              </a:rPr>
              <a:t>probability</a:t>
            </a:r>
            <a:r>
              <a:rPr sz="1800" spc="-20" dirty="0">
                <a:latin typeface="Calibri"/>
                <a:cs typeface="Calibri"/>
              </a:rPr>
              <a:t> </a:t>
            </a:r>
            <a:r>
              <a:rPr sz="1800" dirty="0">
                <a:latin typeface="Calibri"/>
                <a:cs typeface="Calibri"/>
              </a:rPr>
              <a:t>of</a:t>
            </a:r>
            <a:r>
              <a:rPr sz="1800" spc="-45" dirty="0">
                <a:latin typeface="Calibri"/>
                <a:cs typeface="Calibri"/>
              </a:rPr>
              <a:t> </a:t>
            </a:r>
            <a:r>
              <a:rPr sz="1800" dirty="0">
                <a:latin typeface="Calibri"/>
                <a:cs typeface="Calibri"/>
              </a:rPr>
              <a:t>a</a:t>
            </a:r>
            <a:r>
              <a:rPr sz="1800" spc="350" dirty="0">
                <a:latin typeface="Calibri"/>
                <a:cs typeface="Calibri"/>
              </a:rPr>
              <a:t> </a:t>
            </a:r>
            <a:r>
              <a:rPr sz="1800" spc="-10" dirty="0">
                <a:latin typeface="Calibri"/>
                <a:cs typeface="Calibri"/>
              </a:rPr>
              <a:t>proposition</a:t>
            </a:r>
            <a:r>
              <a:rPr sz="1800" spc="-30" dirty="0">
                <a:latin typeface="Calibri"/>
                <a:cs typeface="Calibri"/>
              </a:rPr>
              <a:t> </a:t>
            </a:r>
            <a:r>
              <a:rPr sz="1800" dirty="0">
                <a:latin typeface="Calibri"/>
                <a:cs typeface="Calibri"/>
              </a:rPr>
              <a:t>by</a:t>
            </a:r>
            <a:r>
              <a:rPr sz="1800" spc="-40" dirty="0">
                <a:latin typeface="Calibri"/>
                <a:cs typeface="Calibri"/>
              </a:rPr>
              <a:t> </a:t>
            </a:r>
            <a:r>
              <a:rPr sz="1800" dirty="0">
                <a:latin typeface="Calibri"/>
                <a:cs typeface="Calibri"/>
              </a:rPr>
              <a:t>summing</a:t>
            </a:r>
            <a:r>
              <a:rPr sz="1800" spc="-35" dirty="0">
                <a:latin typeface="Calibri"/>
                <a:cs typeface="Calibri"/>
              </a:rPr>
              <a:t> </a:t>
            </a:r>
            <a:r>
              <a:rPr sz="1800" dirty="0">
                <a:latin typeface="Calibri"/>
                <a:cs typeface="Calibri"/>
              </a:rPr>
              <a:t>up</a:t>
            </a:r>
            <a:r>
              <a:rPr sz="1800" spc="-25" dirty="0">
                <a:latin typeface="Calibri"/>
                <a:cs typeface="Calibri"/>
              </a:rPr>
              <a:t> the </a:t>
            </a:r>
            <a:r>
              <a:rPr sz="1800" spc="-10" dirty="0">
                <a:latin typeface="Calibri"/>
                <a:cs typeface="Calibri"/>
              </a:rPr>
              <a:t>probabilities</a:t>
            </a:r>
            <a:r>
              <a:rPr sz="1800" spc="-35" dirty="0">
                <a:latin typeface="Calibri"/>
                <a:cs typeface="Calibri"/>
              </a:rPr>
              <a:t> </a:t>
            </a:r>
            <a:r>
              <a:rPr sz="1800" dirty="0">
                <a:latin typeface="Calibri"/>
                <a:cs typeface="Calibri"/>
              </a:rPr>
              <a:t>of</a:t>
            </a:r>
            <a:r>
              <a:rPr sz="1800" spc="-35" dirty="0">
                <a:latin typeface="Calibri"/>
                <a:cs typeface="Calibri"/>
              </a:rPr>
              <a:t> </a:t>
            </a:r>
            <a:r>
              <a:rPr sz="1800" dirty="0">
                <a:latin typeface="Calibri"/>
                <a:cs typeface="Calibri"/>
              </a:rPr>
              <a:t>their</a:t>
            </a:r>
            <a:r>
              <a:rPr sz="1800" spc="-40" dirty="0">
                <a:latin typeface="Calibri"/>
                <a:cs typeface="Calibri"/>
              </a:rPr>
              <a:t> </a:t>
            </a:r>
            <a:r>
              <a:rPr sz="1800" spc="-10" dirty="0">
                <a:latin typeface="Calibri"/>
                <a:cs typeface="Calibri"/>
              </a:rPr>
              <a:t>co-</a:t>
            </a:r>
            <a:r>
              <a:rPr sz="1800" dirty="0">
                <a:latin typeface="Calibri"/>
                <a:cs typeface="Calibri"/>
              </a:rPr>
              <a:t>occurrence</a:t>
            </a:r>
            <a:r>
              <a:rPr sz="1800" spc="-10" dirty="0">
                <a:latin typeface="Calibri"/>
                <a:cs typeface="Calibri"/>
              </a:rPr>
              <a:t> </a:t>
            </a:r>
            <a:r>
              <a:rPr sz="1800" dirty="0">
                <a:latin typeface="Calibri"/>
                <a:cs typeface="Calibri"/>
              </a:rPr>
              <a:t>with</a:t>
            </a:r>
            <a:r>
              <a:rPr sz="1800" spc="-35" dirty="0">
                <a:latin typeface="Calibri"/>
                <a:cs typeface="Calibri"/>
              </a:rPr>
              <a:t> </a:t>
            </a:r>
            <a:r>
              <a:rPr sz="1800" dirty="0">
                <a:latin typeface="Calibri"/>
                <a:cs typeface="Calibri"/>
              </a:rPr>
              <a:t>other</a:t>
            </a:r>
            <a:r>
              <a:rPr sz="1800" spc="-35" dirty="0">
                <a:latin typeface="Calibri"/>
                <a:cs typeface="Calibri"/>
              </a:rPr>
              <a:t> </a:t>
            </a:r>
            <a:r>
              <a:rPr sz="1800" spc="-10" dirty="0">
                <a:latin typeface="Calibri"/>
                <a:cs typeface="Calibri"/>
              </a:rPr>
              <a:t>propositions.</a:t>
            </a:r>
            <a:endParaRPr sz="1800" dirty="0">
              <a:latin typeface="Calibri"/>
              <a:cs typeface="Calibri"/>
            </a:endParaRPr>
          </a:p>
        </p:txBody>
      </p:sp>
      <p:sp>
        <p:nvSpPr>
          <p:cNvPr id="7" name="Title 6">
            <a:extLst>
              <a:ext uri="{FF2B5EF4-FFF2-40B4-BE49-F238E27FC236}">
                <a16:creationId xmlns:a16="http://schemas.microsoft.com/office/drawing/2014/main" id="{4CDDB34F-88CE-2DD2-16D1-120281C42F49}"/>
              </a:ext>
            </a:extLst>
          </p:cNvPr>
          <p:cNvSpPr>
            <a:spLocks noGrp="1"/>
          </p:cNvSpPr>
          <p:nvPr>
            <p:ph type="title"/>
          </p:nvPr>
        </p:nvSpPr>
        <p:spPr/>
        <p:txBody>
          <a:bodyPr/>
          <a:lstStyle/>
          <a:p>
            <a:endParaRPr lang="en-IN"/>
          </a:p>
        </p:txBody>
      </p:sp>
      <p:sp>
        <p:nvSpPr>
          <p:cNvPr id="8" name="object 2">
            <a:extLst>
              <a:ext uri="{FF2B5EF4-FFF2-40B4-BE49-F238E27FC236}">
                <a16:creationId xmlns:a16="http://schemas.microsoft.com/office/drawing/2014/main" id="{5C160C17-9A72-13F8-1015-BFBF3EE00316}"/>
              </a:ext>
            </a:extLst>
          </p:cNvPr>
          <p:cNvSpPr txBox="1">
            <a:spLocks/>
          </p:cNvSpPr>
          <p:nvPr/>
        </p:nvSpPr>
        <p:spPr>
          <a:xfrm>
            <a:off x="981049" y="191465"/>
            <a:ext cx="7181900" cy="963341"/>
          </a:xfrm>
          <a:prstGeom prst="rect">
            <a:avLst/>
          </a:prstGeom>
          <a:solidFill>
            <a:schemeClr val="accent2"/>
          </a:solidFill>
        </p:spPr>
        <p:txBody>
          <a:bodyPr vert="horz" wrap="square" lIns="0" tIns="283464" rIns="0" bIns="0" rtlCol="0">
            <a:spAutoFit/>
          </a:bodyPr>
          <a:lstStyle>
            <a:lvl1pPr>
              <a:defRPr sz="4400" b="0" i="0">
                <a:solidFill>
                  <a:schemeClr val="tx1"/>
                </a:solidFill>
                <a:latin typeface="Calibri"/>
                <a:ea typeface="+mj-ea"/>
                <a:cs typeface="Calibri"/>
              </a:defRPr>
            </a:lvl1pPr>
          </a:lstStyle>
          <a:p>
            <a:pPr marL="337820">
              <a:spcBef>
                <a:spcPts val="105"/>
              </a:spcBef>
            </a:pPr>
            <a:r>
              <a:rPr lang="en-IN" dirty="0">
                <a:solidFill>
                  <a:schemeClr val="bg1"/>
                </a:solidFill>
              </a:rPr>
              <a:t>Queries</a:t>
            </a:r>
            <a:r>
              <a:rPr lang="en-IN" spc="-30" dirty="0">
                <a:solidFill>
                  <a:schemeClr val="bg1"/>
                </a:solidFill>
              </a:rPr>
              <a:t> </a:t>
            </a:r>
            <a:r>
              <a:rPr lang="en-IN" dirty="0">
                <a:solidFill>
                  <a:schemeClr val="bg1"/>
                </a:solidFill>
              </a:rPr>
              <a:t>on</a:t>
            </a:r>
            <a:r>
              <a:rPr lang="en-IN" spc="-25" dirty="0">
                <a:solidFill>
                  <a:schemeClr val="bg1"/>
                </a:solidFill>
              </a:rPr>
              <a:t> </a:t>
            </a:r>
            <a:r>
              <a:rPr lang="en-IN" dirty="0">
                <a:solidFill>
                  <a:schemeClr val="bg1"/>
                </a:solidFill>
              </a:rPr>
              <a:t>Joint</a:t>
            </a:r>
            <a:r>
              <a:rPr lang="en-IN" spc="-25" dirty="0">
                <a:solidFill>
                  <a:schemeClr val="bg1"/>
                </a:solidFill>
              </a:rPr>
              <a:t> </a:t>
            </a:r>
            <a:r>
              <a:rPr lang="en-IN" spc="-10" dirty="0">
                <a:solidFill>
                  <a:schemeClr val="bg1"/>
                </a:solidFill>
              </a:rPr>
              <a:t>Distribution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1049" y="191465"/>
            <a:ext cx="7181900" cy="963341"/>
          </a:xfrm>
          <a:prstGeom prst="rect">
            <a:avLst/>
          </a:prstGeom>
          <a:solidFill>
            <a:schemeClr val="accent6">
              <a:lumMod val="75000"/>
            </a:schemeClr>
          </a:solidFill>
        </p:spPr>
        <p:txBody>
          <a:bodyPr vert="horz" wrap="square" lIns="0" tIns="283464" rIns="0" bIns="0" rtlCol="0">
            <a:spAutoFit/>
          </a:bodyPr>
          <a:lstStyle/>
          <a:p>
            <a:pPr marL="2320925">
              <a:lnSpc>
                <a:spcPct val="100000"/>
              </a:lnSpc>
              <a:spcBef>
                <a:spcPts val="105"/>
              </a:spcBef>
            </a:pPr>
            <a:r>
              <a:rPr spc="-50" dirty="0">
                <a:solidFill>
                  <a:schemeClr val="bg1"/>
                </a:solidFill>
              </a:rPr>
              <a:t>Baye’s</a:t>
            </a:r>
            <a:r>
              <a:rPr spc="-155" dirty="0">
                <a:solidFill>
                  <a:schemeClr val="bg1"/>
                </a:solidFill>
              </a:rPr>
              <a:t> </a:t>
            </a:r>
            <a:r>
              <a:rPr spc="-20" dirty="0">
                <a:solidFill>
                  <a:schemeClr val="bg1"/>
                </a:solidFill>
              </a:rPr>
              <a:t>Rule</a:t>
            </a:r>
          </a:p>
        </p:txBody>
      </p:sp>
      <p:sp>
        <p:nvSpPr>
          <p:cNvPr id="3" name="object 3"/>
          <p:cNvSpPr txBox="1"/>
          <p:nvPr/>
        </p:nvSpPr>
        <p:spPr>
          <a:xfrm>
            <a:off x="868326" y="1676400"/>
            <a:ext cx="3826510" cy="1196340"/>
          </a:xfrm>
          <a:prstGeom prst="rect">
            <a:avLst/>
          </a:prstGeom>
        </p:spPr>
        <p:style>
          <a:lnRef idx="2">
            <a:schemeClr val="dk1"/>
          </a:lnRef>
          <a:fillRef idx="1">
            <a:schemeClr val="lt1"/>
          </a:fillRef>
          <a:effectRef idx="0">
            <a:schemeClr val="dk1"/>
          </a:effectRef>
          <a:fontRef idx="minor">
            <a:schemeClr val="dk1"/>
          </a:fontRef>
        </p:style>
        <p:txBody>
          <a:bodyPr vert="horz" wrap="square" lIns="0" tIns="109855" rIns="0" bIns="0" rtlCol="0">
            <a:spAutoFit/>
          </a:bodyPr>
          <a:lstStyle/>
          <a:p>
            <a:pPr marL="354965" indent="-342265">
              <a:lnSpc>
                <a:spcPct val="100000"/>
              </a:lnSpc>
              <a:spcBef>
                <a:spcPts val="865"/>
              </a:spcBef>
              <a:buFont typeface="Arial MT"/>
              <a:buChar char="•"/>
              <a:tabLst>
                <a:tab pos="354965" algn="l"/>
              </a:tabLst>
            </a:pPr>
            <a:r>
              <a:rPr sz="3200" dirty="0">
                <a:latin typeface="Calibri"/>
                <a:cs typeface="Calibri"/>
              </a:rPr>
              <a:t>P(a</a:t>
            </a:r>
            <a:r>
              <a:rPr sz="3200" spc="-3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b)</a:t>
            </a:r>
            <a:r>
              <a:rPr sz="3200" spc="-25" dirty="0">
                <a:latin typeface="Calibri"/>
                <a:cs typeface="Calibri"/>
              </a:rPr>
              <a:t> </a:t>
            </a:r>
            <a:r>
              <a:rPr sz="3200" dirty="0">
                <a:latin typeface="Calibri"/>
                <a:cs typeface="Calibri"/>
              </a:rPr>
              <a:t>=</a:t>
            </a:r>
            <a:r>
              <a:rPr sz="3200" spc="-30" dirty="0">
                <a:latin typeface="Calibri"/>
                <a:cs typeface="Calibri"/>
              </a:rPr>
              <a:t> </a:t>
            </a:r>
            <a:r>
              <a:rPr sz="3200" dirty="0">
                <a:latin typeface="Calibri"/>
                <a:cs typeface="Calibri"/>
              </a:rPr>
              <a:t>P(a|b)</a:t>
            </a:r>
            <a:r>
              <a:rPr sz="3200" spc="-30" dirty="0">
                <a:latin typeface="Calibri"/>
                <a:cs typeface="Calibri"/>
              </a:rPr>
              <a:t> </a:t>
            </a:r>
            <a:r>
              <a:rPr sz="3200" spc="-20" dirty="0">
                <a:latin typeface="Calibri"/>
                <a:cs typeface="Calibri"/>
              </a:rPr>
              <a:t>P(b)</a:t>
            </a:r>
            <a:endParaRPr sz="3200" dirty="0">
              <a:latin typeface="Calibri"/>
              <a:cs typeface="Calibri"/>
            </a:endParaRPr>
          </a:p>
          <a:p>
            <a:pPr marL="354965" indent="-342265">
              <a:lnSpc>
                <a:spcPct val="100000"/>
              </a:lnSpc>
              <a:spcBef>
                <a:spcPts val="770"/>
              </a:spcBef>
              <a:buFont typeface="Arial MT"/>
              <a:buChar char="•"/>
              <a:tabLst>
                <a:tab pos="354965" algn="l"/>
              </a:tabLst>
            </a:pPr>
            <a:r>
              <a:rPr sz="3200" dirty="0">
                <a:latin typeface="Calibri"/>
                <a:cs typeface="Calibri"/>
              </a:rPr>
              <a:t>P(a</a:t>
            </a:r>
            <a:r>
              <a:rPr sz="3200" spc="-30" dirty="0">
                <a:latin typeface="Calibri"/>
                <a:cs typeface="Calibri"/>
              </a:rPr>
              <a:t> </a:t>
            </a:r>
            <a:r>
              <a:rPr sz="3200" dirty="0">
                <a:latin typeface="Calibri"/>
                <a:cs typeface="Calibri"/>
              </a:rPr>
              <a:t>^</a:t>
            </a:r>
            <a:r>
              <a:rPr sz="3200" spc="-25" dirty="0">
                <a:latin typeface="Calibri"/>
                <a:cs typeface="Calibri"/>
              </a:rPr>
              <a:t> </a:t>
            </a:r>
            <a:r>
              <a:rPr sz="3200" dirty="0">
                <a:latin typeface="Calibri"/>
                <a:cs typeface="Calibri"/>
              </a:rPr>
              <a:t>b)</a:t>
            </a:r>
            <a:r>
              <a:rPr sz="3200" spc="-2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P(b|a)</a:t>
            </a:r>
            <a:r>
              <a:rPr sz="3200" spc="-30" dirty="0">
                <a:latin typeface="Calibri"/>
                <a:cs typeface="Calibri"/>
              </a:rPr>
              <a:t> </a:t>
            </a:r>
            <a:r>
              <a:rPr sz="3200" spc="-20" dirty="0">
                <a:latin typeface="Calibri"/>
                <a:cs typeface="Calibri"/>
              </a:rPr>
              <a:t>P(a)</a:t>
            </a:r>
            <a:endParaRPr sz="3200" dirty="0">
              <a:latin typeface="Calibri"/>
              <a:cs typeface="Calibri"/>
            </a:endParaRPr>
          </a:p>
        </p:txBody>
      </p:sp>
      <p:sp>
        <p:nvSpPr>
          <p:cNvPr id="6" name="object 4">
            <a:extLst>
              <a:ext uri="{FF2B5EF4-FFF2-40B4-BE49-F238E27FC236}">
                <a16:creationId xmlns:a16="http://schemas.microsoft.com/office/drawing/2014/main" id="{DA873DB3-A9B0-65EB-5519-714B5610E4E4}"/>
              </a:ext>
            </a:extLst>
          </p:cNvPr>
          <p:cNvSpPr txBox="1"/>
          <p:nvPr/>
        </p:nvSpPr>
        <p:spPr>
          <a:xfrm>
            <a:off x="838200" y="4724400"/>
            <a:ext cx="5323952" cy="591765"/>
          </a:xfrm>
          <a:prstGeom prst="rect">
            <a:avLst/>
          </a:prstGeom>
        </p:spPr>
        <p:txBody>
          <a:bodyPr vert="horz" wrap="square" lIns="0" tIns="13335" rIns="0" bIns="0" rtlCol="0">
            <a:spAutoFit/>
          </a:bodyPr>
          <a:lstStyle/>
          <a:p>
            <a:pPr marL="405765" indent="-342265">
              <a:lnSpc>
                <a:spcPts val="2740"/>
              </a:lnSpc>
              <a:spcBef>
                <a:spcPts val="105"/>
              </a:spcBef>
              <a:buFont typeface="Arial MT"/>
              <a:buChar char="•"/>
              <a:tabLst>
                <a:tab pos="405765" algn="l"/>
                <a:tab pos="2433320" algn="l"/>
                <a:tab pos="3303904" algn="l"/>
              </a:tabLst>
            </a:pPr>
            <a:r>
              <a:rPr sz="3200" dirty="0">
                <a:latin typeface="Calibri"/>
                <a:cs typeface="Calibri"/>
              </a:rPr>
              <a:t>P(Y)</a:t>
            </a:r>
            <a:r>
              <a:rPr sz="3200" spc="-30" dirty="0">
                <a:latin typeface="Calibri"/>
                <a:cs typeface="Calibri"/>
              </a:rPr>
              <a:t> </a:t>
            </a:r>
            <a:r>
              <a:rPr sz="3200" dirty="0">
                <a:latin typeface="Calibri"/>
                <a:cs typeface="Calibri"/>
              </a:rPr>
              <a:t>=</a:t>
            </a:r>
            <a:r>
              <a:rPr sz="3200" spc="-15" dirty="0">
                <a:latin typeface="Calibri"/>
                <a:cs typeface="Calibri"/>
              </a:rPr>
              <a:t> </a:t>
            </a:r>
            <a:r>
              <a:rPr sz="4800" spc="112" baseline="2604" dirty="0">
                <a:latin typeface="Cambria Math"/>
                <a:cs typeface="Cambria Math"/>
              </a:rPr>
              <a:t>∑</a:t>
            </a:r>
            <a:r>
              <a:rPr sz="3525" spc="112" baseline="30732" dirty="0">
                <a:latin typeface="Cambria Math"/>
                <a:cs typeface="Cambria Math"/>
              </a:rPr>
              <a:t>𝑛</a:t>
            </a:r>
            <a:r>
              <a:rPr sz="3525" spc="37" baseline="30732" dirty="0">
                <a:latin typeface="Cambria Math"/>
                <a:cs typeface="Cambria Math"/>
              </a:rPr>
              <a:t> </a:t>
            </a:r>
            <a:r>
              <a:rPr sz="3200" spc="-50" dirty="0">
                <a:latin typeface="Cambria Math"/>
                <a:cs typeface="Cambria Math"/>
              </a:rPr>
              <a:t>𝑃</a:t>
            </a:r>
            <a:r>
              <a:rPr lang="en-US" sz="3200" dirty="0">
                <a:latin typeface="Cambria Math"/>
                <a:cs typeface="Cambria Math"/>
              </a:rPr>
              <a:t>(</a:t>
            </a:r>
            <a:r>
              <a:rPr sz="3200" spc="-25" dirty="0">
                <a:latin typeface="Cambria Math"/>
                <a:cs typeface="Cambria Math"/>
              </a:rPr>
              <a:t>𝑌|𝑍</a:t>
            </a:r>
            <a:r>
              <a:rPr lang="en-US" sz="3200" spc="-25" dirty="0">
                <a:latin typeface="Cambria Math"/>
                <a:cs typeface="Cambria Math"/>
              </a:rPr>
              <a:t>)</a:t>
            </a:r>
            <a:r>
              <a:rPr sz="3200" dirty="0">
                <a:latin typeface="Cambria Math"/>
                <a:cs typeface="Cambria Math"/>
              </a:rPr>
              <a:t>	</a:t>
            </a:r>
            <a:r>
              <a:rPr sz="3200" spc="-20" dirty="0">
                <a:latin typeface="Cambria Math"/>
                <a:cs typeface="Cambria Math"/>
              </a:rPr>
              <a:t>P(z)</a:t>
            </a:r>
            <a:endParaRPr sz="3200" dirty="0">
              <a:latin typeface="Cambria Math"/>
              <a:cs typeface="Cambria Math"/>
            </a:endParaRPr>
          </a:p>
          <a:p>
            <a:pPr marR="521334" algn="ctr">
              <a:lnSpc>
                <a:spcPts val="1720"/>
              </a:lnSpc>
            </a:pPr>
            <a:r>
              <a:rPr sz="2350" spc="15" dirty="0">
                <a:latin typeface="Cambria Math"/>
                <a:cs typeface="Cambria Math"/>
              </a:rPr>
              <a:t>𝑖</a:t>
            </a:r>
            <a:endParaRPr sz="2350" dirty="0">
              <a:latin typeface="Cambria Math"/>
              <a:cs typeface="Cambria Math"/>
            </a:endParaRPr>
          </a:p>
        </p:txBody>
      </p:sp>
      <p:sp>
        <p:nvSpPr>
          <p:cNvPr id="8" name="TextBox 7">
            <a:extLst>
              <a:ext uri="{FF2B5EF4-FFF2-40B4-BE49-F238E27FC236}">
                <a16:creationId xmlns:a16="http://schemas.microsoft.com/office/drawing/2014/main" id="{73007BA8-8E75-9704-B94B-9C3454F06C2A}"/>
              </a:ext>
            </a:extLst>
          </p:cNvPr>
          <p:cNvSpPr txBox="1"/>
          <p:nvPr/>
        </p:nvSpPr>
        <p:spPr>
          <a:xfrm>
            <a:off x="228600" y="3589924"/>
            <a:ext cx="8686800" cy="5232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76200">
              <a:lnSpc>
                <a:spcPct val="100000"/>
              </a:lnSpc>
            </a:pPr>
            <a:r>
              <a:rPr lang="en-IN" sz="2800" spc="-10" dirty="0">
                <a:latin typeface="Calibri"/>
                <a:cs typeface="Calibri"/>
              </a:rPr>
              <a:t>P(</a:t>
            </a:r>
            <a:r>
              <a:rPr lang="en-IN" sz="2800" spc="-10" dirty="0" err="1">
                <a:latin typeface="Calibri"/>
                <a:cs typeface="Calibri"/>
              </a:rPr>
              <a:t>Cavity|toothache</a:t>
            </a:r>
            <a:r>
              <a:rPr lang="en-IN" sz="2800" spc="-10" dirty="0">
                <a:latin typeface="Calibri"/>
                <a:cs typeface="Calibri"/>
              </a:rPr>
              <a:t>)</a:t>
            </a:r>
            <a:r>
              <a:rPr lang="en-IN" sz="2800" spc="-80" dirty="0">
                <a:latin typeface="Calibri"/>
                <a:cs typeface="Calibri"/>
              </a:rPr>
              <a:t> </a:t>
            </a:r>
            <a:r>
              <a:rPr lang="en-IN" sz="2800" dirty="0">
                <a:latin typeface="Calibri"/>
                <a:cs typeface="Calibri"/>
              </a:rPr>
              <a:t>=</a:t>
            </a:r>
            <a:r>
              <a:rPr lang="en-IN" sz="2800" spc="-20" dirty="0">
                <a:latin typeface="Calibri"/>
                <a:cs typeface="Calibri"/>
              </a:rPr>
              <a:t> </a:t>
            </a:r>
            <a:r>
              <a:rPr lang="en-IN" sz="2800" dirty="0">
                <a:latin typeface="Calibri"/>
                <a:cs typeface="Calibri"/>
              </a:rPr>
              <a:t>P(cavity</a:t>
            </a:r>
            <a:r>
              <a:rPr lang="en-IN" sz="2800" spc="-45" dirty="0">
                <a:latin typeface="Calibri"/>
                <a:cs typeface="Calibri"/>
              </a:rPr>
              <a:t> </a:t>
            </a:r>
            <a:r>
              <a:rPr lang="en-IN" sz="2800" dirty="0">
                <a:latin typeface="Calibri"/>
                <a:cs typeface="Calibri"/>
              </a:rPr>
              <a:t>^toothache)</a:t>
            </a:r>
            <a:r>
              <a:rPr lang="en-IN" sz="2800" spc="-25" dirty="0">
                <a:latin typeface="Calibri"/>
                <a:cs typeface="Calibri"/>
              </a:rPr>
              <a:t> </a:t>
            </a:r>
            <a:r>
              <a:rPr lang="en-IN" sz="2800" dirty="0">
                <a:latin typeface="Calibri"/>
                <a:cs typeface="Calibri"/>
              </a:rPr>
              <a:t>/</a:t>
            </a:r>
            <a:r>
              <a:rPr lang="en-IN" sz="2800" spc="-20" dirty="0">
                <a:latin typeface="Calibri"/>
                <a:cs typeface="Calibri"/>
              </a:rPr>
              <a:t> </a:t>
            </a:r>
            <a:r>
              <a:rPr lang="en-IN" sz="2800" spc="-10" dirty="0">
                <a:latin typeface="Calibri"/>
                <a:cs typeface="Calibri"/>
              </a:rPr>
              <a:t>P(toothache)</a:t>
            </a:r>
            <a:endParaRPr lang="en-IN" sz="2800" dirty="0">
              <a:latin typeface="Calibri"/>
              <a:cs typeface="Calibri"/>
            </a:endParaRPr>
          </a:p>
        </p:txBody>
      </p:sp>
      <p:pic>
        <p:nvPicPr>
          <p:cNvPr id="5" name="Picture 4">
            <a:extLst>
              <a:ext uri="{FF2B5EF4-FFF2-40B4-BE49-F238E27FC236}">
                <a16:creationId xmlns:a16="http://schemas.microsoft.com/office/drawing/2014/main" id="{28B7B50F-E417-83A0-47DA-1FC0DDD016D7}"/>
              </a:ext>
            </a:extLst>
          </p:cNvPr>
          <p:cNvPicPr>
            <a:picLocks noChangeAspect="1"/>
          </p:cNvPicPr>
          <p:nvPr/>
        </p:nvPicPr>
        <p:blipFill>
          <a:blip r:embed="rId2"/>
          <a:stretch>
            <a:fillRect/>
          </a:stretch>
        </p:blipFill>
        <p:spPr>
          <a:xfrm>
            <a:off x="5105399" y="1662222"/>
            <a:ext cx="3594877" cy="1080977"/>
          </a:xfrm>
          <a:prstGeom prst="rect">
            <a:avLst/>
          </a:prstGeom>
          <a:ln w="6350">
            <a:solidFill>
              <a:schemeClr val="tx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2682660987"/>
              </p:ext>
            </p:extLst>
          </p:nvPr>
        </p:nvGraphicFramePr>
        <p:xfrm>
          <a:off x="450850" y="1593850"/>
          <a:ext cx="8229599" cy="1481455"/>
        </p:xfrm>
        <a:graphic>
          <a:graphicData uri="http://schemas.openxmlformats.org/drawingml/2006/table">
            <a:tbl>
              <a:tblPr firstRow="1" bandRow="1">
                <a:tableStyleId>{2D5ABB26-0587-4C30-8999-92F81FD0307C}</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19">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70205">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91440">
                        <a:lnSpc>
                          <a:spcPct val="100000"/>
                        </a:lnSpc>
                        <a:spcBef>
                          <a:spcPts val="240"/>
                        </a:spcBef>
                      </a:pPr>
                      <a:r>
                        <a:rPr sz="1800" b="1" spc="-10" dirty="0">
                          <a:latin typeface="Calibri"/>
                          <a:cs typeface="Calibri"/>
                        </a:rPr>
                        <a:t>toothache</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gridSpan="2">
                  <a:txBody>
                    <a:bodyPr/>
                    <a:lstStyle/>
                    <a:p>
                      <a:pPr marL="92075">
                        <a:lnSpc>
                          <a:spcPct val="100000"/>
                        </a:lnSpc>
                        <a:spcBef>
                          <a:spcPts val="240"/>
                        </a:spcBef>
                      </a:pPr>
                      <a:r>
                        <a:rPr sz="1800" b="1" spc="-10" dirty="0">
                          <a:latin typeface="Calibri"/>
                          <a:cs typeface="Calibri"/>
                        </a:rPr>
                        <a:t>~toothache</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0"/>
                  </a:ext>
                </a:extLst>
              </a:tr>
              <a:tr h="370205">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marL="91440">
                        <a:lnSpc>
                          <a:spcPct val="100000"/>
                        </a:lnSpc>
                        <a:spcBef>
                          <a:spcPts val="240"/>
                        </a:spcBef>
                      </a:pPr>
                      <a:r>
                        <a:rPr sz="1800" spc="-10" dirty="0">
                          <a:latin typeface="Calibri"/>
                          <a:cs typeface="Calibri"/>
                        </a:rPr>
                        <a:t>Cavity</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0"/>
                        </a:spcBef>
                      </a:pPr>
                      <a:r>
                        <a:rPr sz="1800" spc="-10" dirty="0">
                          <a:latin typeface="Calibri"/>
                          <a:cs typeface="Calibri"/>
                        </a:rPr>
                        <a:t>0.108</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solidFill>
                  </a:tcPr>
                </a:tc>
                <a:tc>
                  <a:txBody>
                    <a:bodyPr/>
                    <a:lstStyle/>
                    <a:p>
                      <a:pPr marL="92075">
                        <a:lnSpc>
                          <a:spcPct val="100000"/>
                        </a:lnSpc>
                        <a:spcBef>
                          <a:spcPts val="240"/>
                        </a:spcBef>
                      </a:pPr>
                      <a:r>
                        <a:rPr sz="1800" spc="-10" dirty="0">
                          <a:latin typeface="Calibri"/>
                          <a:cs typeface="Calibri"/>
                        </a:rPr>
                        <a:t>0.012</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solidFill>
                  </a:tcPr>
                </a:tc>
                <a:tc>
                  <a:txBody>
                    <a:bodyPr/>
                    <a:lstStyle/>
                    <a:p>
                      <a:pPr marL="92075">
                        <a:lnSpc>
                          <a:spcPct val="100000"/>
                        </a:lnSpc>
                        <a:spcBef>
                          <a:spcPts val="240"/>
                        </a:spcBef>
                      </a:pPr>
                      <a:r>
                        <a:rPr sz="1800" spc="-10" dirty="0">
                          <a:latin typeface="Calibri"/>
                          <a:cs typeface="Calibri"/>
                        </a:rPr>
                        <a:t>0.072</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40"/>
                        </a:spcBef>
                      </a:pPr>
                      <a:r>
                        <a:rPr sz="1800" spc="-10" dirty="0">
                          <a:latin typeface="Calibri"/>
                          <a:cs typeface="Calibri"/>
                        </a:rPr>
                        <a:t>0.008</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205">
                <a:tc>
                  <a:txBody>
                    <a:bodyPr/>
                    <a:lstStyle/>
                    <a:p>
                      <a:pPr marL="91440">
                        <a:lnSpc>
                          <a:spcPct val="100000"/>
                        </a:lnSpc>
                        <a:spcBef>
                          <a:spcPts val="244"/>
                        </a:spcBef>
                      </a:pPr>
                      <a:r>
                        <a:rPr sz="1800" spc="-10" dirty="0">
                          <a:latin typeface="Calibri"/>
                          <a:cs typeface="Calibri"/>
                        </a:rPr>
                        <a:t>~Cavity</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4"/>
                        </a:spcBef>
                      </a:pPr>
                      <a:r>
                        <a:rPr sz="1800" spc="-10" dirty="0">
                          <a:latin typeface="Calibri"/>
                          <a:cs typeface="Calibri"/>
                        </a:rPr>
                        <a:t>0.016</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4"/>
                        </a:spcBef>
                      </a:pPr>
                      <a:r>
                        <a:rPr sz="1800" spc="-10" dirty="0">
                          <a:latin typeface="Calibri"/>
                          <a:cs typeface="Calibri"/>
                        </a:rPr>
                        <a:t>0.064</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4"/>
                        </a:spcBef>
                      </a:pPr>
                      <a:r>
                        <a:rPr sz="1800" spc="-10" dirty="0">
                          <a:latin typeface="Calibri"/>
                          <a:cs typeface="Calibri"/>
                        </a:rPr>
                        <a:t>0.144</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44"/>
                        </a:spcBef>
                      </a:pPr>
                      <a:r>
                        <a:rPr sz="1800" spc="-10" dirty="0">
                          <a:latin typeface="Calibri"/>
                          <a:cs typeface="Calibri"/>
                        </a:rPr>
                        <a:t>0.576</a:t>
                      </a:r>
                      <a:endParaRPr sz="1800" dirty="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4" name="object 4"/>
          <p:cNvSpPr txBox="1"/>
          <p:nvPr/>
        </p:nvSpPr>
        <p:spPr>
          <a:xfrm>
            <a:off x="450849" y="4648200"/>
            <a:ext cx="5111751" cy="382156"/>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P(Cavity</a:t>
            </a:r>
            <a:r>
              <a:rPr sz="2400" spc="-20" dirty="0">
                <a:latin typeface="Calibri"/>
                <a:cs typeface="Calibri"/>
              </a:rPr>
              <a:t> </a:t>
            </a:r>
            <a:r>
              <a:rPr sz="2400" dirty="0">
                <a:latin typeface="Calibri"/>
                <a:cs typeface="Calibri"/>
              </a:rPr>
              <a:t>^</a:t>
            </a:r>
            <a:r>
              <a:rPr sz="2400" spc="-30" dirty="0">
                <a:latin typeface="Calibri"/>
                <a:cs typeface="Calibri"/>
              </a:rPr>
              <a:t> </a:t>
            </a:r>
            <a:r>
              <a:rPr sz="2400" spc="-10" dirty="0">
                <a:latin typeface="Calibri"/>
                <a:cs typeface="Calibri"/>
              </a:rPr>
              <a:t>toothache)</a:t>
            </a:r>
            <a:r>
              <a:rPr sz="2400" spc="-15" dirty="0">
                <a:latin typeface="Calibri"/>
                <a:cs typeface="Calibri"/>
              </a:rPr>
              <a:t> </a:t>
            </a:r>
            <a:r>
              <a:rPr sz="2400" dirty="0">
                <a:latin typeface="Calibri"/>
                <a:cs typeface="Calibri"/>
              </a:rPr>
              <a:t>=</a:t>
            </a:r>
            <a:r>
              <a:rPr sz="2400" spc="-30" dirty="0">
                <a:latin typeface="Calibri"/>
                <a:cs typeface="Calibri"/>
              </a:rPr>
              <a:t> </a:t>
            </a:r>
            <a:r>
              <a:rPr sz="2400" dirty="0">
                <a:latin typeface="Calibri"/>
                <a:cs typeface="Calibri"/>
              </a:rPr>
              <a:t>0.108</a:t>
            </a:r>
            <a:r>
              <a:rPr sz="2400" spc="-30" dirty="0">
                <a:latin typeface="Calibri"/>
                <a:cs typeface="Calibri"/>
              </a:rPr>
              <a:t> </a:t>
            </a:r>
            <a:r>
              <a:rPr sz="2400" dirty="0">
                <a:latin typeface="Calibri"/>
                <a:cs typeface="Calibri"/>
              </a:rPr>
              <a:t>+</a:t>
            </a:r>
            <a:r>
              <a:rPr sz="2400" spc="-15" dirty="0">
                <a:latin typeface="Calibri"/>
                <a:cs typeface="Calibri"/>
              </a:rPr>
              <a:t> </a:t>
            </a:r>
            <a:r>
              <a:rPr sz="2400" spc="-10" dirty="0">
                <a:latin typeface="Calibri"/>
                <a:cs typeface="Calibri"/>
              </a:rPr>
              <a:t>0.012</a:t>
            </a:r>
            <a:endParaRPr sz="2400" dirty="0">
              <a:latin typeface="Calibri"/>
              <a:cs typeface="Calibri"/>
            </a:endParaRPr>
          </a:p>
        </p:txBody>
      </p:sp>
      <p:sp>
        <p:nvSpPr>
          <p:cNvPr id="6" name="Title 5">
            <a:extLst>
              <a:ext uri="{FF2B5EF4-FFF2-40B4-BE49-F238E27FC236}">
                <a16:creationId xmlns:a16="http://schemas.microsoft.com/office/drawing/2014/main" id="{AD14E120-D2FB-B48E-E387-7816F8D7BF0C}"/>
              </a:ext>
            </a:extLst>
          </p:cNvPr>
          <p:cNvSpPr>
            <a:spLocks noGrp="1"/>
          </p:cNvSpPr>
          <p:nvPr>
            <p:ph type="title"/>
          </p:nvPr>
        </p:nvSpPr>
        <p:spPr/>
        <p:txBody>
          <a:bodyPr/>
          <a:lstStyle/>
          <a:p>
            <a:endParaRPr lang="en-IN"/>
          </a:p>
        </p:txBody>
      </p:sp>
      <p:sp>
        <p:nvSpPr>
          <p:cNvPr id="7" name="object 2">
            <a:extLst>
              <a:ext uri="{FF2B5EF4-FFF2-40B4-BE49-F238E27FC236}">
                <a16:creationId xmlns:a16="http://schemas.microsoft.com/office/drawing/2014/main" id="{3B936601-AE50-4815-C909-168A36C22C1A}"/>
              </a:ext>
            </a:extLst>
          </p:cNvPr>
          <p:cNvSpPr txBox="1">
            <a:spLocks/>
          </p:cNvSpPr>
          <p:nvPr/>
        </p:nvSpPr>
        <p:spPr>
          <a:xfrm>
            <a:off x="981049" y="191465"/>
            <a:ext cx="7181900" cy="963341"/>
          </a:xfrm>
          <a:prstGeom prst="rect">
            <a:avLst/>
          </a:prstGeom>
          <a:solidFill>
            <a:schemeClr val="accent2"/>
          </a:solidFill>
        </p:spPr>
        <p:txBody>
          <a:bodyPr vert="horz" wrap="square" lIns="0" tIns="283464" rIns="0" bIns="0" rtlCol="0">
            <a:spAutoFit/>
          </a:bodyPr>
          <a:lstStyle>
            <a:lvl1pPr>
              <a:defRPr sz="4400" b="0" i="0">
                <a:solidFill>
                  <a:schemeClr val="tx1"/>
                </a:solidFill>
                <a:latin typeface="Calibri"/>
                <a:ea typeface="+mj-ea"/>
                <a:cs typeface="Calibri"/>
              </a:defRPr>
            </a:lvl1pPr>
          </a:lstStyle>
          <a:p>
            <a:pPr marL="337820">
              <a:spcBef>
                <a:spcPts val="105"/>
              </a:spcBef>
            </a:pPr>
            <a:r>
              <a:rPr lang="en-IN">
                <a:solidFill>
                  <a:schemeClr val="bg1"/>
                </a:solidFill>
              </a:rPr>
              <a:t>Queries</a:t>
            </a:r>
            <a:r>
              <a:rPr lang="en-IN" spc="-30">
                <a:solidFill>
                  <a:schemeClr val="bg1"/>
                </a:solidFill>
              </a:rPr>
              <a:t> </a:t>
            </a:r>
            <a:r>
              <a:rPr lang="en-IN">
                <a:solidFill>
                  <a:schemeClr val="bg1"/>
                </a:solidFill>
              </a:rPr>
              <a:t>on</a:t>
            </a:r>
            <a:r>
              <a:rPr lang="en-IN" spc="-25">
                <a:solidFill>
                  <a:schemeClr val="bg1"/>
                </a:solidFill>
              </a:rPr>
              <a:t> </a:t>
            </a:r>
            <a:r>
              <a:rPr lang="en-IN">
                <a:solidFill>
                  <a:schemeClr val="bg1"/>
                </a:solidFill>
              </a:rPr>
              <a:t>Joint</a:t>
            </a:r>
            <a:r>
              <a:rPr lang="en-IN" spc="-25">
                <a:solidFill>
                  <a:schemeClr val="bg1"/>
                </a:solidFill>
              </a:rPr>
              <a:t> </a:t>
            </a:r>
            <a:r>
              <a:rPr lang="en-IN" spc="-10">
                <a:solidFill>
                  <a:schemeClr val="bg1"/>
                </a:solidFill>
              </a:rPr>
              <a:t>Distribution</a:t>
            </a:r>
            <a:endParaRPr lang="en-IN" spc="-10" dirty="0">
              <a:solidFill>
                <a:schemeClr val="bg1"/>
              </a:solidFill>
            </a:endParaRPr>
          </a:p>
        </p:txBody>
      </p:sp>
      <p:graphicFrame>
        <p:nvGraphicFramePr>
          <p:cNvPr id="8" name="object 3">
            <a:extLst>
              <a:ext uri="{FF2B5EF4-FFF2-40B4-BE49-F238E27FC236}">
                <a16:creationId xmlns:a16="http://schemas.microsoft.com/office/drawing/2014/main" id="{41FA24C2-0C8B-184E-CB7F-927BBA04ABAD}"/>
              </a:ext>
            </a:extLst>
          </p:cNvPr>
          <p:cNvGraphicFramePr>
            <a:graphicFrameLocks noGrp="1"/>
          </p:cNvGraphicFramePr>
          <p:nvPr>
            <p:extLst>
              <p:ext uri="{D42A27DB-BD31-4B8C-83A1-F6EECF244321}">
                <p14:modId xmlns:p14="http://schemas.microsoft.com/office/powerpoint/2010/main" val="1146903203"/>
              </p:ext>
            </p:extLst>
          </p:nvPr>
        </p:nvGraphicFramePr>
        <p:xfrm>
          <a:off x="450850" y="1598037"/>
          <a:ext cx="8229599" cy="1481455"/>
        </p:xfrm>
        <a:graphic>
          <a:graphicData uri="http://schemas.openxmlformats.org/drawingml/2006/table">
            <a:tbl>
              <a:tblPr firstRow="1" bandRow="1">
                <a:tableStyleId>{2D5ABB26-0587-4C30-8999-92F81FD0307C}</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19">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70205">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91440">
                        <a:lnSpc>
                          <a:spcPct val="100000"/>
                        </a:lnSpc>
                        <a:spcBef>
                          <a:spcPts val="240"/>
                        </a:spcBef>
                      </a:pPr>
                      <a:r>
                        <a:rPr sz="1800" b="1" spc="-10" dirty="0">
                          <a:latin typeface="Calibri"/>
                          <a:cs typeface="Calibri"/>
                        </a:rPr>
                        <a:t>toothache</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gridSpan="2">
                  <a:txBody>
                    <a:bodyPr/>
                    <a:lstStyle/>
                    <a:p>
                      <a:pPr marL="92075">
                        <a:lnSpc>
                          <a:spcPct val="100000"/>
                        </a:lnSpc>
                        <a:spcBef>
                          <a:spcPts val="240"/>
                        </a:spcBef>
                      </a:pPr>
                      <a:r>
                        <a:rPr sz="1800" b="1" spc="-10" dirty="0">
                          <a:latin typeface="Calibri"/>
                          <a:cs typeface="Calibri"/>
                        </a:rPr>
                        <a:t>~toothache</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0"/>
                  </a:ext>
                </a:extLst>
              </a:tr>
              <a:tr h="370205">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marL="91440">
                        <a:lnSpc>
                          <a:spcPct val="100000"/>
                        </a:lnSpc>
                        <a:spcBef>
                          <a:spcPts val="240"/>
                        </a:spcBef>
                      </a:pPr>
                      <a:r>
                        <a:rPr sz="1800" spc="-10" dirty="0">
                          <a:latin typeface="Calibri"/>
                          <a:cs typeface="Calibri"/>
                        </a:rPr>
                        <a:t>Cavity</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0"/>
                        </a:spcBef>
                      </a:pPr>
                      <a:r>
                        <a:rPr sz="1800" spc="-10" dirty="0">
                          <a:latin typeface="Calibri"/>
                          <a:cs typeface="Calibri"/>
                        </a:rPr>
                        <a:t>0.108</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92075">
                        <a:lnSpc>
                          <a:spcPct val="100000"/>
                        </a:lnSpc>
                        <a:spcBef>
                          <a:spcPts val="240"/>
                        </a:spcBef>
                      </a:pPr>
                      <a:r>
                        <a:rPr sz="1800" spc="-10" dirty="0">
                          <a:latin typeface="Calibri"/>
                          <a:cs typeface="Calibri"/>
                        </a:rPr>
                        <a:t>0.012</a:t>
                      </a:r>
                      <a:endParaRPr sz="1800" dirty="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92075">
                        <a:lnSpc>
                          <a:spcPct val="100000"/>
                        </a:lnSpc>
                        <a:spcBef>
                          <a:spcPts val="240"/>
                        </a:spcBef>
                      </a:pPr>
                      <a:r>
                        <a:rPr sz="1800" spc="-10" dirty="0">
                          <a:latin typeface="Calibri"/>
                          <a:cs typeface="Calibri"/>
                        </a:rPr>
                        <a:t>0.072</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40"/>
                        </a:spcBef>
                      </a:pPr>
                      <a:r>
                        <a:rPr sz="1800" spc="-10" dirty="0">
                          <a:latin typeface="Calibri"/>
                          <a:cs typeface="Calibri"/>
                        </a:rPr>
                        <a:t>0.008</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205">
                <a:tc>
                  <a:txBody>
                    <a:bodyPr/>
                    <a:lstStyle/>
                    <a:p>
                      <a:pPr marL="91440">
                        <a:lnSpc>
                          <a:spcPct val="100000"/>
                        </a:lnSpc>
                        <a:spcBef>
                          <a:spcPts val="244"/>
                        </a:spcBef>
                      </a:pPr>
                      <a:r>
                        <a:rPr sz="1800" spc="-10" dirty="0">
                          <a:latin typeface="Calibri"/>
                          <a:cs typeface="Calibri"/>
                        </a:rPr>
                        <a:t>~Cavity</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4"/>
                        </a:spcBef>
                      </a:pPr>
                      <a:r>
                        <a:rPr sz="1800" spc="-10" dirty="0">
                          <a:latin typeface="Calibri"/>
                          <a:cs typeface="Calibri"/>
                        </a:rPr>
                        <a:t>0.016</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4"/>
                        </a:spcBef>
                      </a:pPr>
                      <a:r>
                        <a:rPr sz="1800" spc="-10" dirty="0">
                          <a:latin typeface="Calibri"/>
                          <a:cs typeface="Calibri"/>
                        </a:rPr>
                        <a:t>0.064</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4"/>
                        </a:spcBef>
                      </a:pPr>
                      <a:r>
                        <a:rPr sz="1800" spc="-10" dirty="0">
                          <a:latin typeface="Calibri"/>
                          <a:cs typeface="Calibri"/>
                        </a:rPr>
                        <a:t>0.144</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44"/>
                        </a:spcBef>
                      </a:pPr>
                      <a:r>
                        <a:rPr sz="1800" spc="-10" dirty="0">
                          <a:latin typeface="Calibri"/>
                          <a:cs typeface="Calibri"/>
                        </a:rPr>
                        <a:t>0.576</a:t>
                      </a:r>
                      <a:endParaRPr sz="1800" dirty="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9" name="object 4">
            <a:extLst>
              <a:ext uri="{FF2B5EF4-FFF2-40B4-BE49-F238E27FC236}">
                <a16:creationId xmlns:a16="http://schemas.microsoft.com/office/drawing/2014/main" id="{87D70864-9999-A8C0-B5EB-D62374D51491}"/>
              </a:ext>
            </a:extLst>
          </p:cNvPr>
          <p:cNvSpPr txBox="1"/>
          <p:nvPr/>
        </p:nvSpPr>
        <p:spPr>
          <a:xfrm>
            <a:off x="450850" y="3865820"/>
            <a:ext cx="5264150" cy="382156"/>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P(Cavity</a:t>
            </a:r>
            <a:r>
              <a:rPr sz="2400" spc="-20" dirty="0">
                <a:latin typeface="Calibri"/>
                <a:cs typeface="Calibri"/>
              </a:rPr>
              <a:t> </a:t>
            </a:r>
            <a:r>
              <a:rPr sz="2400" dirty="0">
                <a:latin typeface="Calibri"/>
                <a:cs typeface="Calibri"/>
              </a:rPr>
              <a:t>^</a:t>
            </a:r>
            <a:r>
              <a:rPr sz="2400" spc="-30" dirty="0">
                <a:latin typeface="Calibri"/>
                <a:cs typeface="Calibri"/>
              </a:rPr>
              <a:t> </a:t>
            </a:r>
            <a:r>
              <a:rPr sz="2400" spc="-10" dirty="0">
                <a:latin typeface="Calibri"/>
                <a:cs typeface="Calibri"/>
              </a:rPr>
              <a:t>toothache)</a:t>
            </a:r>
            <a:r>
              <a:rPr sz="2400" spc="-15" dirty="0">
                <a:latin typeface="Calibri"/>
                <a:cs typeface="Calibri"/>
              </a:rPr>
              <a:t> </a:t>
            </a:r>
            <a:r>
              <a:rPr sz="2400" dirty="0">
                <a:latin typeface="Calibri"/>
                <a:cs typeface="Calibri"/>
              </a:rPr>
              <a:t>=</a:t>
            </a:r>
            <a:r>
              <a:rPr sz="2400" spc="-30" dirty="0">
                <a:latin typeface="Calibri"/>
                <a:cs typeface="Calibri"/>
              </a:rPr>
              <a:t> </a:t>
            </a:r>
            <a:r>
              <a:rPr lang="en-US" sz="2400" dirty="0">
                <a:latin typeface="Calibri"/>
                <a:cs typeface="Calibri"/>
              </a:rPr>
              <a:t>?</a:t>
            </a:r>
            <a:endParaRPr sz="2400" dirty="0">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nvGraphicFramePr>
        <p:xfrm>
          <a:off x="450850" y="1593850"/>
          <a:ext cx="8229599" cy="1481455"/>
        </p:xfrm>
        <a:graphic>
          <a:graphicData uri="http://schemas.openxmlformats.org/drawingml/2006/table">
            <a:tbl>
              <a:tblPr firstRow="1" bandRow="1">
                <a:tableStyleId>{2D5ABB26-0587-4C30-8999-92F81FD0307C}</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19">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70205">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91440">
                        <a:lnSpc>
                          <a:spcPct val="100000"/>
                        </a:lnSpc>
                        <a:spcBef>
                          <a:spcPts val="240"/>
                        </a:spcBef>
                      </a:pPr>
                      <a:r>
                        <a:rPr sz="1800" b="1" spc="-10" dirty="0">
                          <a:latin typeface="Calibri"/>
                          <a:cs typeface="Calibri"/>
                        </a:rPr>
                        <a:t>toothache</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gridSpan="2">
                  <a:txBody>
                    <a:bodyPr/>
                    <a:lstStyle/>
                    <a:p>
                      <a:pPr marL="92075">
                        <a:lnSpc>
                          <a:spcPct val="100000"/>
                        </a:lnSpc>
                        <a:spcBef>
                          <a:spcPts val="240"/>
                        </a:spcBef>
                      </a:pPr>
                      <a:r>
                        <a:rPr sz="1800" b="1" spc="-10" dirty="0">
                          <a:latin typeface="Calibri"/>
                          <a:cs typeface="Calibri"/>
                        </a:rPr>
                        <a:t>~toothache</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0"/>
                  </a:ext>
                </a:extLst>
              </a:tr>
              <a:tr h="370205">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40"/>
                        </a:spcBef>
                      </a:pPr>
                      <a:r>
                        <a:rPr sz="1800" spc="-10" dirty="0">
                          <a:latin typeface="Calibri"/>
                          <a:cs typeface="Calibri"/>
                        </a:rPr>
                        <a:t>~Catch</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marL="91440">
                        <a:lnSpc>
                          <a:spcPct val="100000"/>
                        </a:lnSpc>
                        <a:spcBef>
                          <a:spcPts val="240"/>
                        </a:spcBef>
                      </a:pPr>
                      <a:r>
                        <a:rPr sz="1800" spc="-10" dirty="0">
                          <a:latin typeface="Calibri"/>
                          <a:cs typeface="Calibri"/>
                        </a:rPr>
                        <a:t>Cavity</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0"/>
                        </a:spcBef>
                      </a:pPr>
                      <a:r>
                        <a:rPr sz="1800" spc="-10" dirty="0">
                          <a:latin typeface="Calibri"/>
                          <a:cs typeface="Calibri"/>
                        </a:rPr>
                        <a:t>0.108</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92075">
                        <a:lnSpc>
                          <a:spcPct val="100000"/>
                        </a:lnSpc>
                        <a:spcBef>
                          <a:spcPts val="240"/>
                        </a:spcBef>
                      </a:pPr>
                      <a:r>
                        <a:rPr sz="1800" spc="-10" dirty="0">
                          <a:latin typeface="Calibri"/>
                          <a:cs typeface="Calibri"/>
                        </a:rPr>
                        <a:t>0.012</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92075">
                        <a:lnSpc>
                          <a:spcPct val="100000"/>
                        </a:lnSpc>
                        <a:spcBef>
                          <a:spcPts val="240"/>
                        </a:spcBef>
                      </a:pPr>
                      <a:r>
                        <a:rPr sz="1800" spc="-10" dirty="0">
                          <a:latin typeface="Calibri"/>
                          <a:cs typeface="Calibri"/>
                        </a:rPr>
                        <a:t>0.072</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40"/>
                        </a:spcBef>
                      </a:pPr>
                      <a:r>
                        <a:rPr sz="1800" spc="-10" dirty="0">
                          <a:latin typeface="Calibri"/>
                          <a:cs typeface="Calibri"/>
                        </a:rPr>
                        <a:t>0.008</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205">
                <a:tc>
                  <a:txBody>
                    <a:bodyPr/>
                    <a:lstStyle/>
                    <a:p>
                      <a:pPr marL="91440">
                        <a:lnSpc>
                          <a:spcPct val="100000"/>
                        </a:lnSpc>
                        <a:spcBef>
                          <a:spcPts val="244"/>
                        </a:spcBef>
                      </a:pPr>
                      <a:r>
                        <a:rPr sz="1800" spc="-10" dirty="0">
                          <a:latin typeface="Calibri"/>
                          <a:cs typeface="Calibri"/>
                        </a:rPr>
                        <a:t>~Cavity</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44"/>
                        </a:spcBef>
                      </a:pPr>
                      <a:r>
                        <a:rPr sz="1800" spc="-10" dirty="0">
                          <a:latin typeface="Calibri"/>
                          <a:cs typeface="Calibri"/>
                        </a:rPr>
                        <a:t>0.016</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92075">
                        <a:lnSpc>
                          <a:spcPct val="100000"/>
                        </a:lnSpc>
                        <a:spcBef>
                          <a:spcPts val="244"/>
                        </a:spcBef>
                      </a:pPr>
                      <a:r>
                        <a:rPr sz="1800" spc="-10" dirty="0">
                          <a:latin typeface="Calibri"/>
                          <a:cs typeface="Calibri"/>
                        </a:rPr>
                        <a:t>0.064</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2D050"/>
                    </a:solidFill>
                  </a:tcPr>
                </a:tc>
                <a:tc>
                  <a:txBody>
                    <a:bodyPr/>
                    <a:lstStyle/>
                    <a:p>
                      <a:pPr marL="92075">
                        <a:lnSpc>
                          <a:spcPct val="100000"/>
                        </a:lnSpc>
                        <a:spcBef>
                          <a:spcPts val="244"/>
                        </a:spcBef>
                      </a:pPr>
                      <a:r>
                        <a:rPr sz="1800" spc="-10" dirty="0">
                          <a:latin typeface="Calibri"/>
                          <a:cs typeface="Calibri"/>
                        </a:rPr>
                        <a:t>0.144</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44"/>
                        </a:spcBef>
                      </a:pPr>
                      <a:r>
                        <a:rPr sz="1800" spc="-10" dirty="0">
                          <a:latin typeface="Calibri"/>
                          <a:cs typeface="Calibri"/>
                        </a:rPr>
                        <a:t>0.576</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4" name="object 4"/>
          <p:cNvSpPr txBox="1"/>
          <p:nvPr/>
        </p:nvSpPr>
        <p:spPr>
          <a:xfrm>
            <a:off x="462573" y="4038600"/>
            <a:ext cx="6489212" cy="382156"/>
          </a:xfrm>
          <a:prstGeom prst="rect">
            <a:avLst/>
          </a:prstGeom>
        </p:spPr>
        <p:txBody>
          <a:bodyPr vert="horz" wrap="square" lIns="0" tIns="12700" rIns="0" bIns="0" rtlCol="0">
            <a:spAutoFit/>
          </a:bodyPr>
          <a:lstStyle/>
          <a:p>
            <a:pPr marL="12700">
              <a:lnSpc>
                <a:spcPct val="100000"/>
              </a:lnSpc>
              <a:spcBef>
                <a:spcPts val="100"/>
              </a:spcBef>
            </a:pPr>
            <a:r>
              <a:rPr sz="2400" spc="-10" dirty="0">
                <a:latin typeface="Calibri"/>
                <a:cs typeface="Calibri"/>
              </a:rPr>
              <a:t>P(toothache)</a:t>
            </a:r>
            <a:r>
              <a:rPr sz="2400" spc="5" dirty="0">
                <a:latin typeface="Calibri"/>
                <a:cs typeface="Calibri"/>
              </a:rPr>
              <a:t> </a:t>
            </a:r>
            <a:r>
              <a:rPr sz="2400" dirty="0">
                <a:latin typeface="Calibri"/>
                <a:cs typeface="Calibri"/>
              </a:rPr>
              <a:t>=</a:t>
            </a:r>
            <a:r>
              <a:rPr sz="2400" spc="-25" dirty="0">
                <a:latin typeface="Calibri"/>
                <a:cs typeface="Calibri"/>
              </a:rPr>
              <a:t> </a:t>
            </a:r>
            <a:r>
              <a:rPr sz="2400" dirty="0">
                <a:latin typeface="Calibri"/>
                <a:cs typeface="Calibri"/>
              </a:rPr>
              <a:t>0.108</a:t>
            </a:r>
            <a:r>
              <a:rPr sz="2400" spc="-20" dirty="0">
                <a:latin typeface="Calibri"/>
                <a:cs typeface="Calibri"/>
              </a:rPr>
              <a:t> </a:t>
            </a:r>
            <a:r>
              <a:rPr sz="2400" dirty="0">
                <a:latin typeface="Calibri"/>
                <a:cs typeface="Calibri"/>
              </a:rPr>
              <a:t>+</a:t>
            </a:r>
            <a:r>
              <a:rPr sz="2400" spc="-15" dirty="0">
                <a:latin typeface="Calibri"/>
                <a:cs typeface="Calibri"/>
              </a:rPr>
              <a:t> </a:t>
            </a:r>
            <a:r>
              <a:rPr sz="2400" spc="-10" dirty="0">
                <a:latin typeface="Calibri"/>
                <a:cs typeface="Calibri"/>
              </a:rPr>
              <a:t>0.012</a:t>
            </a:r>
            <a:r>
              <a:rPr lang="en-US" sz="2400" spc="-10" dirty="0">
                <a:latin typeface="Calibri"/>
                <a:cs typeface="Calibri"/>
              </a:rPr>
              <a:t> </a:t>
            </a:r>
            <a:r>
              <a:rPr sz="2400" spc="-10" dirty="0">
                <a:latin typeface="Calibri"/>
                <a:cs typeface="Calibri"/>
              </a:rPr>
              <a:t>+</a:t>
            </a:r>
            <a:r>
              <a:rPr lang="en-US" sz="2400" spc="-10" dirty="0">
                <a:latin typeface="Calibri"/>
                <a:cs typeface="Calibri"/>
              </a:rPr>
              <a:t> </a:t>
            </a:r>
            <a:r>
              <a:rPr sz="2400" spc="-10" dirty="0">
                <a:latin typeface="Calibri"/>
                <a:cs typeface="Calibri"/>
              </a:rPr>
              <a:t>0.016</a:t>
            </a:r>
            <a:r>
              <a:rPr lang="en-US" sz="2400" spc="-10" dirty="0">
                <a:latin typeface="Calibri"/>
                <a:cs typeface="Calibri"/>
              </a:rPr>
              <a:t> </a:t>
            </a:r>
            <a:r>
              <a:rPr sz="2400" spc="-10" dirty="0">
                <a:latin typeface="Calibri"/>
                <a:cs typeface="Calibri"/>
              </a:rPr>
              <a:t>+</a:t>
            </a:r>
            <a:r>
              <a:rPr lang="en-US" sz="2400" spc="-10" dirty="0">
                <a:latin typeface="Calibri"/>
                <a:cs typeface="Calibri"/>
              </a:rPr>
              <a:t> </a:t>
            </a:r>
            <a:r>
              <a:rPr sz="2400" spc="-10" dirty="0">
                <a:latin typeface="Calibri"/>
                <a:cs typeface="Calibri"/>
              </a:rPr>
              <a:t>0.064</a:t>
            </a:r>
            <a:endParaRPr sz="2400" dirty="0">
              <a:latin typeface="Calibri"/>
              <a:cs typeface="Calibri"/>
            </a:endParaRPr>
          </a:p>
        </p:txBody>
      </p:sp>
      <p:sp>
        <p:nvSpPr>
          <p:cNvPr id="5" name="object 5"/>
          <p:cNvSpPr txBox="1"/>
          <p:nvPr/>
        </p:nvSpPr>
        <p:spPr>
          <a:xfrm>
            <a:off x="444987" y="5029200"/>
            <a:ext cx="8229599" cy="382156"/>
          </a:xfrm>
          <a:prstGeom prst="rect">
            <a:avLst/>
          </a:prstGeom>
        </p:spPr>
        <p:txBody>
          <a:bodyPr vert="horz" wrap="square" lIns="0" tIns="12700" rIns="0" bIns="0" rtlCol="0">
            <a:spAutoFit/>
          </a:bodyPr>
          <a:lstStyle/>
          <a:p>
            <a:pPr marL="12700">
              <a:lnSpc>
                <a:spcPct val="100000"/>
              </a:lnSpc>
              <a:spcBef>
                <a:spcPts val="100"/>
              </a:spcBef>
            </a:pPr>
            <a:r>
              <a:rPr sz="2400" spc="-10" dirty="0">
                <a:latin typeface="Calibri"/>
                <a:cs typeface="Calibri"/>
              </a:rPr>
              <a:t>P(Cavity|toothache)</a:t>
            </a:r>
            <a:r>
              <a:rPr sz="2400" spc="-20" dirty="0">
                <a:latin typeface="Calibri"/>
                <a:cs typeface="Calibri"/>
              </a:rPr>
              <a:t> </a:t>
            </a:r>
            <a:r>
              <a:rPr sz="2400" dirty="0">
                <a:latin typeface="Calibri"/>
                <a:cs typeface="Calibri"/>
              </a:rPr>
              <a:t>=</a:t>
            </a:r>
            <a:r>
              <a:rPr sz="2400" spc="-25" dirty="0">
                <a:latin typeface="Calibri"/>
                <a:cs typeface="Calibri"/>
              </a:rPr>
              <a:t> </a:t>
            </a:r>
            <a:r>
              <a:rPr sz="2400" dirty="0">
                <a:latin typeface="Calibri"/>
                <a:cs typeface="Calibri"/>
              </a:rPr>
              <a:t>P(cavity</a:t>
            </a:r>
            <a:r>
              <a:rPr sz="2400" spc="-15" dirty="0">
                <a:latin typeface="Calibri"/>
                <a:cs typeface="Calibri"/>
              </a:rPr>
              <a:t> </a:t>
            </a:r>
            <a:r>
              <a:rPr sz="2400" spc="-10" dirty="0">
                <a:latin typeface="Calibri"/>
                <a:cs typeface="Calibri"/>
              </a:rPr>
              <a:t>^</a:t>
            </a:r>
            <a:r>
              <a:rPr lang="en-US" sz="2400" spc="-10" dirty="0">
                <a:latin typeface="Calibri"/>
                <a:cs typeface="Calibri"/>
              </a:rPr>
              <a:t> </a:t>
            </a:r>
            <a:r>
              <a:rPr sz="2400" spc="-10" dirty="0">
                <a:latin typeface="Calibri"/>
                <a:cs typeface="Calibri"/>
              </a:rPr>
              <a:t>toothache)</a:t>
            </a:r>
            <a:r>
              <a:rPr sz="2400" spc="-5" dirty="0">
                <a:latin typeface="Calibri"/>
                <a:cs typeface="Calibri"/>
              </a:rPr>
              <a:t> </a:t>
            </a:r>
            <a:r>
              <a:rPr sz="2400" dirty="0">
                <a:latin typeface="Calibri"/>
                <a:cs typeface="Calibri"/>
              </a:rPr>
              <a:t>/</a:t>
            </a:r>
            <a:r>
              <a:rPr sz="2400" spc="-10" dirty="0">
                <a:latin typeface="Calibri"/>
                <a:cs typeface="Calibri"/>
              </a:rPr>
              <a:t> P(toothache)</a:t>
            </a:r>
            <a:endParaRPr sz="2400" dirty="0">
              <a:latin typeface="Calibri"/>
              <a:cs typeface="Calibri"/>
            </a:endParaRPr>
          </a:p>
        </p:txBody>
      </p:sp>
      <p:sp>
        <p:nvSpPr>
          <p:cNvPr id="7" name="Title 6">
            <a:extLst>
              <a:ext uri="{FF2B5EF4-FFF2-40B4-BE49-F238E27FC236}">
                <a16:creationId xmlns:a16="http://schemas.microsoft.com/office/drawing/2014/main" id="{2C11E75A-8DD4-F3E7-1F0F-CF4949D5FF94}"/>
              </a:ext>
            </a:extLst>
          </p:cNvPr>
          <p:cNvSpPr>
            <a:spLocks noGrp="1"/>
          </p:cNvSpPr>
          <p:nvPr>
            <p:ph type="title"/>
          </p:nvPr>
        </p:nvSpPr>
        <p:spPr/>
        <p:txBody>
          <a:bodyPr/>
          <a:lstStyle/>
          <a:p>
            <a:endParaRPr lang="en-IN"/>
          </a:p>
        </p:txBody>
      </p:sp>
      <p:sp>
        <p:nvSpPr>
          <p:cNvPr id="8" name="object 2">
            <a:extLst>
              <a:ext uri="{FF2B5EF4-FFF2-40B4-BE49-F238E27FC236}">
                <a16:creationId xmlns:a16="http://schemas.microsoft.com/office/drawing/2014/main" id="{2E125D88-C916-248E-63AE-85A401B74EA3}"/>
              </a:ext>
            </a:extLst>
          </p:cNvPr>
          <p:cNvSpPr txBox="1">
            <a:spLocks/>
          </p:cNvSpPr>
          <p:nvPr/>
        </p:nvSpPr>
        <p:spPr>
          <a:xfrm>
            <a:off x="981049" y="191465"/>
            <a:ext cx="7181900" cy="963341"/>
          </a:xfrm>
          <a:prstGeom prst="rect">
            <a:avLst/>
          </a:prstGeom>
          <a:solidFill>
            <a:schemeClr val="accent2"/>
          </a:solidFill>
        </p:spPr>
        <p:txBody>
          <a:bodyPr vert="horz" wrap="square" lIns="0" tIns="283464" rIns="0" bIns="0" rtlCol="0">
            <a:spAutoFit/>
          </a:bodyPr>
          <a:lstStyle>
            <a:lvl1pPr>
              <a:defRPr sz="4400" b="0" i="0">
                <a:solidFill>
                  <a:schemeClr val="tx1"/>
                </a:solidFill>
                <a:latin typeface="Calibri"/>
                <a:ea typeface="+mj-ea"/>
                <a:cs typeface="Calibri"/>
              </a:defRPr>
            </a:lvl1pPr>
          </a:lstStyle>
          <a:p>
            <a:pPr marL="337820">
              <a:spcBef>
                <a:spcPts val="105"/>
              </a:spcBef>
            </a:pPr>
            <a:r>
              <a:rPr lang="en-IN">
                <a:solidFill>
                  <a:schemeClr val="bg1"/>
                </a:solidFill>
              </a:rPr>
              <a:t>Queries</a:t>
            </a:r>
            <a:r>
              <a:rPr lang="en-IN" spc="-30">
                <a:solidFill>
                  <a:schemeClr val="bg1"/>
                </a:solidFill>
              </a:rPr>
              <a:t> </a:t>
            </a:r>
            <a:r>
              <a:rPr lang="en-IN">
                <a:solidFill>
                  <a:schemeClr val="bg1"/>
                </a:solidFill>
              </a:rPr>
              <a:t>on</a:t>
            </a:r>
            <a:r>
              <a:rPr lang="en-IN" spc="-25">
                <a:solidFill>
                  <a:schemeClr val="bg1"/>
                </a:solidFill>
              </a:rPr>
              <a:t> </a:t>
            </a:r>
            <a:r>
              <a:rPr lang="en-IN">
                <a:solidFill>
                  <a:schemeClr val="bg1"/>
                </a:solidFill>
              </a:rPr>
              <a:t>Joint</a:t>
            </a:r>
            <a:r>
              <a:rPr lang="en-IN" spc="-25">
                <a:solidFill>
                  <a:schemeClr val="bg1"/>
                </a:solidFill>
              </a:rPr>
              <a:t> </a:t>
            </a:r>
            <a:r>
              <a:rPr lang="en-IN" spc="-10">
                <a:solidFill>
                  <a:schemeClr val="bg1"/>
                </a:solidFill>
              </a:rPr>
              <a:t>Distribution</a:t>
            </a:r>
            <a:endParaRPr lang="en-IN" spc="-10" dirty="0">
              <a:solidFill>
                <a:schemeClr val="bg1"/>
              </a:solidFill>
            </a:endParaRPr>
          </a:p>
        </p:txBody>
      </p:sp>
      <p:sp>
        <p:nvSpPr>
          <p:cNvPr id="9" name="object 4">
            <a:extLst>
              <a:ext uri="{FF2B5EF4-FFF2-40B4-BE49-F238E27FC236}">
                <a16:creationId xmlns:a16="http://schemas.microsoft.com/office/drawing/2014/main" id="{ADB079D3-959C-893F-604B-5FE1778F6CD2}"/>
              </a:ext>
            </a:extLst>
          </p:cNvPr>
          <p:cNvSpPr txBox="1"/>
          <p:nvPr/>
        </p:nvSpPr>
        <p:spPr>
          <a:xfrm>
            <a:off x="462573" y="3410997"/>
            <a:ext cx="6489212" cy="382156"/>
          </a:xfrm>
          <a:prstGeom prst="rect">
            <a:avLst/>
          </a:prstGeom>
        </p:spPr>
        <p:txBody>
          <a:bodyPr vert="horz" wrap="square" lIns="0" tIns="12700" rIns="0" bIns="0" rtlCol="0">
            <a:spAutoFit/>
          </a:bodyPr>
          <a:lstStyle/>
          <a:p>
            <a:pPr marL="12700">
              <a:lnSpc>
                <a:spcPct val="100000"/>
              </a:lnSpc>
              <a:spcBef>
                <a:spcPts val="100"/>
              </a:spcBef>
            </a:pPr>
            <a:r>
              <a:rPr sz="2400" spc="-10" dirty="0">
                <a:latin typeface="Calibri"/>
                <a:cs typeface="Calibri"/>
              </a:rPr>
              <a:t>P(toothache)</a:t>
            </a:r>
            <a:r>
              <a:rPr sz="2400" spc="5" dirty="0">
                <a:latin typeface="Calibri"/>
                <a:cs typeface="Calibri"/>
              </a:rPr>
              <a:t> </a:t>
            </a:r>
            <a:r>
              <a:rPr sz="2400" dirty="0">
                <a:latin typeface="Calibri"/>
                <a:cs typeface="Calibri"/>
              </a:rPr>
              <a:t>=</a:t>
            </a:r>
            <a:r>
              <a:rPr sz="2400" spc="-25" dirty="0">
                <a:latin typeface="Calibri"/>
                <a:cs typeface="Calibri"/>
              </a:rPr>
              <a:t> </a:t>
            </a:r>
            <a:r>
              <a:rPr lang="en-US" sz="2400" dirty="0">
                <a:latin typeface="Calibri"/>
                <a:cs typeface="Calibri"/>
              </a:rPr>
              <a:t>?</a:t>
            </a:r>
            <a:endParaRPr sz="2400" dirty="0">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1049" y="191465"/>
            <a:ext cx="7181900" cy="963341"/>
          </a:xfrm>
          <a:prstGeom prst="rect">
            <a:avLst/>
          </a:prstGeom>
          <a:solidFill>
            <a:schemeClr val="accent6"/>
          </a:solidFill>
        </p:spPr>
        <p:txBody>
          <a:bodyPr vert="horz" wrap="square" lIns="0" tIns="283464" rIns="0" bIns="0" rtlCol="0">
            <a:spAutoFit/>
          </a:bodyPr>
          <a:lstStyle/>
          <a:p>
            <a:pPr marL="1548130">
              <a:lnSpc>
                <a:spcPct val="100000"/>
              </a:lnSpc>
              <a:spcBef>
                <a:spcPts val="105"/>
              </a:spcBef>
            </a:pPr>
            <a:r>
              <a:rPr dirty="0">
                <a:solidFill>
                  <a:schemeClr val="bg1"/>
                </a:solidFill>
              </a:rPr>
              <a:t>Bayesian</a:t>
            </a:r>
            <a:r>
              <a:rPr spc="-160" dirty="0"/>
              <a:t> </a:t>
            </a:r>
            <a:r>
              <a:rPr spc="-10" dirty="0">
                <a:solidFill>
                  <a:schemeClr val="bg1"/>
                </a:solidFill>
              </a:rPr>
              <a:t>Network</a:t>
            </a:r>
          </a:p>
        </p:txBody>
      </p:sp>
      <p:sp>
        <p:nvSpPr>
          <p:cNvPr id="3" name="object 3"/>
          <p:cNvSpPr txBox="1"/>
          <p:nvPr/>
        </p:nvSpPr>
        <p:spPr>
          <a:xfrm>
            <a:off x="535940" y="1607564"/>
            <a:ext cx="8074660" cy="3870931"/>
          </a:xfrm>
          <a:prstGeom prst="rect">
            <a:avLst/>
          </a:prstGeom>
        </p:spPr>
        <p:txBody>
          <a:bodyPr vert="horz" wrap="square" lIns="0" tIns="13335" rIns="0" bIns="0" rtlCol="0">
            <a:spAutoFit/>
          </a:bodyPr>
          <a:lstStyle/>
          <a:p>
            <a:pPr marL="355600" marR="5080" indent="-342900">
              <a:lnSpc>
                <a:spcPct val="100000"/>
              </a:lnSpc>
              <a:spcBef>
                <a:spcPts val="105"/>
              </a:spcBef>
              <a:buFont typeface="Arial MT"/>
              <a:buChar char="•"/>
              <a:tabLst>
                <a:tab pos="355600" algn="l"/>
              </a:tabLst>
            </a:pPr>
            <a:r>
              <a:rPr sz="3200" dirty="0">
                <a:latin typeface="Calibri"/>
                <a:cs typeface="Calibri"/>
              </a:rPr>
              <a:t>Conditional</a:t>
            </a:r>
            <a:r>
              <a:rPr sz="3200" spc="-114" dirty="0">
                <a:latin typeface="Calibri"/>
                <a:cs typeface="Calibri"/>
              </a:rPr>
              <a:t> </a:t>
            </a:r>
            <a:r>
              <a:rPr sz="3200" dirty="0">
                <a:latin typeface="Calibri"/>
                <a:cs typeface="Calibri"/>
              </a:rPr>
              <a:t>probabilities</a:t>
            </a:r>
            <a:r>
              <a:rPr sz="3200" spc="-105" dirty="0">
                <a:latin typeface="Calibri"/>
                <a:cs typeface="Calibri"/>
              </a:rPr>
              <a:t> </a:t>
            </a:r>
            <a:r>
              <a:rPr sz="3200" dirty="0">
                <a:latin typeface="Calibri"/>
                <a:cs typeface="Calibri"/>
              </a:rPr>
              <a:t>are</a:t>
            </a:r>
            <a:r>
              <a:rPr sz="3200" spc="-150" dirty="0">
                <a:latin typeface="Calibri"/>
                <a:cs typeface="Calibri"/>
              </a:rPr>
              <a:t> </a:t>
            </a:r>
            <a:r>
              <a:rPr sz="3200" dirty="0">
                <a:latin typeface="Calibri"/>
                <a:cs typeface="Calibri"/>
              </a:rPr>
              <a:t>combined</a:t>
            </a:r>
            <a:r>
              <a:rPr sz="3200" spc="-135" dirty="0">
                <a:latin typeface="Calibri"/>
                <a:cs typeface="Calibri"/>
              </a:rPr>
              <a:t> </a:t>
            </a:r>
            <a:r>
              <a:rPr sz="3200" spc="-25" dirty="0">
                <a:latin typeface="Calibri"/>
                <a:cs typeface="Calibri"/>
              </a:rPr>
              <a:t>to </a:t>
            </a:r>
            <a:r>
              <a:rPr sz="3200" dirty="0">
                <a:latin typeface="Calibri"/>
                <a:cs typeface="Calibri"/>
              </a:rPr>
              <a:t>form</a:t>
            </a:r>
            <a:r>
              <a:rPr sz="3200" spc="-95" dirty="0">
                <a:latin typeface="Calibri"/>
                <a:cs typeface="Calibri"/>
              </a:rPr>
              <a:t> </a:t>
            </a:r>
            <a:r>
              <a:rPr sz="3200" dirty="0">
                <a:latin typeface="Calibri"/>
                <a:cs typeface="Calibri"/>
              </a:rPr>
              <a:t>a</a:t>
            </a:r>
            <a:r>
              <a:rPr sz="3200" spc="-100" dirty="0">
                <a:latin typeface="Calibri"/>
                <a:cs typeface="Calibri"/>
              </a:rPr>
              <a:t> </a:t>
            </a:r>
            <a:r>
              <a:rPr lang="en-US" sz="3200" dirty="0">
                <a:latin typeface="Calibri"/>
                <a:cs typeface="Calibri"/>
              </a:rPr>
              <a:t>Bayesian</a:t>
            </a:r>
            <a:r>
              <a:rPr sz="3200" spc="-75" dirty="0">
                <a:latin typeface="Calibri"/>
                <a:cs typeface="Calibri"/>
              </a:rPr>
              <a:t> </a:t>
            </a:r>
            <a:r>
              <a:rPr sz="3200" spc="-10" dirty="0">
                <a:latin typeface="Calibri"/>
                <a:cs typeface="Calibri"/>
              </a:rPr>
              <a:t>network</a:t>
            </a:r>
            <a:endParaRPr sz="3200" dirty="0">
              <a:latin typeface="Calibri"/>
              <a:cs typeface="Calibri"/>
            </a:endParaRPr>
          </a:p>
          <a:p>
            <a:pPr marL="354965" indent="-342265">
              <a:lnSpc>
                <a:spcPct val="100000"/>
              </a:lnSpc>
              <a:spcBef>
                <a:spcPts val="770"/>
              </a:spcBef>
              <a:buFont typeface="Arial MT"/>
              <a:buChar char="•"/>
              <a:tabLst>
                <a:tab pos="354965" algn="l"/>
              </a:tabLst>
            </a:pPr>
            <a:r>
              <a:rPr sz="3200" dirty="0">
                <a:solidFill>
                  <a:srgbClr val="FF0000"/>
                </a:solidFill>
                <a:latin typeface="Calibri"/>
                <a:cs typeface="Calibri"/>
              </a:rPr>
              <a:t>A</a:t>
            </a:r>
            <a:r>
              <a:rPr sz="3200" spc="-50" dirty="0">
                <a:solidFill>
                  <a:srgbClr val="FF0000"/>
                </a:solidFill>
                <a:latin typeface="Calibri"/>
                <a:cs typeface="Calibri"/>
              </a:rPr>
              <a:t> </a:t>
            </a:r>
            <a:r>
              <a:rPr sz="3200" dirty="0">
                <a:solidFill>
                  <a:srgbClr val="FF0000"/>
                </a:solidFill>
                <a:latin typeface="Calibri"/>
                <a:cs typeface="Calibri"/>
              </a:rPr>
              <a:t>set</a:t>
            </a:r>
            <a:r>
              <a:rPr sz="3200" spc="-50" dirty="0">
                <a:solidFill>
                  <a:srgbClr val="FF0000"/>
                </a:solidFill>
                <a:latin typeface="Calibri"/>
                <a:cs typeface="Calibri"/>
              </a:rPr>
              <a:t> </a:t>
            </a:r>
            <a:r>
              <a:rPr sz="3200" dirty="0">
                <a:solidFill>
                  <a:srgbClr val="FF0000"/>
                </a:solidFill>
                <a:latin typeface="Calibri"/>
                <a:cs typeface="Calibri"/>
              </a:rPr>
              <a:t>of</a:t>
            </a:r>
            <a:r>
              <a:rPr sz="3200" spc="-55" dirty="0">
                <a:solidFill>
                  <a:srgbClr val="FF0000"/>
                </a:solidFill>
                <a:latin typeface="Calibri"/>
                <a:cs typeface="Calibri"/>
              </a:rPr>
              <a:t> </a:t>
            </a:r>
            <a:r>
              <a:rPr sz="3200" dirty="0">
                <a:solidFill>
                  <a:srgbClr val="FF0000"/>
                </a:solidFill>
                <a:latin typeface="Calibri"/>
                <a:cs typeface="Calibri"/>
              </a:rPr>
              <a:t>random</a:t>
            </a:r>
            <a:r>
              <a:rPr sz="3200" spc="-50" dirty="0">
                <a:solidFill>
                  <a:srgbClr val="FF0000"/>
                </a:solidFill>
                <a:latin typeface="Calibri"/>
                <a:cs typeface="Calibri"/>
              </a:rPr>
              <a:t> </a:t>
            </a:r>
            <a:r>
              <a:rPr sz="3200" spc="-10" dirty="0">
                <a:solidFill>
                  <a:srgbClr val="FF0000"/>
                </a:solidFill>
                <a:latin typeface="Calibri"/>
                <a:cs typeface="Calibri"/>
              </a:rPr>
              <a:t>variables</a:t>
            </a:r>
            <a:endParaRPr sz="3200" dirty="0">
              <a:solidFill>
                <a:srgbClr val="FF0000"/>
              </a:solidFill>
              <a:latin typeface="Calibri"/>
              <a:cs typeface="Calibri"/>
            </a:endParaRPr>
          </a:p>
          <a:p>
            <a:pPr marL="354965" indent="-342265">
              <a:lnSpc>
                <a:spcPct val="100000"/>
              </a:lnSpc>
              <a:spcBef>
                <a:spcPts val="765"/>
              </a:spcBef>
              <a:buFont typeface="Arial MT"/>
              <a:buChar char="•"/>
              <a:tabLst>
                <a:tab pos="354965" algn="l"/>
              </a:tabLst>
            </a:pPr>
            <a:r>
              <a:rPr sz="3200" dirty="0">
                <a:solidFill>
                  <a:srgbClr val="FF0000"/>
                </a:solidFill>
                <a:latin typeface="Calibri"/>
                <a:cs typeface="Calibri"/>
              </a:rPr>
              <a:t>A</a:t>
            </a:r>
            <a:r>
              <a:rPr sz="3200" spc="-40" dirty="0">
                <a:solidFill>
                  <a:srgbClr val="FF0000"/>
                </a:solidFill>
                <a:latin typeface="Calibri"/>
                <a:cs typeface="Calibri"/>
              </a:rPr>
              <a:t> </a:t>
            </a:r>
            <a:r>
              <a:rPr sz="3200" dirty="0">
                <a:solidFill>
                  <a:srgbClr val="FF0000"/>
                </a:solidFill>
                <a:latin typeface="Calibri"/>
                <a:cs typeface="Calibri"/>
              </a:rPr>
              <a:t>set</a:t>
            </a:r>
            <a:r>
              <a:rPr sz="3200" spc="-40" dirty="0">
                <a:solidFill>
                  <a:srgbClr val="FF0000"/>
                </a:solidFill>
                <a:latin typeface="Calibri"/>
                <a:cs typeface="Calibri"/>
              </a:rPr>
              <a:t> </a:t>
            </a:r>
            <a:r>
              <a:rPr sz="3200" dirty="0">
                <a:solidFill>
                  <a:srgbClr val="FF0000"/>
                </a:solidFill>
                <a:latin typeface="Calibri"/>
                <a:cs typeface="Calibri"/>
              </a:rPr>
              <a:t>of</a:t>
            </a:r>
            <a:r>
              <a:rPr sz="3200" spc="-50" dirty="0">
                <a:solidFill>
                  <a:srgbClr val="FF0000"/>
                </a:solidFill>
                <a:latin typeface="Calibri"/>
                <a:cs typeface="Calibri"/>
              </a:rPr>
              <a:t> </a:t>
            </a:r>
            <a:r>
              <a:rPr sz="3200" dirty="0">
                <a:solidFill>
                  <a:srgbClr val="FF0000"/>
                </a:solidFill>
                <a:latin typeface="Calibri"/>
                <a:cs typeface="Calibri"/>
              </a:rPr>
              <a:t>directed</a:t>
            </a:r>
            <a:r>
              <a:rPr sz="3200" spc="-40" dirty="0">
                <a:solidFill>
                  <a:srgbClr val="FF0000"/>
                </a:solidFill>
                <a:latin typeface="Calibri"/>
                <a:cs typeface="Calibri"/>
              </a:rPr>
              <a:t> </a:t>
            </a:r>
            <a:r>
              <a:rPr sz="3200" spc="-10" dirty="0">
                <a:solidFill>
                  <a:srgbClr val="FF0000"/>
                </a:solidFill>
                <a:latin typeface="Calibri"/>
                <a:cs typeface="Calibri"/>
              </a:rPr>
              <a:t>links</a:t>
            </a:r>
            <a:endParaRPr sz="3200" dirty="0">
              <a:solidFill>
                <a:srgbClr val="FF0000"/>
              </a:solidFill>
              <a:latin typeface="Calibri"/>
              <a:cs typeface="Calibri"/>
            </a:endParaRPr>
          </a:p>
          <a:p>
            <a:pPr marL="355600" marR="713740" indent="-342900" algn="just">
              <a:lnSpc>
                <a:spcPct val="100000"/>
              </a:lnSpc>
              <a:spcBef>
                <a:spcPts val="770"/>
              </a:spcBef>
              <a:buFont typeface="Arial MT"/>
              <a:buChar char="•"/>
              <a:tabLst>
                <a:tab pos="355600" algn="l"/>
              </a:tabLst>
            </a:pPr>
            <a:r>
              <a:rPr sz="3200" dirty="0">
                <a:solidFill>
                  <a:srgbClr val="FF0000"/>
                </a:solidFill>
                <a:latin typeface="Calibri"/>
                <a:cs typeface="Calibri"/>
              </a:rPr>
              <a:t>Each</a:t>
            </a:r>
            <a:r>
              <a:rPr sz="3200" spc="-35" dirty="0">
                <a:solidFill>
                  <a:srgbClr val="FF0000"/>
                </a:solidFill>
                <a:latin typeface="Calibri"/>
                <a:cs typeface="Calibri"/>
              </a:rPr>
              <a:t> </a:t>
            </a:r>
            <a:r>
              <a:rPr sz="3200" dirty="0">
                <a:solidFill>
                  <a:srgbClr val="FF0000"/>
                </a:solidFill>
                <a:latin typeface="Calibri"/>
                <a:cs typeface="Calibri"/>
              </a:rPr>
              <a:t>node</a:t>
            </a:r>
            <a:r>
              <a:rPr sz="3200" spc="-35" dirty="0">
                <a:solidFill>
                  <a:srgbClr val="FF0000"/>
                </a:solidFill>
                <a:latin typeface="Calibri"/>
                <a:cs typeface="Calibri"/>
              </a:rPr>
              <a:t> </a:t>
            </a:r>
            <a:r>
              <a:rPr sz="3200" spc="-10" dirty="0">
                <a:solidFill>
                  <a:srgbClr val="FF0000"/>
                </a:solidFill>
                <a:latin typeface="Calibri"/>
                <a:cs typeface="Calibri"/>
              </a:rPr>
              <a:t>represents</a:t>
            </a:r>
            <a:r>
              <a:rPr sz="3200" spc="-80" dirty="0">
                <a:solidFill>
                  <a:srgbClr val="FF0000"/>
                </a:solidFill>
                <a:latin typeface="Calibri"/>
                <a:cs typeface="Calibri"/>
              </a:rPr>
              <a:t> </a:t>
            </a:r>
            <a:r>
              <a:rPr sz="3200" dirty="0">
                <a:solidFill>
                  <a:srgbClr val="FF0000"/>
                </a:solidFill>
                <a:latin typeface="Calibri"/>
                <a:cs typeface="Calibri"/>
              </a:rPr>
              <a:t>the</a:t>
            </a:r>
            <a:r>
              <a:rPr sz="3200" spc="-45" dirty="0">
                <a:solidFill>
                  <a:srgbClr val="FF0000"/>
                </a:solidFill>
                <a:latin typeface="Calibri"/>
                <a:cs typeface="Calibri"/>
              </a:rPr>
              <a:t> </a:t>
            </a:r>
            <a:r>
              <a:rPr sz="3200" spc="-10" dirty="0">
                <a:solidFill>
                  <a:srgbClr val="FF0000"/>
                </a:solidFill>
                <a:latin typeface="Calibri"/>
                <a:cs typeface="Calibri"/>
              </a:rPr>
              <a:t>conditional </a:t>
            </a:r>
            <a:r>
              <a:rPr sz="3200" dirty="0">
                <a:solidFill>
                  <a:srgbClr val="FF0000"/>
                </a:solidFill>
                <a:latin typeface="Calibri"/>
                <a:cs typeface="Calibri"/>
              </a:rPr>
              <a:t>probability</a:t>
            </a:r>
            <a:r>
              <a:rPr lang="en-US" sz="3200" spc="-165" dirty="0">
                <a:solidFill>
                  <a:srgbClr val="FF0000"/>
                </a:solidFill>
                <a:latin typeface="Calibri"/>
                <a:cs typeface="Calibri"/>
              </a:rPr>
              <a:t>, </a:t>
            </a:r>
            <a:r>
              <a:rPr sz="3200" spc="-10" dirty="0">
                <a:solidFill>
                  <a:srgbClr val="FF0000"/>
                </a:solidFill>
                <a:latin typeface="Calibri"/>
                <a:cs typeface="Calibri"/>
              </a:rPr>
              <a:t>P(</a:t>
            </a:r>
            <a:r>
              <a:rPr sz="3200" spc="-10" dirty="0" err="1">
                <a:solidFill>
                  <a:srgbClr val="FF0000"/>
                </a:solidFill>
                <a:latin typeface="Calibri"/>
                <a:cs typeface="Calibri"/>
              </a:rPr>
              <a:t>X|Parents</a:t>
            </a:r>
            <a:r>
              <a:rPr sz="3200" spc="-10" dirty="0">
                <a:solidFill>
                  <a:srgbClr val="FF0000"/>
                </a:solidFill>
                <a:latin typeface="Calibri"/>
                <a:cs typeface="Calibri"/>
              </a:rPr>
              <a:t>(X))</a:t>
            </a:r>
            <a:endParaRPr sz="3200" dirty="0">
              <a:solidFill>
                <a:srgbClr val="FF0000"/>
              </a:solidFill>
              <a:latin typeface="Calibri"/>
              <a:cs typeface="Calibri"/>
            </a:endParaRPr>
          </a:p>
          <a:p>
            <a:pPr marL="354965" indent="-342265">
              <a:lnSpc>
                <a:spcPct val="100000"/>
              </a:lnSpc>
              <a:spcBef>
                <a:spcPts val="770"/>
              </a:spcBef>
              <a:buFont typeface="Arial MT"/>
              <a:buChar char="•"/>
              <a:tabLst>
                <a:tab pos="354965" algn="l"/>
              </a:tabLst>
            </a:pPr>
            <a:r>
              <a:rPr sz="3200" dirty="0">
                <a:solidFill>
                  <a:srgbClr val="FF0000"/>
                </a:solidFill>
                <a:latin typeface="Calibri"/>
                <a:cs typeface="Calibri"/>
              </a:rPr>
              <a:t>The</a:t>
            </a:r>
            <a:r>
              <a:rPr sz="3200" spc="-70" dirty="0">
                <a:solidFill>
                  <a:srgbClr val="FF0000"/>
                </a:solidFill>
                <a:latin typeface="Calibri"/>
                <a:cs typeface="Calibri"/>
              </a:rPr>
              <a:t> </a:t>
            </a:r>
            <a:r>
              <a:rPr sz="3200" dirty="0">
                <a:solidFill>
                  <a:srgbClr val="FF0000"/>
                </a:solidFill>
                <a:latin typeface="Calibri"/>
                <a:cs typeface="Calibri"/>
              </a:rPr>
              <a:t>graph</a:t>
            </a:r>
            <a:r>
              <a:rPr sz="3200" spc="-70" dirty="0">
                <a:solidFill>
                  <a:srgbClr val="FF0000"/>
                </a:solidFill>
                <a:latin typeface="Calibri"/>
                <a:cs typeface="Calibri"/>
              </a:rPr>
              <a:t> </a:t>
            </a:r>
            <a:r>
              <a:rPr sz="3200" dirty="0">
                <a:solidFill>
                  <a:srgbClr val="FF0000"/>
                </a:solidFill>
                <a:latin typeface="Calibri"/>
                <a:cs typeface="Calibri"/>
              </a:rPr>
              <a:t>has</a:t>
            </a:r>
            <a:r>
              <a:rPr sz="3200" spc="-70" dirty="0">
                <a:solidFill>
                  <a:srgbClr val="FF0000"/>
                </a:solidFill>
                <a:latin typeface="Calibri"/>
                <a:cs typeface="Calibri"/>
              </a:rPr>
              <a:t> </a:t>
            </a:r>
            <a:r>
              <a:rPr sz="3200" dirty="0">
                <a:solidFill>
                  <a:srgbClr val="FF0000"/>
                </a:solidFill>
                <a:latin typeface="Calibri"/>
                <a:cs typeface="Calibri"/>
              </a:rPr>
              <a:t>no</a:t>
            </a:r>
            <a:r>
              <a:rPr sz="3200" spc="-60" dirty="0">
                <a:solidFill>
                  <a:srgbClr val="FF0000"/>
                </a:solidFill>
                <a:latin typeface="Calibri"/>
                <a:cs typeface="Calibri"/>
              </a:rPr>
              <a:t> </a:t>
            </a:r>
            <a:r>
              <a:rPr sz="3200" dirty="0">
                <a:solidFill>
                  <a:srgbClr val="FF0000"/>
                </a:solidFill>
                <a:latin typeface="Calibri"/>
                <a:cs typeface="Calibri"/>
              </a:rPr>
              <a:t>directed</a:t>
            </a:r>
            <a:r>
              <a:rPr sz="3200" spc="-70" dirty="0">
                <a:solidFill>
                  <a:srgbClr val="FF0000"/>
                </a:solidFill>
                <a:latin typeface="Calibri"/>
                <a:cs typeface="Calibri"/>
              </a:rPr>
              <a:t> </a:t>
            </a:r>
            <a:r>
              <a:rPr sz="3200" spc="-10" dirty="0">
                <a:solidFill>
                  <a:srgbClr val="FF0000"/>
                </a:solidFill>
                <a:latin typeface="Calibri"/>
                <a:cs typeface="Calibri"/>
              </a:rPr>
              <a:t>cycles</a:t>
            </a:r>
            <a:endParaRPr sz="3200" dirty="0">
              <a:solidFill>
                <a:srgbClr val="FF0000"/>
              </a:solidFill>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8048" y="461594"/>
            <a:ext cx="3789679" cy="697230"/>
          </a:xfrm>
          <a:prstGeom prst="rect">
            <a:avLst/>
          </a:prstGeom>
        </p:spPr>
        <p:style>
          <a:lnRef idx="2">
            <a:schemeClr val="accent2"/>
          </a:lnRef>
          <a:fillRef idx="1">
            <a:schemeClr val="lt1"/>
          </a:fillRef>
          <a:effectRef idx="0">
            <a:schemeClr val="accent2"/>
          </a:effectRef>
          <a:fontRef idx="minor">
            <a:schemeClr val="dk1"/>
          </a:fontRef>
        </p:style>
        <p:txBody>
          <a:bodyPr vert="horz" wrap="square" lIns="0" tIns="13335" rIns="0" bIns="0" rtlCol="0">
            <a:spAutoFit/>
          </a:bodyPr>
          <a:lstStyle/>
          <a:p>
            <a:pPr marL="12700">
              <a:lnSpc>
                <a:spcPct val="100000"/>
              </a:lnSpc>
              <a:spcBef>
                <a:spcPts val="105"/>
              </a:spcBef>
            </a:pPr>
            <a:r>
              <a:rPr dirty="0"/>
              <a:t>Sample</a:t>
            </a:r>
            <a:r>
              <a:rPr spc="-25" dirty="0"/>
              <a:t> </a:t>
            </a:r>
            <a:r>
              <a:rPr spc="-10" dirty="0"/>
              <a:t>Network</a:t>
            </a:r>
          </a:p>
        </p:txBody>
      </p:sp>
      <p:sp>
        <p:nvSpPr>
          <p:cNvPr id="3" name="object 3"/>
          <p:cNvSpPr/>
          <p:nvPr/>
        </p:nvSpPr>
        <p:spPr>
          <a:xfrm>
            <a:off x="3505200" y="2971800"/>
            <a:ext cx="1676400" cy="914400"/>
          </a:xfrm>
          <a:custGeom>
            <a:avLst/>
            <a:gdLst/>
            <a:ahLst/>
            <a:cxnLst/>
            <a:rect l="l" t="t" r="r" b="b"/>
            <a:pathLst>
              <a:path w="1676400" h="914400">
                <a:moveTo>
                  <a:pt x="0" y="457200"/>
                </a:moveTo>
                <a:lnTo>
                  <a:pt x="9088" y="389644"/>
                </a:lnTo>
                <a:lnTo>
                  <a:pt x="35489" y="325165"/>
                </a:lnTo>
                <a:lnTo>
                  <a:pt x="77906" y="264468"/>
                </a:lnTo>
                <a:lnTo>
                  <a:pt x="104715" y="235759"/>
                </a:lnTo>
                <a:lnTo>
                  <a:pt x="135041" y="208262"/>
                </a:lnTo>
                <a:lnTo>
                  <a:pt x="168723" y="182064"/>
                </a:lnTo>
                <a:lnTo>
                  <a:pt x="205599" y="157254"/>
                </a:lnTo>
                <a:lnTo>
                  <a:pt x="245506" y="133921"/>
                </a:lnTo>
                <a:lnTo>
                  <a:pt x="288283" y="112153"/>
                </a:lnTo>
                <a:lnTo>
                  <a:pt x="333766" y="92038"/>
                </a:lnTo>
                <a:lnTo>
                  <a:pt x="381795" y="73664"/>
                </a:lnTo>
                <a:lnTo>
                  <a:pt x="432207" y="57122"/>
                </a:lnTo>
                <a:lnTo>
                  <a:pt x="484840" y="42497"/>
                </a:lnTo>
                <a:lnTo>
                  <a:pt x="539532" y="29881"/>
                </a:lnTo>
                <a:lnTo>
                  <a:pt x="596120" y="19359"/>
                </a:lnTo>
                <a:lnTo>
                  <a:pt x="654443" y="11022"/>
                </a:lnTo>
                <a:lnTo>
                  <a:pt x="714339" y="4957"/>
                </a:lnTo>
                <a:lnTo>
                  <a:pt x="775645" y="1254"/>
                </a:lnTo>
                <a:lnTo>
                  <a:pt x="838200" y="0"/>
                </a:lnTo>
                <a:lnTo>
                  <a:pt x="900754" y="1254"/>
                </a:lnTo>
                <a:lnTo>
                  <a:pt x="962060" y="4957"/>
                </a:lnTo>
                <a:lnTo>
                  <a:pt x="1021956" y="11022"/>
                </a:lnTo>
                <a:lnTo>
                  <a:pt x="1080279" y="19359"/>
                </a:lnTo>
                <a:lnTo>
                  <a:pt x="1136867" y="29881"/>
                </a:lnTo>
                <a:lnTo>
                  <a:pt x="1191559" y="42497"/>
                </a:lnTo>
                <a:lnTo>
                  <a:pt x="1244192" y="57122"/>
                </a:lnTo>
                <a:lnTo>
                  <a:pt x="1294604" y="73664"/>
                </a:lnTo>
                <a:lnTo>
                  <a:pt x="1342633" y="92038"/>
                </a:lnTo>
                <a:lnTo>
                  <a:pt x="1388116" y="112153"/>
                </a:lnTo>
                <a:lnTo>
                  <a:pt x="1430893" y="133921"/>
                </a:lnTo>
                <a:lnTo>
                  <a:pt x="1470800" y="157254"/>
                </a:lnTo>
                <a:lnTo>
                  <a:pt x="1507676" y="182064"/>
                </a:lnTo>
                <a:lnTo>
                  <a:pt x="1541358" y="208262"/>
                </a:lnTo>
                <a:lnTo>
                  <a:pt x="1571684" y="235759"/>
                </a:lnTo>
                <a:lnTo>
                  <a:pt x="1598493" y="264468"/>
                </a:lnTo>
                <a:lnTo>
                  <a:pt x="1640910" y="325165"/>
                </a:lnTo>
                <a:lnTo>
                  <a:pt x="1667311" y="389644"/>
                </a:lnTo>
                <a:lnTo>
                  <a:pt x="1676400" y="457200"/>
                </a:lnTo>
                <a:lnTo>
                  <a:pt x="1674100" y="491317"/>
                </a:lnTo>
                <a:lnTo>
                  <a:pt x="1656194" y="557423"/>
                </a:lnTo>
                <a:lnTo>
                  <a:pt x="1621623" y="620100"/>
                </a:lnTo>
                <a:lnTo>
                  <a:pt x="1571684" y="678640"/>
                </a:lnTo>
                <a:lnTo>
                  <a:pt x="1541358" y="706137"/>
                </a:lnTo>
                <a:lnTo>
                  <a:pt x="1507676" y="732335"/>
                </a:lnTo>
                <a:lnTo>
                  <a:pt x="1470800" y="757145"/>
                </a:lnTo>
                <a:lnTo>
                  <a:pt x="1430893" y="780478"/>
                </a:lnTo>
                <a:lnTo>
                  <a:pt x="1388116" y="802246"/>
                </a:lnTo>
                <a:lnTo>
                  <a:pt x="1342633" y="822361"/>
                </a:lnTo>
                <a:lnTo>
                  <a:pt x="1294604" y="840735"/>
                </a:lnTo>
                <a:lnTo>
                  <a:pt x="1244192" y="857277"/>
                </a:lnTo>
                <a:lnTo>
                  <a:pt x="1191559" y="871902"/>
                </a:lnTo>
                <a:lnTo>
                  <a:pt x="1136867" y="884518"/>
                </a:lnTo>
                <a:lnTo>
                  <a:pt x="1080279" y="895040"/>
                </a:lnTo>
                <a:lnTo>
                  <a:pt x="1021956" y="903377"/>
                </a:lnTo>
                <a:lnTo>
                  <a:pt x="962060" y="909442"/>
                </a:lnTo>
                <a:lnTo>
                  <a:pt x="900754" y="913145"/>
                </a:lnTo>
                <a:lnTo>
                  <a:pt x="838200" y="914400"/>
                </a:lnTo>
                <a:lnTo>
                  <a:pt x="775645" y="913145"/>
                </a:lnTo>
                <a:lnTo>
                  <a:pt x="714339" y="909442"/>
                </a:lnTo>
                <a:lnTo>
                  <a:pt x="654443" y="903377"/>
                </a:lnTo>
                <a:lnTo>
                  <a:pt x="596120" y="895040"/>
                </a:lnTo>
                <a:lnTo>
                  <a:pt x="539532" y="884518"/>
                </a:lnTo>
                <a:lnTo>
                  <a:pt x="484840" y="871902"/>
                </a:lnTo>
                <a:lnTo>
                  <a:pt x="432207" y="857277"/>
                </a:lnTo>
                <a:lnTo>
                  <a:pt x="381795" y="840735"/>
                </a:lnTo>
                <a:lnTo>
                  <a:pt x="333766" y="822361"/>
                </a:lnTo>
                <a:lnTo>
                  <a:pt x="288283" y="802246"/>
                </a:lnTo>
                <a:lnTo>
                  <a:pt x="245506" y="780478"/>
                </a:lnTo>
                <a:lnTo>
                  <a:pt x="205599" y="757145"/>
                </a:lnTo>
                <a:lnTo>
                  <a:pt x="168723" y="732335"/>
                </a:lnTo>
                <a:lnTo>
                  <a:pt x="135041" y="706137"/>
                </a:lnTo>
                <a:lnTo>
                  <a:pt x="104715" y="678640"/>
                </a:lnTo>
                <a:lnTo>
                  <a:pt x="77906" y="649931"/>
                </a:lnTo>
                <a:lnTo>
                  <a:pt x="35489" y="589234"/>
                </a:lnTo>
                <a:lnTo>
                  <a:pt x="9088" y="524755"/>
                </a:lnTo>
                <a:lnTo>
                  <a:pt x="0" y="457200"/>
                </a:lnTo>
                <a:close/>
              </a:path>
            </a:pathLst>
          </a:custGeom>
          <a:ln w="25400">
            <a:solidFill>
              <a:srgbClr val="385D89"/>
            </a:solidFill>
          </a:ln>
        </p:spPr>
        <p:txBody>
          <a:bodyPr wrap="square" lIns="0" tIns="0" rIns="0" bIns="0" rtlCol="0"/>
          <a:lstStyle/>
          <a:p>
            <a:endParaRPr/>
          </a:p>
        </p:txBody>
      </p:sp>
      <p:sp>
        <p:nvSpPr>
          <p:cNvPr id="4" name="object 4"/>
          <p:cNvSpPr txBox="1"/>
          <p:nvPr/>
        </p:nvSpPr>
        <p:spPr>
          <a:xfrm>
            <a:off x="4043553" y="3264534"/>
            <a:ext cx="600075"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Alarm</a:t>
            </a:r>
            <a:endParaRPr sz="1800">
              <a:latin typeface="Calibri"/>
              <a:cs typeface="Calibri"/>
            </a:endParaRPr>
          </a:p>
        </p:txBody>
      </p:sp>
      <p:sp>
        <p:nvSpPr>
          <p:cNvPr id="5" name="object 5"/>
          <p:cNvSpPr/>
          <p:nvPr/>
        </p:nvSpPr>
        <p:spPr>
          <a:xfrm>
            <a:off x="762000" y="1600200"/>
            <a:ext cx="1676400" cy="914400"/>
          </a:xfrm>
          <a:custGeom>
            <a:avLst/>
            <a:gdLst/>
            <a:ahLst/>
            <a:cxnLst/>
            <a:rect l="l" t="t" r="r" b="b"/>
            <a:pathLst>
              <a:path w="1676400" h="914400">
                <a:moveTo>
                  <a:pt x="0" y="457200"/>
                </a:moveTo>
                <a:lnTo>
                  <a:pt x="9088" y="389644"/>
                </a:lnTo>
                <a:lnTo>
                  <a:pt x="35488" y="325165"/>
                </a:lnTo>
                <a:lnTo>
                  <a:pt x="77903" y="264468"/>
                </a:lnTo>
                <a:lnTo>
                  <a:pt x="104712" y="235759"/>
                </a:lnTo>
                <a:lnTo>
                  <a:pt x="135038" y="208262"/>
                </a:lnTo>
                <a:lnTo>
                  <a:pt x="168720" y="182064"/>
                </a:lnTo>
                <a:lnTo>
                  <a:pt x="205595" y="157254"/>
                </a:lnTo>
                <a:lnTo>
                  <a:pt x="245502" y="133921"/>
                </a:lnTo>
                <a:lnTo>
                  <a:pt x="288278" y="112153"/>
                </a:lnTo>
                <a:lnTo>
                  <a:pt x="333761" y="92038"/>
                </a:lnTo>
                <a:lnTo>
                  <a:pt x="381790" y="73664"/>
                </a:lnTo>
                <a:lnTo>
                  <a:pt x="432201" y="57122"/>
                </a:lnTo>
                <a:lnTo>
                  <a:pt x="484834" y="42497"/>
                </a:lnTo>
                <a:lnTo>
                  <a:pt x="539526" y="29881"/>
                </a:lnTo>
                <a:lnTo>
                  <a:pt x="596115" y="19359"/>
                </a:lnTo>
                <a:lnTo>
                  <a:pt x="654439" y="11022"/>
                </a:lnTo>
                <a:lnTo>
                  <a:pt x="714336" y="4957"/>
                </a:lnTo>
                <a:lnTo>
                  <a:pt x="775643" y="1254"/>
                </a:lnTo>
                <a:lnTo>
                  <a:pt x="838200" y="0"/>
                </a:lnTo>
                <a:lnTo>
                  <a:pt x="900754" y="1254"/>
                </a:lnTo>
                <a:lnTo>
                  <a:pt x="962060" y="4957"/>
                </a:lnTo>
                <a:lnTo>
                  <a:pt x="1021956" y="11022"/>
                </a:lnTo>
                <a:lnTo>
                  <a:pt x="1080279" y="19359"/>
                </a:lnTo>
                <a:lnTo>
                  <a:pt x="1136867" y="29881"/>
                </a:lnTo>
                <a:lnTo>
                  <a:pt x="1191559" y="42497"/>
                </a:lnTo>
                <a:lnTo>
                  <a:pt x="1244192" y="57122"/>
                </a:lnTo>
                <a:lnTo>
                  <a:pt x="1294604" y="73664"/>
                </a:lnTo>
                <a:lnTo>
                  <a:pt x="1342633" y="92038"/>
                </a:lnTo>
                <a:lnTo>
                  <a:pt x="1388116" y="112153"/>
                </a:lnTo>
                <a:lnTo>
                  <a:pt x="1430893" y="133921"/>
                </a:lnTo>
                <a:lnTo>
                  <a:pt x="1470800" y="157254"/>
                </a:lnTo>
                <a:lnTo>
                  <a:pt x="1507676" y="182064"/>
                </a:lnTo>
                <a:lnTo>
                  <a:pt x="1541358" y="208262"/>
                </a:lnTo>
                <a:lnTo>
                  <a:pt x="1571684" y="235759"/>
                </a:lnTo>
                <a:lnTo>
                  <a:pt x="1598493" y="264468"/>
                </a:lnTo>
                <a:lnTo>
                  <a:pt x="1640910" y="325165"/>
                </a:lnTo>
                <a:lnTo>
                  <a:pt x="1667311" y="389644"/>
                </a:lnTo>
                <a:lnTo>
                  <a:pt x="1676400" y="457200"/>
                </a:lnTo>
                <a:lnTo>
                  <a:pt x="1674100" y="491317"/>
                </a:lnTo>
                <a:lnTo>
                  <a:pt x="1656194" y="557423"/>
                </a:lnTo>
                <a:lnTo>
                  <a:pt x="1621623" y="620100"/>
                </a:lnTo>
                <a:lnTo>
                  <a:pt x="1571684" y="678640"/>
                </a:lnTo>
                <a:lnTo>
                  <a:pt x="1541358" y="706137"/>
                </a:lnTo>
                <a:lnTo>
                  <a:pt x="1507676" y="732335"/>
                </a:lnTo>
                <a:lnTo>
                  <a:pt x="1470800" y="757145"/>
                </a:lnTo>
                <a:lnTo>
                  <a:pt x="1430893" y="780478"/>
                </a:lnTo>
                <a:lnTo>
                  <a:pt x="1388116" y="802246"/>
                </a:lnTo>
                <a:lnTo>
                  <a:pt x="1342633" y="822361"/>
                </a:lnTo>
                <a:lnTo>
                  <a:pt x="1294604" y="840735"/>
                </a:lnTo>
                <a:lnTo>
                  <a:pt x="1244192" y="857277"/>
                </a:lnTo>
                <a:lnTo>
                  <a:pt x="1191559" y="871902"/>
                </a:lnTo>
                <a:lnTo>
                  <a:pt x="1136867" y="884518"/>
                </a:lnTo>
                <a:lnTo>
                  <a:pt x="1080279" y="895040"/>
                </a:lnTo>
                <a:lnTo>
                  <a:pt x="1021956" y="903377"/>
                </a:lnTo>
                <a:lnTo>
                  <a:pt x="962060" y="909442"/>
                </a:lnTo>
                <a:lnTo>
                  <a:pt x="900754" y="913145"/>
                </a:lnTo>
                <a:lnTo>
                  <a:pt x="838200" y="914400"/>
                </a:lnTo>
                <a:lnTo>
                  <a:pt x="775643" y="913145"/>
                </a:lnTo>
                <a:lnTo>
                  <a:pt x="714336" y="909442"/>
                </a:lnTo>
                <a:lnTo>
                  <a:pt x="654439" y="903377"/>
                </a:lnTo>
                <a:lnTo>
                  <a:pt x="596115" y="895040"/>
                </a:lnTo>
                <a:lnTo>
                  <a:pt x="539526" y="884518"/>
                </a:lnTo>
                <a:lnTo>
                  <a:pt x="484834" y="871902"/>
                </a:lnTo>
                <a:lnTo>
                  <a:pt x="432201" y="857277"/>
                </a:lnTo>
                <a:lnTo>
                  <a:pt x="381790" y="840735"/>
                </a:lnTo>
                <a:lnTo>
                  <a:pt x="333761" y="822361"/>
                </a:lnTo>
                <a:lnTo>
                  <a:pt x="288278" y="802246"/>
                </a:lnTo>
                <a:lnTo>
                  <a:pt x="245502" y="780478"/>
                </a:lnTo>
                <a:lnTo>
                  <a:pt x="205595" y="757145"/>
                </a:lnTo>
                <a:lnTo>
                  <a:pt x="168720" y="732335"/>
                </a:lnTo>
                <a:lnTo>
                  <a:pt x="135038" y="706137"/>
                </a:lnTo>
                <a:lnTo>
                  <a:pt x="104712" y="678640"/>
                </a:lnTo>
                <a:lnTo>
                  <a:pt x="77903" y="649931"/>
                </a:lnTo>
                <a:lnTo>
                  <a:pt x="35488" y="589234"/>
                </a:lnTo>
                <a:lnTo>
                  <a:pt x="9088" y="524755"/>
                </a:lnTo>
                <a:lnTo>
                  <a:pt x="0" y="457200"/>
                </a:lnTo>
                <a:close/>
              </a:path>
            </a:pathLst>
          </a:custGeom>
          <a:ln w="25400">
            <a:solidFill>
              <a:srgbClr val="385D89"/>
            </a:solidFill>
          </a:ln>
        </p:spPr>
        <p:txBody>
          <a:bodyPr wrap="square" lIns="0" tIns="0" rIns="0" bIns="0" rtlCol="0"/>
          <a:lstStyle/>
          <a:p>
            <a:endParaRPr/>
          </a:p>
        </p:txBody>
      </p:sp>
      <p:sp>
        <p:nvSpPr>
          <p:cNvPr id="6" name="object 6"/>
          <p:cNvSpPr txBox="1"/>
          <p:nvPr/>
        </p:nvSpPr>
        <p:spPr>
          <a:xfrm>
            <a:off x="1188821" y="1892553"/>
            <a:ext cx="82169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Burglary</a:t>
            </a:r>
            <a:endParaRPr sz="1800">
              <a:latin typeface="Calibri"/>
              <a:cs typeface="Calibri"/>
            </a:endParaRPr>
          </a:p>
        </p:txBody>
      </p:sp>
      <p:sp>
        <p:nvSpPr>
          <p:cNvPr id="7" name="object 7"/>
          <p:cNvSpPr/>
          <p:nvPr/>
        </p:nvSpPr>
        <p:spPr>
          <a:xfrm>
            <a:off x="5791200" y="1562608"/>
            <a:ext cx="1676400" cy="914400"/>
          </a:xfrm>
          <a:custGeom>
            <a:avLst/>
            <a:gdLst/>
            <a:ahLst/>
            <a:cxnLst/>
            <a:rect l="l" t="t" r="r" b="b"/>
            <a:pathLst>
              <a:path w="1676400" h="914400">
                <a:moveTo>
                  <a:pt x="0" y="457200"/>
                </a:moveTo>
                <a:lnTo>
                  <a:pt x="9088" y="389644"/>
                </a:lnTo>
                <a:lnTo>
                  <a:pt x="35489" y="325165"/>
                </a:lnTo>
                <a:lnTo>
                  <a:pt x="77906" y="264468"/>
                </a:lnTo>
                <a:lnTo>
                  <a:pt x="104715" y="235759"/>
                </a:lnTo>
                <a:lnTo>
                  <a:pt x="135041" y="208262"/>
                </a:lnTo>
                <a:lnTo>
                  <a:pt x="168723" y="182064"/>
                </a:lnTo>
                <a:lnTo>
                  <a:pt x="205599" y="157254"/>
                </a:lnTo>
                <a:lnTo>
                  <a:pt x="245506" y="133921"/>
                </a:lnTo>
                <a:lnTo>
                  <a:pt x="288283" y="112153"/>
                </a:lnTo>
                <a:lnTo>
                  <a:pt x="333766" y="92038"/>
                </a:lnTo>
                <a:lnTo>
                  <a:pt x="381795" y="73664"/>
                </a:lnTo>
                <a:lnTo>
                  <a:pt x="432207" y="57122"/>
                </a:lnTo>
                <a:lnTo>
                  <a:pt x="484840" y="42497"/>
                </a:lnTo>
                <a:lnTo>
                  <a:pt x="539532" y="29881"/>
                </a:lnTo>
                <a:lnTo>
                  <a:pt x="596120" y="19359"/>
                </a:lnTo>
                <a:lnTo>
                  <a:pt x="654443" y="11022"/>
                </a:lnTo>
                <a:lnTo>
                  <a:pt x="714339" y="4957"/>
                </a:lnTo>
                <a:lnTo>
                  <a:pt x="775645" y="1254"/>
                </a:lnTo>
                <a:lnTo>
                  <a:pt x="838200" y="0"/>
                </a:lnTo>
                <a:lnTo>
                  <a:pt x="900754" y="1254"/>
                </a:lnTo>
                <a:lnTo>
                  <a:pt x="962060" y="4957"/>
                </a:lnTo>
                <a:lnTo>
                  <a:pt x="1021956" y="11022"/>
                </a:lnTo>
                <a:lnTo>
                  <a:pt x="1080279" y="19359"/>
                </a:lnTo>
                <a:lnTo>
                  <a:pt x="1136867" y="29881"/>
                </a:lnTo>
                <a:lnTo>
                  <a:pt x="1191559" y="42497"/>
                </a:lnTo>
                <a:lnTo>
                  <a:pt x="1244192" y="57122"/>
                </a:lnTo>
                <a:lnTo>
                  <a:pt x="1294604" y="73664"/>
                </a:lnTo>
                <a:lnTo>
                  <a:pt x="1342633" y="92038"/>
                </a:lnTo>
                <a:lnTo>
                  <a:pt x="1388116" y="112153"/>
                </a:lnTo>
                <a:lnTo>
                  <a:pt x="1430893" y="133921"/>
                </a:lnTo>
                <a:lnTo>
                  <a:pt x="1470800" y="157254"/>
                </a:lnTo>
                <a:lnTo>
                  <a:pt x="1507676" y="182064"/>
                </a:lnTo>
                <a:lnTo>
                  <a:pt x="1541358" y="208262"/>
                </a:lnTo>
                <a:lnTo>
                  <a:pt x="1571684" y="235759"/>
                </a:lnTo>
                <a:lnTo>
                  <a:pt x="1598493" y="264468"/>
                </a:lnTo>
                <a:lnTo>
                  <a:pt x="1640910" y="325165"/>
                </a:lnTo>
                <a:lnTo>
                  <a:pt x="1667311" y="389644"/>
                </a:lnTo>
                <a:lnTo>
                  <a:pt x="1676400" y="457200"/>
                </a:lnTo>
                <a:lnTo>
                  <a:pt x="1674100" y="491317"/>
                </a:lnTo>
                <a:lnTo>
                  <a:pt x="1656194" y="557423"/>
                </a:lnTo>
                <a:lnTo>
                  <a:pt x="1621623" y="620100"/>
                </a:lnTo>
                <a:lnTo>
                  <a:pt x="1571684" y="678640"/>
                </a:lnTo>
                <a:lnTo>
                  <a:pt x="1541358" y="706137"/>
                </a:lnTo>
                <a:lnTo>
                  <a:pt x="1507676" y="732335"/>
                </a:lnTo>
                <a:lnTo>
                  <a:pt x="1470800" y="757145"/>
                </a:lnTo>
                <a:lnTo>
                  <a:pt x="1430893" y="780478"/>
                </a:lnTo>
                <a:lnTo>
                  <a:pt x="1388116" y="802246"/>
                </a:lnTo>
                <a:lnTo>
                  <a:pt x="1342633" y="822361"/>
                </a:lnTo>
                <a:lnTo>
                  <a:pt x="1294604" y="840735"/>
                </a:lnTo>
                <a:lnTo>
                  <a:pt x="1244192" y="857277"/>
                </a:lnTo>
                <a:lnTo>
                  <a:pt x="1191559" y="871902"/>
                </a:lnTo>
                <a:lnTo>
                  <a:pt x="1136867" y="884518"/>
                </a:lnTo>
                <a:lnTo>
                  <a:pt x="1080279" y="895040"/>
                </a:lnTo>
                <a:lnTo>
                  <a:pt x="1021956" y="903377"/>
                </a:lnTo>
                <a:lnTo>
                  <a:pt x="962060" y="909442"/>
                </a:lnTo>
                <a:lnTo>
                  <a:pt x="900754" y="913145"/>
                </a:lnTo>
                <a:lnTo>
                  <a:pt x="838200" y="914400"/>
                </a:lnTo>
                <a:lnTo>
                  <a:pt x="775645" y="913145"/>
                </a:lnTo>
                <a:lnTo>
                  <a:pt x="714339" y="909442"/>
                </a:lnTo>
                <a:lnTo>
                  <a:pt x="654443" y="903377"/>
                </a:lnTo>
                <a:lnTo>
                  <a:pt x="596120" y="895040"/>
                </a:lnTo>
                <a:lnTo>
                  <a:pt x="539532" y="884518"/>
                </a:lnTo>
                <a:lnTo>
                  <a:pt x="484840" y="871902"/>
                </a:lnTo>
                <a:lnTo>
                  <a:pt x="432207" y="857277"/>
                </a:lnTo>
                <a:lnTo>
                  <a:pt x="381795" y="840735"/>
                </a:lnTo>
                <a:lnTo>
                  <a:pt x="333766" y="822361"/>
                </a:lnTo>
                <a:lnTo>
                  <a:pt x="288283" y="802246"/>
                </a:lnTo>
                <a:lnTo>
                  <a:pt x="245506" y="780478"/>
                </a:lnTo>
                <a:lnTo>
                  <a:pt x="205599" y="757145"/>
                </a:lnTo>
                <a:lnTo>
                  <a:pt x="168723" y="732335"/>
                </a:lnTo>
                <a:lnTo>
                  <a:pt x="135041" y="706137"/>
                </a:lnTo>
                <a:lnTo>
                  <a:pt x="104715" y="678640"/>
                </a:lnTo>
                <a:lnTo>
                  <a:pt x="77906" y="649931"/>
                </a:lnTo>
                <a:lnTo>
                  <a:pt x="35489" y="589234"/>
                </a:lnTo>
                <a:lnTo>
                  <a:pt x="9088" y="524755"/>
                </a:lnTo>
                <a:lnTo>
                  <a:pt x="0" y="457200"/>
                </a:lnTo>
                <a:close/>
              </a:path>
            </a:pathLst>
          </a:custGeom>
          <a:ln w="25400">
            <a:solidFill>
              <a:srgbClr val="385D89"/>
            </a:solidFill>
          </a:ln>
        </p:spPr>
        <p:txBody>
          <a:bodyPr wrap="square" lIns="0" tIns="0" rIns="0" bIns="0" rtlCol="0"/>
          <a:lstStyle/>
          <a:p>
            <a:endParaRPr/>
          </a:p>
        </p:txBody>
      </p:sp>
      <p:sp>
        <p:nvSpPr>
          <p:cNvPr id="8" name="object 8"/>
          <p:cNvSpPr txBox="1"/>
          <p:nvPr/>
        </p:nvSpPr>
        <p:spPr>
          <a:xfrm>
            <a:off x="6311646" y="1717928"/>
            <a:ext cx="637540" cy="289823"/>
          </a:xfrm>
          <a:prstGeom prst="rect">
            <a:avLst/>
          </a:prstGeom>
        </p:spPr>
        <p:txBody>
          <a:bodyPr vert="horz" wrap="square" lIns="0" tIns="12700" rIns="0" bIns="0" rtlCol="0">
            <a:spAutoFit/>
          </a:bodyPr>
          <a:lstStyle/>
          <a:p>
            <a:pPr marL="12700" marR="5080" indent="53340">
              <a:lnSpc>
                <a:spcPct val="100000"/>
              </a:lnSpc>
              <a:spcBef>
                <a:spcPts val="100"/>
              </a:spcBef>
            </a:pPr>
            <a:r>
              <a:rPr lang="en-US" sz="1800" dirty="0">
                <a:latin typeface="Calibri"/>
                <a:cs typeface="Calibri"/>
              </a:rPr>
              <a:t>Fire</a:t>
            </a:r>
            <a:endParaRPr sz="1800" dirty="0">
              <a:latin typeface="Calibri"/>
              <a:cs typeface="Calibri"/>
            </a:endParaRPr>
          </a:p>
        </p:txBody>
      </p:sp>
      <p:sp>
        <p:nvSpPr>
          <p:cNvPr id="9" name="object 9"/>
          <p:cNvSpPr/>
          <p:nvPr/>
        </p:nvSpPr>
        <p:spPr>
          <a:xfrm>
            <a:off x="6172200" y="4724400"/>
            <a:ext cx="1676400" cy="914400"/>
          </a:xfrm>
          <a:custGeom>
            <a:avLst/>
            <a:gdLst/>
            <a:ahLst/>
            <a:cxnLst/>
            <a:rect l="l" t="t" r="r" b="b"/>
            <a:pathLst>
              <a:path w="1676400" h="914400">
                <a:moveTo>
                  <a:pt x="0" y="457200"/>
                </a:moveTo>
                <a:lnTo>
                  <a:pt x="9088" y="389644"/>
                </a:lnTo>
                <a:lnTo>
                  <a:pt x="35489" y="325165"/>
                </a:lnTo>
                <a:lnTo>
                  <a:pt x="77906" y="264468"/>
                </a:lnTo>
                <a:lnTo>
                  <a:pt x="104715" y="235759"/>
                </a:lnTo>
                <a:lnTo>
                  <a:pt x="135041" y="208262"/>
                </a:lnTo>
                <a:lnTo>
                  <a:pt x="168723" y="182064"/>
                </a:lnTo>
                <a:lnTo>
                  <a:pt x="205599" y="157254"/>
                </a:lnTo>
                <a:lnTo>
                  <a:pt x="245506" y="133921"/>
                </a:lnTo>
                <a:lnTo>
                  <a:pt x="288283" y="112153"/>
                </a:lnTo>
                <a:lnTo>
                  <a:pt x="333766" y="92038"/>
                </a:lnTo>
                <a:lnTo>
                  <a:pt x="381795" y="73664"/>
                </a:lnTo>
                <a:lnTo>
                  <a:pt x="432207" y="57122"/>
                </a:lnTo>
                <a:lnTo>
                  <a:pt x="484840" y="42497"/>
                </a:lnTo>
                <a:lnTo>
                  <a:pt x="539532" y="29881"/>
                </a:lnTo>
                <a:lnTo>
                  <a:pt x="596120" y="19359"/>
                </a:lnTo>
                <a:lnTo>
                  <a:pt x="654443" y="11022"/>
                </a:lnTo>
                <a:lnTo>
                  <a:pt x="714339" y="4957"/>
                </a:lnTo>
                <a:lnTo>
                  <a:pt x="775645" y="1254"/>
                </a:lnTo>
                <a:lnTo>
                  <a:pt x="838200" y="0"/>
                </a:lnTo>
                <a:lnTo>
                  <a:pt x="900754" y="1254"/>
                </a:lnTo>
                <a:lnTo>
                  <a:pt x="962060" y="4957"/>
                </a:lnTo>
                <a:lnTo>
                  <a:pt x="1021956" y="11022"/>
                </a:lnTo>
                <a:lnTo>
                  <a:pt x="1080279" y="19359"/>
                </a:lnTo>
                <a:lnTo>
                  <a:pt x="1136867" y="29881"/>
                </a:lnTo>
                <a:lnTo>
                  <a:pt x="1191559" y="42497"/>
                </a:lnTo>
                <a:lnTo>
                  <a:pt x="1244192" y="57122"/>
                </a:lnTo>
                <a:lnTo>
                  <a:pt x="1294604" y="73664"/>
                </a:lnTo>
                <a:lnTo>
                  <a:pt x="1342633" y="92038"/>
                </a:lnTo>
                <a:lnTo>
                  <a:pt x="1388116" y="112153"/>
                </a:lnTo>
                <a:lnTo>
                  <a:pt x="1430893" y="133921"/>
                </a:lnTo>
                <a:lnTo>
                  <a:pt x="1470800" y="157254"/>
                </a:lnTo>
                <a:lnTo>
                  <a:pt x="1507676" y="182064"/>
                </a:lnTo>
                <a:lnTo>
                  <a:pt x="1541358" y="208262"/>
                </a:lnTo>
                <a:lnTo>
                  <a:pt x="1571684" y="235759"/>
                </a:lnTo>
                <a:lnTo>
                  <a:pt x="1598493" y="264468"/>
                </a:lnTo>
                <a:lnTo>
                  <a:pt x="1640910" y="325165"/>
                </a:lnTo>
                <a:lnTo>
                  <a:pt x="1667311" y="389644"/>
                </a:lnTo>
                <a:lnTo>
                  <a:pt x="1676400" y="457200"/>
                </a:lnTo>
                <a:lnTo>
                  <a:pt x="1674100" y="491317"/>
                </a:lnTo>
                <a:lnTo>
                  <a:pt x="1656194" y="557423"/>
                </a:lnTo>
                <a:lnTo>
                  <a:pt x="1621623" y="620100"/>
                </a:lnTo>
                <a:lnTo>
                  <a:pt x="1571684" y="678640"/>
                </a:lnTo>
                <a:lnTo>
                  <a:pt x="1541358" y="706137"/>
                </a:lnTo>
                <a:lnTo>
                  <a:pt x="1507676" y="732335"/>
                </a:lnTo>
                <a:lnTo>
                  <a:pt x="1470800" y="757145"/>
                </a:lnTo>
                <a:lnTo>
                  <a:pt x="1430893" y="780478"/>
                </a:lnTo>
                <a:lnTo>
                  <a:pt x="1388116" y="802246"/>
                </a:lnTo>
                <a:lnTo>
                  <a:pt x="1342633" y="822361"/>
                </a:lnTo>
                <a:lnTo>
                  <a:pt x="1294604" y="840735"/>
                </a:lnTo>
                <a:lnTo>
                  <a:pt x="1244192" y="857277"/>
                </a:lnTo>
                <a:lnTo>
                  <a:pt x="1191559" y="871902"/>
                </a:lnTo>
                <a:lnTo>
                  <a:pt x="1136867" y="884518"/>
                </a:lnTo>
                <a:lnTo>
                  <a:pt x="1080279" y="895040"/>
                </a:lnTo>
                <a:lnTo>
                  <a:pt x="1021956" y="903377"/>
                </a:lnTo>
                <a:lnTo>
                  <a:pt x="962060" y="909442"/>
                </a:lnTo>
                <a:lnTo>
                  <a:pt x="900754" y="913145"/>
                </a:lnTo>
                <a:lnTo>
                  <a:pt x="838200" y="914400"/>
                </a:lnTo>
                <a:lnTo>
                  <a:pt x="775645" y="913145"/>
                </a:lnTo>
                <a:lnTo>
                  <a:pt x="714339" y="909442"/>
                </a:lnTo>
                <a:lnTo>
                  <a:pt x="654443" y="903377"/>
                </a:lnTo>
                <a:lnTo>
                  <a:pt x="596120" y="895040"/>
                </a:lnTo>
                <a:lnTo>
                  <a:pt x="539532" y="884518"/>
                </a:lnTo>
                <a:lnTo>
                  <a:pt x="484840" y="871902"/>
                </a:lnTo>
                <a:lnTo>
                  <a:pt x="432207" y="857277"/>
                </a:lnTo>
                <a:lnTo>
                  <a:pt x="381795" y="840735"/>
                </a:lnTo>
                <a:lnTo>
                  <a:pt x="333766" y="822361"/>
                </a:lnTo>
                <a:lnTo>
                  <a:pt x="288283" y="802246"/>
                </a:lnTo>
                <a:lnTo>
                  <a:pt x="245506" y="780478"/>
                </a:lnTo>
                <a:lnTo>
                  <a:pt x="205599" y="757145"/>
                </a:lnTo>
                <a:lnTo>
                  <a:pt x="168723" y="732335"/>
                </a:lnTo>
                <a:lnTo>
                  <a:pt x="135041" y="706137"/>
                </a:lnTo>
                <a:lnTo>
                  <a:pt x="104715" y="678640"/>
                </a:lnTo>
                <a:lnTo>
                  <a:pt x="77906" y="649931"/>
                </a:lnTo>
                <a:lnTo>
                  <a:pt x="35489" y="589234"/>
                </a:lnTo>
                <a:lnTo>
                  <a:pt x="9088" y="524755"/>
                </a:lnTo>
                <a:lnTo>
                  <a:pt x="0" y="457200"/>
                </a:lnTo>
                <a:close/>
              </a:path>
            </a:pathLst>
          </a:custGeom>
          <a:ln w="25400">
            <a:solidFill>
              <a:srgbClr val="385D89"/>
            </a:solidFill>
          </a:ln>
        </p:spPr>
        <p:txBody>
          <a:bodyPr wrap="square" lIns="0" tIns="0" rIns="0" bIns="0" rtlCol="0"/>
          <a:lstStyle/>
          <a:p>
            <a:endParaRPr/>
          </a:p>
        </p:txBody>
      </p:sp>
      <p:sp>
        <p:nvSpPr>
          <p:cNvPr id="10" name="object 10"/>
          <p:cNvSpPr txBox="1"/>
          <p:nvPr/>
        </p:nvSpPr>
        <p:spPr>
          <a:xfrm>
            <a:off x="6502400" y="5017389"/>
            <a:ext cx="1017269" cy="299720"/>
          </a:xfrm>
          <a:prstGeom prst="rect">
            <a:avLst/>
          </a:prstGeom>
        </p:spPr>
        <p:txBody>
          <a:bodyPr vert="horz" wrap="square" lIns="0" tIns="12700" rIns="0" bIns="0" rtlCol="0">
            <a:spAutoFit/>
          </a:bodyPr>
          <a:lstStyle/>
          <a:p>
            <a:pPr marL="12700">
              <a:lnSpc>
                <a:spcPct val="100000"/>
              </a:lnSpc>
              <a:spcBef>
                <a:spcPts val="100"/>
              </a:spcBef>
            </a:pPr>
            <a:r>
              <a:rPr lang="en-US" sz="1800" b="1" dirty="0">
                <a:latin typeface="Calibri"/>
                <a:cs typeface="Calibri"/>
              </a:rPr>
              <a:t>P2</a:t>
            </a:r>
            <a:r>
              <a:rPr sz="1800" b="1" spc="-10" dirty="0">
                <a:latin typeface="Calibri"/>
                <a:cs typeface="Calibri"/>
              </a:rPr>
              <a:t> Calls</a:t>
            </a:r>
            <a:endParaRPr sz="1800" dirty="0">
              <a:latin typeface="Calibri"/>
              <a:cs typeface="Calibri"/>
            </a:endParaRPr>
          </a:p>
        </p:txBody>
      </p:sp>
      <p:sp>
        <p:nvSpPr>
          <p:cNvPr id="11" name="object 11"/>
          <p:cNvSpPr/>
          <p:nvPr/>
        </p:nvSpPr>
        <p:spPr>
          <a:xfrm>
            <a:off x="914400" y="4876800"/>
            <a:ext cx="1676400" cy="914400"/>
          </a:xfrm>
          <a:custGeom>
            <a:avLst/>
            <a:gdLst/>
            <a:ahLst/>
            <a:cxnLst/>
            <a:rect l="l" t="t" r="r" b="b"/>
            <a:pathLst>
              <a:path w="1676400" h="914400">
                <a:moveTo>
                  <a:pt x="0" y="457200"/>
                </a:moveTo>
                <a:lnTo>
                  <a:pt x="9088" y="389644"/>
                </a:lnTo>
                <a:lnTo>
                  <a:pt x="35489" y="325165"/>
                </a:lnTo>
                <a:lnTo>
                  <a:pt x="77906" y="264468"/>
                </a:lnTo>
                <a:lnTo>
                  <a:pt x="104715" y="235759"/>
                </a:lnTo>
                <a:lnTo>
                  <a:pt x="135041" y="208262"/>
                </a:lnTo>
                <a:lnTo>
                  <a:pt x="168723" y="182064"/>
                </a:lnTo>
                <a:lnTo>
                  <a:pt x="205599" y="157254"/>
                </a:lnTo>
                <a:lnTo>
                  <a:pt x="245506" y="133921"/>
                </a:lnTo>
                <a:lnTo>
                  <a:pt x="288283" y="112153"/>
                </a:lnTo>
                <a:lnTo>
                  <a:pt x="333766" y="92038"/>
                </a:lnTo>
                <a:lnTo>
                  <a:pt x="381795" y="73664"/>
                </a:lnTo>
                <a:lnTo>
                  <a:pt x="432207" y="57122"/>
                </a:lnTo>
                <a:lnTo>
                  <a:pt x="484840" y="42497"/>
                </a:lnTo>
                <a:lnTo>
                  <a:pt x="539532" y="29881"/>
                </a:lnTo>
                <a:lnTo>
                  <a:pt x="596120" y="19359"/>
                </a:lnTo>
                <a:lnTo>
                  <a:pt x="654443" y="11022"/>
                </a:lnTo>
                <a:lnTo>
                  <a:pt x="714339" y="4957"/>
                </a:lnTo>
                <a:lnTo>
                  <a:pt x="775645" y="1254"/>
                </a:lnTo>
                <a:lnTo>
                  <a:pt x="838200" y="0"/>
                </a:lnTo>
                <a:lnTo>
                  <a:pt x="900754" y="1254"/>
                </a:lnTo>
                <a:lnTo>
                  <a:pt x="962060" y="4957"/>
                </a:lnTo>
                <a:lnTo>
                  <a:pt x="1021956" y="11022"/>
                </a:lnTo>
                <a:lnTo>
                  <a:pt x="1080279" y="19359"/>
                </a:lnTo>
                <a:lnTo>
                  <a:pt x="1136867" y="29881"/>
                </a:lnTo>
                <a:lnTo>
                  <a:pt x="1191559" y="42497"/>
                </a:lnTo>
                <a:lnTo>
                  <a:pt x="1244192" y="57122"/>
                </a:lnTo>
                <a:lnTo>
                  <a:pt x="1294604" y="73664"/>
                </a:lnTo>
                <a:lnTo>
                  <a:pt x="1342633" y="92038"/>
                </a:lnTo>
                <a:lnTo>
                  <a:pt x="1388116" y="112153"/>
                </a:lnTo>
                <a:lnTo>
                  <a:pt x="1430893" y="133921"/>
                </a:lnTo>
                <a:lnTo>
                  <a:pt x="1470800" y="157254"/>
                </a:lnTo>
                <a:lnTo>
                  <a:pt x="1507676" y="182064"/>
                </a:lnTo>
                <a:lnTo>
                  <a:pt x="1541358" y="208262"/>
                </a:lnTo>
                <a:lnTo>
                  <a:pt x="1571684" y="235759"/>
                </a:lnTo>
                <a:lnTo>
                  <a:pt x="1598493" y="264468"/>
                </a:lnTo>
                <a:lnTo>
                  <a:pt x="1640910" y="325165"/>
                </a:lnTo>
                <a:lnTo>
                  <a:pt x="1667311" y="389644"/>
                </a:lnTo>
                <a:lnTo>
                  <a:pt x="1676400" y="457200"/>
                </a:lnTo>
                <a:lnTo>
                  <a:pt x="1674100" y="491317"/>
                </a:lnTo>
                <a:lnTo>
                  <a:pt x="1656194" y="557423"/>
                </a:lnTo>
                <a:lnTo>
                  <a:pt x="1621623" y="620100"/>
                </a:lnTo>
                <a:lnTo>
                  <a:pt x="1571684" y="678640"/>
                </a:lnTo>
                <a:lnTo>
                  <a:pt x="1541358" y="706137"/>
                </a:lnTo>
                <a:lnTo>
                  <a:pt x="1507676" y="732335"/>
                </a:lnTo>
                <a:lnTo>
                  <a:pt x="1470800" y="757145"/>
                </a:lnTo>
                <a:lnTo>
                  <a:pt x="1430893" y="780478"/>
                </a:lnTo>
                <a:lnTo>
                  <a:pt x="1388116" y="802246"/>
                </a:lnTo>
                <a:lnTo>
                  <a:pt x="1342633" y="822361"/>
                </a:lnTo>
                <a:lnTo>
                  <a:pt x="1294604" y="840735"/>
                </a:lnTo>
                <a:lnTo>
                  <a:pt x="1244192" y="857277"/>
                </a:lnTo>
                <a:lnTo>
                  <a:pt x="1191559" y="871902"/>
                </a:lnTo>
                <a:lnTo>
                  <a:pt x="1136867" y="884518"/>
                </a:lnTo>
                <a:lnTo>
                  <a:pt x="1080279" y="895040"/>
                </a:lnTo>
                <a:lnTo>
                  <a:pt x="1021956" y="903377"/>
                </a:lnTo>
                <a:lnTo>
                  <a:pt x="962060" y="909442"/>
                </a:lnTo>
                <a:lnTo>
                  <a:pt x="900754" y="913145"/>
                </a:lnTo>
                <a:lnTo>
                  <a:pt x="838200" y="914400"/>
                </a:lnTo>
                <a:lnTo>
                  <a:pt x="775645" y="913145"/>
                </a:lnTo>
                <a:lnTo>
                  <a:pt x="714339" y="909442"/>
                </a:lnTo>
                <a:lnTo>
                  <a:pt x="654443" y="903377"/>
                </a:lnTo>
                <a:lnTo>
                  <a:pt x="596120" y="895040"/>
                </a:lnTo>
                <a:lnTo>
                  <a:pt x="539532" y="884518"/>
                </a:lnTo>
                <a:lnTo>
                  <a:pt x="484840" y="871902"/>
                </a:lnTo>
                <a:lnTo>
                  <a:pt x="432207" y="857277"/>
                </a:lnTo>
                <a:lnTo>
                  <a:pt x="381795" y="840735"/>
                </a:lnTo>
                <a:lnTo>
                  <a:pt x="333766" y="822361"/>
                </a:lnTo>
                <a:lnTo>
                  <a:pt x="288283" y="802246"/>
                </a:lnTo>
                <a:lnTo>
                  <a:pt x="245506" y="780478"/>
                </a:lnTo>
                <a:lnTo>
                  <a:pt x="205599" y="757145"/>
                </a:lnTo>
                <a:lnTo>
                  <a:pt x="168723" y="732335"/>
                </a:lnTo>
                <a:lnTo>
                  <a:pt x="135041" y="706137"/>
                </a:lnTo>
                <a:lnTo>
                  <a:pt x="104715" y="678640"/>
                </a:lnTo>
                <a:lnTo>
                  <a:pt x="77906" y="649931"/>
                </a:lnTo>
                <a:lnTo>
                  <a:pt x="35489" y="589234"/>
                </a:lnTo>
                <a:lnTo>
                  <a:pt x="9088" y="524755"/>
                </a:lnTo>
                <a:lnTo>
                  <a:pt x="0" y="457200"/>
                </a:lnTo>
                <a:close/>
              </a:path>
            </a:pathLst>
          </a:custGeom>
          <a:ln w="25400">
            <a:solidFill>
              <a:srgbClr val="385D89"/>
            </a:solidFill>
          </a:ln>
        </p:spPr>
        <p:txBody>
          <a:bodyPr wrap="square" lIns="0" tIns="0" rIns="0" bIns="0" rtlCol="0"/>
          <a:lstStyle/>
          <a:p>
            <a:endParaRPr/>
          </a:p>
        </p:txBody>
      </p:sp>
      <p:sp>
        <p:nvSpPr>
          <p:cNvPr id="12" name="object 12"/>
          <p:cNvSpPr txBox="1"/>
          <p:nvPr/>
        </p:nvSpPr>
        <p:spPr>
          <a:xfrm>
            <a:off x="1274191" y="5169789"/>
            <a:ext cx="956944" cy="299720"/>
          </a:xfrm>
          <a:prstGeom prst="rect">
            <a:avLst/>
          </a:prstGeom>
        </p:spPr>
        <p:txBody>
          <a:bodyPr vert="horz" wrap="square" lIns="0" tIns="12700" rIns="0" bIns="0" rtlCol="0">
            <a:spAutoFit/>
          </a:bodyPr>
          <a:lstStyle/>
          <a:p>
            <a:pPr marL="12700">
              <a:lnSpc>
                <a:spcPct val="100000"/>
              </a:lnSpc>
              <a:spcBef>
                <a:spcPts val="100"/>
              </a:spcBef>
            </a:pPr>
            <a:r>
              <a:rPr lang="en-US" sz="1800" b="1" dirty="0">
                <a:latin typeface="Calibri"/>
                <a:cs typeface="Calibri"/>
              </a:rPr>
              <a:t>P1 calls</a:t>
            </a:r>
            <a:endParaRPr sz="1800" b="1" dirty="0">
              <a:latin typeface="Calibri"/>
              <a:cs typeface="Calibri"/>
            </a:endParaRPr>
          </a:p>
        </p:txBody>
      </p:sp>
      <p:graphicFrame>
        <p:nvGraphicFramePr>
          <p:cNvPr id="13" name="object 13"/>
          <p:cNvGraphicFramePr>
            <a:graphicFrameLocks noGrp="1"/>
          </p:cNvGraphicFramePr>
          <p:nvPr/>
        </p:nvGraphicFramePr>
        <p:xfrm>
          <a:off x="1036840" y="984250"/>
          <a:ext cx="762000" cy="756920"/>
        </p:xfrm>
        <a:graphic>
          <a:graphicData uri="http://schemas.openxmlformats.org/drawingml/2006/table">
            <a:tbl>
              <a:tblPr firstRow="1" bandRow="1">
                <a:tableStyleId>{2D5ABB26-0587-4C30-8999-92F81FD0307C}</a:tableStyleId>
              </a:tblPr>
              <a:tblGrid>
                <a:gridCol w="762000">
                  <a:extLst>
                    <a:ext uri="{9D8B030D-6E8A-4147-A177-3AD203B41FA5}">
                      <a16:colId xmlns:a16="http://schemas.microsoft.com/office/drawing/2014/main" val="20000"/>
                    </a:ext>
                  </a:extLst>
                </a:gridCol>
              </a:tblGrid>
              <a:tr h="378460">
                <a:tc>
                  <a:txBody>
                    <a:bodyPr/>
                    <a:lstStyle/>
                    <a:p>
                      <a:pPr marL="91440">
                        <a:lnSpc>
                          <a:spcPct val="100000"/>
                        </a:lnSpc>
                        <a:spcBef>
                          <a:spcPts val="240"/>
                        </a:spcBef>
                      </a:pPr>
                      <a:r>
                        <a:rPr sz="1800" b="1" spc="-20" dirty="0">
                          <a:solidFill>
                            <a:srgbClr val="FFFFFF"/>
                          </a:solidFill>
                          <a:latin typeface="Calibri"/>
                          <a:cs typeface="Calibri"/>
                        </a:rPr>
                        <a:t>P(B)</a:t>
                      </a:r>
                      <a:endParaRPr sz="1800" dirty="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78460">
                <a:tc>
                  <a:txBody>
                    <a:bodyPr/>
                    <a:lstStyle/>
                    <a:p>
                      <a:pPr marL="91440">
                        <a:lnSpc>
                          <a:spcPct val="100000"/>
                        </a:lnSpc>
                        <a:spcBef>
                          <a:spcPts val="240"/>
                        </a:spcBef>
                      </a:pPr>
                      <a:r>
                        <a:rPr sz="1800" spc="-10" dirty="0">
                          <a:latin typeface="Calibri"/>
                          <a:cs typeface="Calibri"/>
                        </a:rPr>
                        <a:t>0.001</a:t>
                      </a:r>
                      <a:endParaRPr sz="1800" dirty="0">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bl>
          </a:graphicData>
        </a:graphic>
      </p:graphicFrame>
      <p:sp>
        <p:nvSpPr>
          <p:cNvPr id="14" name="object 14"/>
          <p:cNvSpPr/>
          <p:nvPr/>
        </p:nvSpPr>
        <p:spPr>
          <a:xfrm>
            <a:off x="2190242" y="2337942"/>
            <a:ext cx="4227830" cy="2673350"/>
          </a:xfrm>
          <a:custGeom>
            <a:avLst/>
            <a:gdLst/>
            <a:ahLst/>
            <a:cxnLst/>
            <a:rect l="l" t="t" r="r" b="b"/>
            <a:pathLst>
              <a:path w="4227830" h="2673350">
                <a:moveTo>
                  <a:pt x="1560449" y="767842"/>
                </a:moveTo>
                <a:lnTo>
                  <a:pt x="1501902" y="683514"/>
                </a:lnTo>
                <a:lnTo>
                  <a:pt x="1497965" y="682752"/>
                </a:lnTo>
                <a:lnTo>
                  <a:pt x="1495171" y="684784"/>
                </a:lnTo>
                <a:lnTo>
                  <a:pt x="1492250" y="686816"/>
                </a:lnTo>
                <a:lnTo>
                  <a:pt x="1491488" y="690753"/>
                </a:lnTo>
                <a:lnTo>
                  <a:pt x="1530388" y="746760"/>
                </a:lnTo>
                <a:lnTo>
                  <a:pt x="5334" y="36957"/>
                </a:lnTo>
                <a:lnTo>
                  <a:pt x="0" y="48514"/>
                </a:lnTo>
                <a:lnTo>
                  <a:pt x="1525079" y="758329"/>
                </a:lnTo>
                <a:lnTo>
                  <a:pt x="1460627" y="764286"/>
                </a:lnTo>
                <a:lnTo>
                  <a:pt x="1457198" y="764667"/>
                </a:lnTo>
                <a:lnTo>
                  <a:pt x="1455966" y="766064"/>
                </a:lnTo>
                <a:lnTo>
                  <a:pt x="1454543" y="767842"/>
                </a:lnTo>
                <a:lnTo>
                  <a:pt x="1454912" y="771144"/>
                </a:lnTo>
                <a:lnTo>
                  <a:pt x="1455166" y="774700"/>
                </a:lnTo>
                <a:lnTo>
                  <a:pt x="1458341" y="777240"/>
                </a:lnTo>
                <a:lnTo>
                  <a:pt x="1461770" y="776986"/>
                </a:lnTo>
                <a:lnTo>
                  <a:pt x="1556334" y="768223"/>
                </a:lnTo>
                <a:lnTo>
                  <a:pt x="1560449" y="767842"/>
                </a:lnTo>
                <a:close/>
              </a:path>
              <a:path w="4227830" h="2673350">
                <a:moveTo>
                  <a:pt x="1564640" y="1419098"/>
                </a:moveTo>
                <a:lnTo>
                  <a:pt x="1556258" y="1409573"/>
                </a:lnTo>
                <a:lnTo>
                  <a:pt x="177698" y="2643924"/>
                </a:lnTo>
                <a:lnTo>
                  <a:pt x="197612" y="2582418"/>
                </a:lnTo>
                <a:lnTo>
                  <a:pt x="198628" y="2578989"/>
                </a:lnTo>
                <a:lnTo>
                  <a:pt x="196850" y="2575433"/>
                </a:lnTo>
                <a:lnTo>
                  <a:pt x="193548" y="2574417"/>
                </a:lnTo>
                <a:lnTo>
                  <a:pt x="190119" y="2573274"/>
                </a:lnTo>
                <a:lnTo>
                  <a:pt x="186563" y="2575179"/>
                </a:lnTo>
                <a:lnTo>
                  <a:pt x="185547" y="2578481"/>
                </a:lnTo>
                <a:lnTo>
                  <a:pt x="155067" y="2672842"/>
                </a:lnTo>
                <a:lnTo>
                  <a:pt x="172986" y="2669159"/>
                </a:lnTo>
                <a:lnTo>
                  <a:pt x="252095" y="2652903"/>
                </a:lnTo>
                <a:lnTo>
                  <a:pt x="255524" y="2652141"/>
                </a:lnTo>
                <a:lnTo>
                  <a:pt x="257810" y="2648839"/>
                </a:lnTo>
                <a:lnTo>
                  <a:pt x="257048" y="2645410"/>
                </a:lnTo>
                <a:lnTo>
                  <a:pt x="256413" y="2641981"/>
                </a:lnTo>
                <a:lnTo>
                  <a:pt x="252984" y="2639695"/>
                </a:lnTo>
                <a:lnTo>
                  <a:pt x="249555" y="2640457"/>
                </a:lnTo>
                <a:lnTo>
                  <a:pt x="186258" y="2653398"/>
                </a:lnTo>
                <a:lnTo>
                  <a:pt x="1564640" y="1419098"/>
                </a:lnTo>
                <a:close/>
              </a:path>
              <a:path w="4227830" h="2673350">
                <a:moveTo>
                  <a:pt x="3850132" y="10414"/>
                </a:moveTo>
                <a:lnTo>
                  <a:pt x="3842893" y="0"/>
                </a:lnTo>
                <a:lnTo>
                  <a:pt x="2771889" y="742035"/>
                </a:lnTo>
                <a:lnTo>
                  <a:pt x="2799207" y="683387"/>
                </a:lnTo>
                <a:lnTo>
                  <a:pt x="2800731" y="680212"/>
                </a:lnTo>
                <a:lnTo>
                  <a:pt x="2799334" y="676402"/>
                </a:lnTo>
                <a:lnTo>
                  <a:pt x="2796159" y="674878"/>
                </a:lnTo>
                <a:lnTo>
                  <a:pt x="2792984" y="673481"/>
                </a:lnTo>
                <a:lnTo>
                  <a:pt x="2788932" y="674878"/>
                </a:lnTo>
                <a:lnTo>
                  <a:pt x="2789237" y="674878"/>
                </a:lnTo>
                <a:lnTo>
                  <a:pt x="2787777" y="677926"/>
                </a:lnTo>
                <a:lnTo>
                  <a:pt x="2745867" y="767842"/>
                </a:lnTo>
                <a:lnTo>
                  <a:pt x="2771775" y="765810"/>
                </a:lnTo>
                <a:lnTo>
                  <a:pt x="2848102" y="759841"/>
                </a:lnTo>
                <a:lnTo>
                  <a:pt x="2850769" y="756793"/>
                </a:lnTo>
                <a:lnTo>
                  <a:pt x="2850261" y="749808"/>
                </a:lnTo>
                <a:lnTo>
                  <a:pt x="2847086" y="747141"/>
                </a:lnTo>
                <a:lnTo>
                  <a:pt x="2779153" y="752436"/>
                </a:lnTo>
                <a:lnTo>
                  <a:pt x="3850132" y="10414"/>
                </a:lnTo>
                <a:close/>
              </a:path>
              <a:path w="4227830" h="2673350">
                <a:moveTo>
                  <a:pt x="4227449" y="2520442"/>
                </a:moveTo>
                <a:lnTo>
                  <a:pt x="4226369" y="2517902"/>
                </a:lnTo>
                <a:lnTo>
                  <a:pt x="4188714" y="2429129"/>
                </a:lnTo>
                <a:lnTo>
                  <a:pt x="4187444" y="2425954"/>
                </a:lnTo>
                <a:lnTo>
                  <a:pt x="4183634" y="2424430"/>
                </a:lnTo>
                <a:lnTo>
                  <a:pt x="4180459" y="2425827"/>
                </a:lnTo>
                <a:lnTo>
                  <a:pt x="4177157" y="2427224"/>
                </a:lnTo>
                <a:lnTo>
                  <a:pt x="4175633" y="2430907"/>
                </a:lnTo>
                <a:lnTo>
                  <a:pt x="4177030" y="2434082"/>
                </a:lnTo>
                <a:lnTo>
                  <a:pt x="4202341" y="2493657"/>
                </a:lnTo>
                <a:lnTo>
                  <a:pt x="2749677" y="1409319"/>
                </a:lnTo>
                <a:lnTo>
                  <a:pt x="2742057" y="1419479"/>
                </a:lnTo>
                <a:lnTo>
                  <a:pt x="4194911" y="2503957"/>
                </a:lnTo>
                <a:lnTo>
                  <a:pt x="4126992" y="2496185"/>
                </a:lnTo>
                <a:lnTo>
                  <a:pt x="4123817" y="2498725"/>
                </a:lnTo>
                <a:lnTo>
                  <a:pt x="4123080" y="2505379"/>
                </a:lnTo>
                <a:lnTo>
                  <a:pt x="4123055" y="2505710"/>
                </a:lnTo>
                <a:lnTo>
                  <a:pt x="4125468" y="2508758"/>
                </a:lnTo>
                <a:lnTo>
                  <a:pt x="4227449" y="2520442"/>
                </a:lnTo>
                <a:close/>
              </a:path>
            </a:pathLst>
          </a:custGeom>
          <a:solidFill>
            <a:srgbClr val="497DBA"/>
          </a:solidFill>
        </p:spPr>
        <p:txBody>
          <a:bodyPr wrap="square" lIns="0" tIns="0" rIns="0" bIns="0" rtlCol="0"/>
          <a:lstStyle/>
          <a:p>
            <a:endParaRPr/>
          </a:p>
        </p:txBody>
      </p:sp>
      <p:graphicFrame>
        <p:nvGraphicFramePr>
          <p:cNvPr id="15" name="object 15"/>
          <p:cNvGraphicFramePr>
            <a:graphicFrameLocks noGrp="1"/>
          </p:cNvGraphicFramePr>
          <p:nvPr/>
        </p:nvGraphicFramePr>
        <p:xfrm>
          <a:off x="7145655" y="1177797"/>
          <a:ext cx="762000" cy="756285"/>
        </p:xfrm>
        <a:graphic>
          <a:graphicData uri="http://schemas.openxmlformats.org/drawingml/2006/table">
            <a:tbl>
              <a:tblPr firstRow="1" bandRow="1">
                <a:tableStyleId>{2D5ABB26-0587-4C30-8999-92F81FD0307C}</a:tableStyleId>
              </a:tblPr>
              <a:tblGrid>
                <a:gridCol w="762000">
                  <a:extLst>
                    <a:ext uri="{9D8B030D-6E8A-4147-A177-3AD203B41FA5}">
                      <a16:colId xmlns:a16="http://schemas.microsoft.com/office/drawing/2014/main" val="20000"/>
                    </a:ext>
                  </a:extLst>
                </a:gridCol>
              </a:tblGrid>
              <a:tr h="378460">
                <a:tc>
                  <a:txBody>
                    <a:bodyPr/>
                    <a:lstStyle/>
                    <a:p>
                      <a:pPr marL="92075">
                        <a:lnSpc>
                          <a:spcPct val="100000"/>
                        </a:lnSpc>
                        <a:spcBef>
                          <a:spcPts val="240"/>
                        </a:spcBef>
                      </a:pPr>
                      <a:r>
                        <a:rPr sz="1800" b="1" spc="-20" dirty="0">
                          <a:solidFill>
                            <a:srgbClr val="FFFFFF"/>
                          </a:solidFill>
                          <a:latin typeface="Calibri"/>
                          <a:cs typeface="Calibri"/>
                        </a:rPr>
                        <a:t>P(E)</a:t>
                      </a:r>
                      <a:endParaRPr sz="1800" dirty="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77825">
                <a:tc>
                  <a:txBody>
                    <a:bodyPr/>
                    <a:lstStyle/>
                    <a:p>
                      <a:pPr marL="92075">
                        <a:lnSpc>
                          <a:spcPct val="100000"/>
                        </a:lnSpc>
                        <a:spcBef>
                          <a:spcPts val="240"/>
                        </a:spcBef>
                      </a:pPr>
                      <a:r>
                        <a:rPr sz="1800" spc="-10" dirty="0">
                          <a:latin typeface="Calibri"/>
                          <a:cs typeface="Calibri"/>
                        </a:rPr>
                        <a:t>0.002</a:t>
                      </a:r>
                      <a:endParaRPr sz="1800" dirty="0">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bl>
          </a:graphicData>
        </a:graphic>
      </p:graphicFrame>
      <p:graphicFrame>
        <p:nvGraphicFramePr>
          <p:cNvPr id="16" name="object 16"/>
          <p:cNvGraphicFramePr>
            <a:graphicFrameLocks noGrp="1"/>
          </p:cNvGraphicFramePr>
          <p:nvPr>
            <p:extLst>
              <p:ext uri="{D42A27DB-BD31-4B8C-83A1-F6EECF244321}">
                <p14:modId xmlns:p14="http://schemas.microsoft.com/office/powerpoint/2010/main" val="1595168269"/>
              </p:ext>
            </p:extLst>
          </p:nvPr>
        </p:nvGraphicFramePr>
        <p:xfrm>
          <a:off x="5982842" y="2736850"/>
          <a:ext cx="1943100" cy="1827530"/>
        </p:xfrm>
        <a:graphic>
          <a:graphicData uri="http://schemas.openxmlformats.org/drawingml/2006/table">
            <a:tbl>
              <a:tblPr firstRow="1" bandRow="1">
                <a:tableStyleId>{2D5ABB26-0587-4C30-8999-92F81FD0307C}</a:tableStyleId>
              </a:tblPr>
              <a:tblGrid>
                <a:gridCol w="647700">
                  <a:extLst>
                    <a:ext uri="{9D8B030D-6E8A-4147-A177-3AD203B41FA5}">
                      <a16:colId xmlns:a16="http://schemas.microsoft.com/office/drawing/2014/main" val="20000"/>
                    </a:ext>
                  </a:extLst>
                </a:gridCol>
                <a:gridCol w="647700">
                  <a:extLst>
                    <a:ext uri="{9D8B030D-6E8A-4147-A177-3AD203B41FA5}">
                      <a16:colId xmlns:a16="http://schemas.microsoft.com/office/drawing/2014/main" val="20001"/>
                    </a:ext>
                  </a:extLst>
                </a:gridCol>
                <a:gridCol w="647700">
                  <a:extLst>
                    <a:ext uri="{9D8B030D-6E8A-4147-A177-3AD203B41FA5}">
                      <a16:colId xmlns:a16="http://schemas.microsoft.com/office/drawing/2014/main" val="20002"/>
                    </a:ext>
                  </a:extLst>
                </a:gridCol>
              </a:tblGrid>
              <a:tr h="365760">
                <a:tc>
                  <a:txBody>
                    <a:bodyPr/>
                    <a:lstStyle/>
                    <a:p>
                      <a:pPr marL="92075">
                        <a:lnSpc>
                          <a:spcPct val="100000"/>
                        </a:lnSpc>
                        <a:spcBef>
                          <a:spcPts val="245"/>
                        </a:spcBef>
                      </a:pPr>
                      <a:r>
                        <a:rPr sz="1800" b="1" spc="-50" dirty="0">
                          <a:solidFill>
                            <a:srgbClr val="FFFFFF"/>
                          </a:solidFill>
                          <a:latin typeface="Calibri"/>
                          <a:cs typeface="Calibri"/>
                        </a:rPr>
                        <a:t>B</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2075">
                        <a:lnSpc>
                          <a:spcPct val="100000"/>
                        </a:lnSpc>
                        <a:spcBef>
                          <a:spcPts val="245"/>
                        </a:spcBef>
                      </a:pPr>
                      <a:r>
                        <a:rPr lang="en-US" sz="1800" b="1" spc="-50" dirty="0">
                          <a:solidFill>
                            <a:srgbClr val="FFFFFF"/>
                          </a:solidFill>
                          <a:latin typeface="Calibri"/>
                          <a:cs typeface="Calibri"/>
                        </a:rPr>
                        <a:t>F</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2075">
                        <a:lnSpc>
                          <a:spcPct val="100000"/>
                        </a:lnSpc>
                        <a:spcBef>
                          <a:spcPts val="245"/>
                        </a:spcBef>
                      </a:pPr>
                      <a:r>
                        <a:rPr sz="1800" b="1" spc="-20" dirty="0">
                          <a:solidFill>
                            <a:srgbClr val="FFFFFF"/>
                          </a:solidFill>
                          <a:latin typeface="Calibri"/>
                          <a:cs typeface="Calibri"/>
                        </a:rPr>
                        <a:t>P(A)</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65760">
                <a:tc>
                  <a:txBody>
                    <a:bodyPr/>
                    <a:lstStyle/>
                    <a:p>
                      <a:pPr marL="92075">
                        <a:lnSpc>
                          <a:spcPct val="100000"/>
                        </a:lnSpc>
                        <a:spcBef>
                          <a:spcPts val="244"/>
                        </a:spcBef>
                      </a:pPr>
                      <a:r>
                        <a:rPr sz="1800" spc="-50" dirty="0">
                          <a:latin typeface="Calibri"/>
                          <a:cs typeface="Calibri"/>
                        </a:rPr>
                        <a:t>T</a:t>
                      </a:r>
                      <a:endParaRPr sz="1800">
                        <a:latin typeface="Calibri"/>
                        <a:cs typeface="Calibri"/>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44"/>
                        </a:spcBef>
                      </a:pPr>
                      <a:r>
                        <a:rPr sz="1800" spc="-50" dirty="0">
                          <a:latin typeface="Calibri"/>
                          <a:cs typeface="Calibri"/>
                        </a:rPr>
                        <a:t>T</a:t>
                      </a:r>
                      <a:endParaRPr sz="1800">
                        <a:latin typeface="Calibri"/>
                        <a:cs typeface="Calibri"/>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44"/>
                        </a:spcBef>
                      </a:pPr>
                      <a:r>
                        <a:rPr sz="1800" spc="-25" dirty="0">
                          <a:latin typeface="Calibri"/>
                          <a:cs typeface="Calibri"/>
                        </a:rPr>
                        <a:t>.95</a:t>
                      </a:r>
                      <a:endParaRPr sz="1800">
                        <a:latin typeface="Calibri"/>
                        <a:cs typeface="Calibri"/>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65125">
                <a:tc>
                  <a:txBody>
                    <a:bodyPr/>
                    <a:lstStyle/>
                    <a:p>
                      <a:pPr marL="92075">
                        <a:lnSpc>
                          <a:spcPct val="100000"/>
                        </a:lnSpc>
                        <a:spcBef>
                          <a:spcPts val="245"/>
                        </a:spcBef>
                      </a:pPr>
                      <a:r>
                        <a:rPr sz="1800" spc="-50" dirty="0">
                          <a:latin typeface="Calibri"/>
                          <a:cs typeface="Calibri"/>
                        </a:rPr>
                        <a:t>T</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45"/>
                        </a:spcBef>
                      </a:pPr>
                      <a:r>
                        <a:rPr sz="1800" spc="-50" dirty="0">
                          <a:latin typeface="Calibri"/>
                          <a:cs typeface="Calibri"/>
                        </a:rPr>
                        <a:t>F</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45"/>
                        </a:spcBef>
                      </a:pPr>
                      <a:r>
                        <a:rPr sz="1800" spc="-25" dirty="0">
                          <a:latin typeface="Calibri"/>
                          <a:cs typeface="Calibri"/>
                        </a:rPr>
                        <a:t>.94</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365125">
                <a:tc>
                  <a:txBody>
                    <a:bodyPr/>
                    <a:lstStyle/>
                    <a:p>
                      <a:pPr marL="92075">
                        <a:lnSpc>
                          <a:spcPct val="100000"/>
                        </a:lnSpc>
                        <a:spcBef>
                          <a:spcPts val="245"/>
                        </a:spcBef>
                      </a:pPr>
                      <a:r>
                        <a:rPr sz="1800" spc="-50" dirty="0">
                          <a:latin typeface="Calibri"/>
                          <a:cs typeface="Calibri"/>
                        </a:rPr>
                        <a:t>F</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45"/>
                        </a:spcBef>
                      </a:pPr>
                      <a:r>
                        <a:rPr sz="1800" spc="-50" dirty="0">
                          <a:latin typeface="Calibri"/>
                          <a:cs typeface="Calibri"/>
                        </a:rPr>
                        <a:t>T</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45"/>
                        </a:spcBef>
                      </a:pPr>
                      <a:r>
                        <a:rPr sz="1800" spc="-25" dirty="0">
                          <a:latin typeface="Calibri"/>
                          <a:cs typeface="Calibri"/>
                        </a:rPr>
                        <a:t>.29</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365760">
                <a:tc>
                  <a:txBody>
                    <a:bodyPr/>
                    <a:lstStyle/>
                    <a:p>
                      <a:pPr marL="92075">
                        <a:lnSpc>
                          <a:spcPct val="100000"/>
                        </a:lnSpc>
                        <a:spcBef>
                          <a:spcPts val="245"/>
                        </a:spcBef>
                      </a:pPr>
                      <a:r>
                        <a:rPr sz="1800" spc="-50" dirty="0">
                          <a:latin typeface="Calibri"/>
                          <a:cs typeface="Calibri"/>
                        </a:rPr>
                        <a:t>F</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45"/>
                        </a:spcBef>
                      </a:pPr>
                      <a:r>
                        <a:rPr sz="1800" spc="-50" dirty="0">
                          <a:latin typeface="Calibri"/>
                          <a:cs typeface="Calibri"/>
                        </a:rPr>
                        <a:t>F</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45"/>
                        </a:spcBef>
                      </a:pPr>
                      <a:r>
                        <a:rPr sz="1800" spc="-20" dirty="0">
                          <a:latin typeface="Calibri"/>
                          <a:cs typeface="Calibri"/>
                        </a:rPr>
                        <a:t>.001</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bl>
          </a:graphicData>
        </a:graphic>
      </p:graphicFrame>
      <p:graphicFrame>
        <p:nvGraphicFramePr>
          <p:cNvPr id="17" name="object 17"/>
          <p:cNvGraphicFramePr>
            <a:graphicFrameLocks noGrp="1"/>
          </p:cNvGraphicFramePr>
          <p:nvPr>
            <p:extLst>
              <p:ext uri="{D42A27DB-BD31-4B8C-83A1-F6EECF244321}">
                <p14:modId xmlns:p14="http://schemas.microsoft.com/office/powerpoint/2010/main" val="1951924186"/>
              </p:ext>
            </p:extLst>
          </p:nvPr>
        </p:nvGraphicFramePr>
        <p:xfrm>
          <a:off x="2813050" y="5168772"/>
          <a:ext cx="1454150" cy="1021638"/>
        </p:xfrm>
        <a:graphic>
          <a:graphicData uri="http://schemas.openxmlformats.org/drawingml/2006/table">
            <a:tbl>
              <a:tblPr firstRow="1" bandRow="1">
                <a:tableStyleId>{2D5ABB26-0587-4C30-8999-92F81FD0307C}</a:tableStyleId>
              </a:tblPr>
              <a:tblGrid>
                <a:gridCol w="727075">
                  <a:extLst>
                    <a:ext uri="{9D8B030D-6E8A-4147-A177-3AD203B41FA5}">
                      <a16:colId xmlns:a16="http://schemas.microsoft.com/office/drawing/2014/main" val="20000"/>
                    </a:ext>
                  </a:extLst>
                </a:gridCol>
                <a:gridCol w="727075">
                  <a:extLst>
                    <a:ext uri="{9D8B030D-6E8A-4147-A177-3AD203B41FA5}">
                      <a16:colId xmlns:a16="http://schemas.microsoft.com/office/drawing/2014/main" val="20001"/>
                    </a:ext>
                  </a:extLst>
                </a:gridCol>
              </a:tblGrid>
              <a:tr h="340546">
                <a:tc>
                  <a:txBody>
                    <a:bodyPr/>
                    <a:lstStyle/>
                    <a:p>
                      <a:pPr marL="91440">
                        <a:lnSpc>
                          <a:spcPct val="100000"/>
                        </a:lnSpc>
                        <a:spcBef>
                          <a:spcPts val="245"/>
                        </a:spcBef>
                      </a:pPr>
                      <a:r>
                        <a:rPr lang="en-US" sz="1800" b="1" spc="-50" dirty="0">
                          <a:solidFill>
                            <a:srgbClr val="FFFFFF"/>
                          </a:solidFill>
                          <a:latin typeface="Calibri"/>
                          <a:cs typeface="Calibri"/>
                        </a:rPr>
                        <a:t>P1</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2075">
                        <a:lnSpc>
                          <a:spcPct val="100000"/>
                        </a:lnSpc>
                        <a:spcBef>
                          <a:spcPts val="245"/>
                        </a:spcBef>
                      </a:pPr>
                      <a:r>
                        <a:rPr sz="1800" b="1" spc="-20" dirty="0">
                          <a:solidFill>
                            <a:srgbClr val="FFFFFF"/>
                          </a:solidFill>
                          <a:latin typeface="Calibri"/>
                          <a:cs typeface="Calibri"/>
                        </a:rPr>
                        <a:t>P(J)</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40546">
                <a:tc>
                  <a:txBody>
                    <a:bodyPr/>
                    <a:lstStyle/>
                    <a:p>
                      <a:pPr marL="91440">
                        <a:lnSpc>
                          <a:spcPct val="100000"/>
                        </a:lnSpc>
                        <a:spcBef>
                          <a:spcPts val="250"/>
                        </a:spcBef>
                      </a:pPr>
                      <a:r>
                        <a:rPr sz="1800" spc="-50" dirty="0">
                          <a:latin typeface="Calibri"/>
                          <a:cs typeface="Calibri"/>
                        </a:rPr>
                        <a:t>t</a:t>
                      </a:r>
                      <a:endParaRPr sz="1800" dirty="0">
                        <a:latin typeface="Calibri"/>
                        <a:cs typeface="Calibri"/>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50"/>
                        </a:spcBef>
                      </a:pPr>
                      <a:r>
                        <a:rPr sz="1800" spc="-25" dirty="0">
                          <a:latin typeface="Calibri"/>
                          <a:cs typeface="Calibri"/>
                        </a:rPr>
                        <a:t>.9</a:t>
                      </a:r>
                      <a:r>
                        <a:rPr lang="en-US" sz="1800" spc="-25" dirty="0">
                          <a:latin typeface="Calibri"/>
                          <a:cs typeface="Calibri"/>
                        </a:rPr>
                        <a:t>5</a:t>
                      </a:r>
                      <a:endParaRPr sz="1800" dirty="0">
                        <a:latin typeface="Calibri"/>
                        <a:cs typeface="Calibri"/>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40546">
                <a:tc>
                  <a:txBody>
                    <a:bodyPr/>
                    <a:lstStyle/>
                    <a:p>
                      <a:pPr marL="91440">
                        <a:lnSpc>
                          <a:spcPct val="100000"/>
                        </a:lnSpc>
                        <a:spcBef>
                          <a:spcPts val="250"/>
                        </a:spcBef>
                      </a:pPr>
                      <a:r>
                        <a:rPr sz="1800" spc="-50" dirty="0">
                          <a:latin typeface="Calibri"/>
                          <a:cs typeface="Calibri"/>
                        </a:rPr>
                        <a:t>f</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50"/>
                        </a:spcBef>
                      </a:pPr>
                      <a:r>
                        <a:rPr sz="1800" spc="-25" dirty="0">
                          <a:latin typeface="Calibri"/>
                          <a:cs typeface="Calibri"/>
                        </a:rPr>
                        <a:t>.05</a:t>
                      </a:r>
                      <a:endParaRPr sz="1800" dirty="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graphicFrame>
        <p:nvGraphicFramePr>
          <p:cNvPr id="18" name="object 17">
            <a:extLst>
              <a:ext uri="{FF2B5EF4-FFF2-40B4-BE49-F238E27FC236}">
                <a16:creationId xmlns:a16="http://schemas.microsoft.com/office/drawing/2014/main" id="{7616BBCC-6E1C-3590-15CD-63F07F682140}"/>
              </a:ext>
            </a:extLst>
          </p:cNvPr>
          <p:cNvGraphicFramePr>
            <a:graphicFrameLocks noGrp="1"/>
          </p:cNvGraphicFramePr>
          <p:nvPr>
            <p:extLst>
              <p:ext uri="{D42A27DB-BD31-4B8C-83A1-F6EECF244321}">
                <p14:modId xmlns:p14="http://schemas.microsoft.com/office/powerpoint/2010/main" val="73149805"/>
              </p:ext>
            </p:extLst>
          </p:nvPr>
        </p:nvGraphicFramePr>
        <p:xfrm>
          <a:off x="7010400" y="5360890"/>
          <a:ext cx="1454150" cy="1021638"/>
        </p:xfrm>
        <a:graphic>
          <a:graphicData uri="http://schemas.openxmlformats.org/drawingml/2006/table">
            <a:tbl>
              <a:tblPr firstRow="1" bandRow="1">
                <a:tableStyleId>{2D5ABB26-0587-4C30-8999-92F81FD0307C}</a:tableStyleId>
              </a:tblPr>
              <a:tblGrid>
                <a:gridCol w="727075">
                  <a:extLst>
                    <a:ext uri="{9D8B030D-6E8A-4147-A177-3AD203B41FA5}">
                      <a16:colId xmlns:a16="http://schemas.microsoft.com/office/drawing/2014/main" val="20000"/>
                    </a:ext>
                  </a:extLst>
                </a:gridCol>
                <a:gridCol w="727075">
                  <a:extLst>
                    <a:ext uri="{9D8B030D-6E8A-4147-A177-3AD203B41FA5}">
                      <a16:colId xmlns:a16="http://schemas.microsoft.com/office/drawing/2014/main" val="20001"/>
                    </a:ext>
                  </a:extLst>
                </a:gridCol>
              </a:tblGrid>
              <a:tr h="340546">
                <a:tc>
                  <a:txBody>
                    <a:bodyPr/>
                    <a:lstStyle/>
                    <a:p>
                      <a:pPr marL="91440">
                        <a:lnSpc>
                          <a:spcPct val="100000"/>
                        </a:lnSpc>
                        <a:spcBef>
                          <a:spcPts val="245"/>
                        </a:spcBef>
                      </a:pPr>
                      <a:r>
                        <a:rPr lang="en-US" sz="1800" b="1" spc="-50" dirty="0">
                          <a:solidFill>
                            <a:srgbClr val="FFFFFF"/>
                          </a:solidFill>
                          <a:latin typeface="Calibri"/>
                          <a:cs typeface="Calibri"/>
                        </a:rPr>
                        <a:t>P2</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2075">
                        <a:lnSpc>
                          <a:spcPct val="100000"/>
                        </a:lnSpc>
                        <a:spcBef>
                          <a:spcPts val="245"/>
                        </a:spcBef>
                      </a:pPr>
                      <a:r>
                        <a:rPr sz="1800" b="1" spc="-20" dirty="0">
                          <a:solidFill>
                            <a:srgbClr val="FFFFFF"/>
                          </a:solidFill>
                          <a:latin typeface="Calibri"/>
                          <a:cs typeface="Calibri"/>
                        </a:rPr>
                        <a:t>P(J)</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40546">
                <a:tc>
                  <a:txBody>
                    <a:bodyPr/>
                    <a:lstStyle/>
                    <a:p>
                      <a:pPr marL="91440">
                        <a:lnSpc>
                          <a:spcPct val="100000"/>
                        </a:lnSpc>
                        <a:spcBef>
                          <a:spcPts val="250"/>
                        </a:spcBef>
                      </a:pPr>
                      <a:r>
                        <a:rPr sz="1800" spc="-50" dirty="0">
                          <a:latin typeface="Calibri"/>
                          <a:cs typeface="Calibri"/>
                        </a:rPr>
                        <a:t>t</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50"/>
                        </a:spcBef>
                      </a:pPr>
                      <a:r>
                        <a:rPr sz="1800" spc="-25" dirty="0">
                          <a:latin typeface="Calibri"/>
                          <a:cs typeface="Calibri"/>
                        </a:rPr>
                        <a:t>.</a:t>
                      </a:r>
                      <a:r>
                        <a:rPr lang="en-US" sz="1800" spc="-25" dirty="0">
                          <a:latin typeface="Calibri"/>
                          <a:cs typeface="Calibri"/>
                        </a:rPr>
                        <a:t>8</a:t>
                      </a:r>
                      <a:r>
                        <a:rPr sz="1800" spc="-25" dirty="0">
                          <a:latin typeface="Calibri"/>
                          <a:cs typeface="Calibri"/>
                        </a:rPr>
                        <a:t>0</a:t>
                      </a:r>
                      <a:endParaRPr sz="1800" dirty="0">
                        <a:latin typeface="Calibri"/>
                        <a:cs typeface="Calibri"/>
                      </a:endParaRPr>
                    </a:p>
                  </a:txBody>
                  <a:tcPr marL="0" marR="0" marT="317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40546">
                <a:tc>
                  <a:txBody>
                    <a:bodyPr/>
                    <a:lstStyle/>
                    <a:p>
                      <a:pPr marL="91440">
                        <a:lnSpc>
                          <a:spcPct val="100000"/>
                        </a:lnSpc>
                        <a:spcBef>
                          <a:spcPts val="250"/>
                        </a:spcBef>
                      </a:pPr>
                      <a:r>
                        <a:rPr sz="1800" spc="-50" dirty="0">
                          <a:latin typeface="Calibri"/>
                          <a:cs typeface="Calibri"/>
                        </a:rPr>
                        <a:t>f</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50"/>
                        </a:spcBef>
                      </a:pPr>
                      <a:r>
                        <a:rPr sz="1800" spc="-25" dirty="0">
                          <a:latin typeface="Calibri"/>
                          <a:cs typeface="Calibri"/>
                        </a:rPr>
                        <a:t>.0</a:t>
                      </a:r>
                      <a:r>
                        <a:rPr lang="en-US" sz="1800" spc="-25" dirty="0">
                          <a:latin typeface="Calibri"/>
                          <a:cs typeface="Calibri"/>
                        </a:rPr>
                        <a:t>1</a:t>
                      </a:r>
                      <a:endParaRPr sz="1800" dirty="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215F65C-967B-AAE7-9CDB-7B72A92B5561}"/>
            </a:ext>
          </a:extLst>
        </p:cNvPr>
        <p:cNvGrpSpPr/>
        <p:nvPr/>
      </p:nvGrpSpPr>
      <p:grpSpPr>
        <a:xfrm>
          <a:off x="0" y="0"/>
          <a:ext cx="0" cy="0"/>
          <a:chOff x="0" y="0"/>
          <a:chExt cx="0" cy="0"/>
        </a:xfrm>
      </p:grpSpPr>
      <p:sp>
        <p:nvSpPr>
          <p:cNvPr id="22" name="TextBox 21">
            <a:extLst>
              <a:ext uri="{FF2B5EF4-FFF2-40B4-BE49-F238E27FC236}">
                <a16:creationId xmlns:a16="http://schemas.microsoft.com/office/drawing/2014/main" id="{C06DAFD9-1C17-F070-A51D-8CE077D8849C}"/>
              </a:ext>
            </a:extLst>
          </p:cNvPr>
          <p:cNvSpPr txBox="1"/>
          <p:nvPr/>
        </p:nvSpPr>
        <p:spPr>
          <a:xfrm>
            <a:off x="685800" y="685800"/>
            <a:ext cx="8001000" cy="4544834"/>
          </a:xfrm>
          <a:prstGeom prst="rect">
            <a:avLst/>
          </a:prstGeom>
          <a:noFill/>
        </p:spPr>
        <p:txBody>
          <a:bodyPr wrap="square">
            <a:spAutoFit/>
          </a:bodyPr>
          <a:lstStyle/>
          <a:p>
            <a:pPr algn="l" rtl="0" fontAlgn="base">
              <a:spcAft>
                <a:spcPts val="750"/>
              </a:spcAft>
            </a:pPr>
            <a:r>
              <a:rPr lang="en-IN" b="1" i="0" dirty="0">
                <a:solidFill>
                  <a:srgbClr val="273239"/>
                </a:solidFill>
                <a:effectLst/>
                <a:latin typeface="Nunito" pitchFamily="2" charset="0"/>
              </a:rPr>
              <a:t>P ( P1, P2, A, ~B, ~E)  =   ?</a:t>
            </a:r>
          </a:p>
          <a:p>
            <a:pPr algn="l" rtl="0" fontAlgn="base">
              <a:spcAft>
                <a:spcPts val="750"/>
              </a:spcAft>
            </a:pPr>
            <a:endParaRPr lang="en-IN" b="1" dirty="0">
              <a:solidFill>
                <a:srgbClr val="273239"/>
              </a:solidFill>
              <a:latin typeface="Nunito" pitchFamily="2" charset="0"/>
            </a:endParaRPr>
          </a:p>
          <a:p>
            <a:pPr algn="l" rtl="0" fontAlgn="base">
              <a:spcAft>
                <a:spcPts val="750"/>
              </a:spcAft>
            </a:pPr>
            <a:r>
              <a:rPr lang="en-IN" b="1" i="0" dirty="0">
                <a:solidFill>
                  <a:srgbClr val="273239"/>
                </a:solidFill>
                <a:effectLst/>
                <a:latin typeface="Nunito" pitchFamily="2" charset="0"/>
              </a:rPr>
              <a:t>Burglary = False, Earthquake = False            </a:t>
            </a:r>
          </a:p>
          <a:p>
            <a:pPr algn="l" rtl="0" fontAlgn="base">
              <a:spcAft>
                <a:spcPts val="750"/>
              </a:spcAft>
            </a:pPr>
            <a:endParaRPr lang="en-IN" b="1" dirty="0">
              <a:solidFill>
                <a:srgbClr val="273239"/>
              </a:solidFill>
              <a:latin typeface="Nunito" pitchFamily="2" charset="0"/>
            </a:endParaRPr>
          </a:p>
          <a:p>
            <a:pPr algn="l" rtl="0" fontAlgn="base">
              <a:spcAft>
                <a:spcPts val="750"/>
              </a:spcAft>
            </a:pPr>
            <a:r>
              <a:rPr lang="en-IN" b="1" dirty="0">
                <a:solidFill>
                  <a:srgbClr val="273239"/>
                </a:solidFill>
                <a:latin typeface="Nunito" pitchFamily="2" charset="0"/>
              </a:rPr>
              <a:t>Alarm = True | </a:t>
            </a:r>
            <a:r>
              <a:rPr lang="en-IN" b="1" i="0" dirty="0">
                <a:solidFill>
                  <a:srgbClr val="273239"/>
                </a:solidFill>
                <a:effectLst/>
                <a:latin typeface="Nunito" pitchFamily="2" charset="0"/>
              </a:rPr>
              <a:t>Burglary = False, Earthquake = False</a:t>
            </a:r>
          </a:p>
          <a:p>
            <a:pPr algn="l" rtl="0" fontAlgn="base">
              <a:spcAft>
                <a:spcPts val="750"/>
              </a:spcAft>
            </a:pPr>
            <a:endParaRPr lang="en-IN" b="0" i="0" dirty="0">
              <a:solidFill>
                <a:srgbClr val="273239"/>
              </a:solidFill>
              <a:effectLst/>
              <a:latin typeface="Nunito" pitchFamily="2" charset="0"/>
            </a:endParaRPr>
          </a:p>
          <a:p>
            <a:pPr algn="l" rtl="0" fontAlgn="base">
              <a:spcAft>
                <a:spcPts val="750"/>
              </a:spcAft>
            </a:pPr>
            <a:r>
              <a:rPr lang="en-IN" b="1" dirty="0">
                <a:solidFill>
                  <a:srgbClr val="C00000"/>
                </a:solidFill>
                <a:latin typeface="Nunito" pitchFamily="2" charset="0"/>
              </a:rPr>
              <a:t>Person 2 calls | </a:t>
            </a:r>
            <a:r>
              <a:rPr lang="en-IN" b="1" dirty="0">
                <a:solidFill>
                  <a:srgbClr val="273239"/>
                </a:solidFill>
                <a:latin typeface="Nunito" pitchFamily="2" charset="0"/>
              </a:rPr>
              <a:t>Alarm = True | </a:t>
            </a:r>
            <a:r>
              <a:rPr lang="en-IN" b="1" i="0" dirty="0">
                <a:solidFill>
                  <a:srgbClr val="273239"/>
                </a:solidFill>
                <a:effectLst/>
                <a:latin typeface="Nunito" pitchFamily="2" charset="0"/>
              </a:rPr>
              <a:t>Burglary = False, Earthquake = False</a:t>
            </a:r>
          </a:p>
          <a:p>
            <a:pPr algn="l" rtl="0" fontAlgn="base">
              <a:spcAft>
                <a:spcPts val="750"/>
              </a:spcAft>
            </a:pPr>
            <a:endParaRPr lang="en-IN" b="1" dirty="0">
              <a:solidFill>
                <a:srgbClr val="273239"/>
              </a:solidFill>
              <a:latin typeface="Nunito" pitchFamily="2" charset="0"/>
            </a:endParaRPr>
          </a:p>
          <a:p>
            <a:pPr algn="l" rtl="0" fontAlgn="base">
              <a:spcAft>
                <a:spcPts val="750"/>
              </a:spcAft>
            </a:pPr>
            <a:endParaRPr lang="en-IN" b="1" dirty="0">
              <a:solidFill>
                <a:srgbClr val="273239"/>
              </a:solidFill>
              <a:latin typeface="Nunito" pitchFamily="2" charset="0"/>
            </a:endParaRPr>
          </a:p>
          <a:p>
            <a:pPr algn="l" rtl="0" fontAlgn="base">
              <a:spcAft>
                <a:spcPts val="750"/>
              </a:spcAft>
            </a:pPr>
            <a:r>
              <a:rPr lang="en-IN" b="1" dirty="0">
                <a:solidFill>
                  <a:srgbClr val="C00000"/>
                </a:solidFill>
                <a:latin typeface="Nunito" pitchFamily="2" charset="0"/>
              </a:rPr>
              <a:t>Person 1 calls | </a:t>
            </a:r>
            <a:r>
              <a:rPr lang="en-IN" b="1" dirty="0">
                <a:solidFill>
                  <a:srgbClr val="273239"/>
                </a:solidFill>
                <a:latin typeface="Nunito" pitchFamily="2" charset="0"/>
              </a:rPr>
              <a:t>Alarm = True | </a:t>
            </a:r>
            <a:r>
              <a:rPr lang="en-IN" b="1" i="0" dirty="0">
                <a:solidFill>
                  <a:srgbClr val="273239"/>
                </a:solidFill>
                <a:effectLst/>
                <a:latin typeface="Nunito" pitchFamily="2" charset="0"/>
              </a:rPr>
              <a:t>Burglary = False, Earthquake = False</a:t>
            </a:r>
          </a:p>
          <a:p>
            <a:pPr algn="l" rtl="0" fontAlgn="base">
              <a:spcAft>
                <a:spcPts val="750"/>
              </a:spcAft>
            </a:pPr>
            <a:endParaRPr lang="en-IN" b="1" i="0" dirty="0">
              <a:solidFill>
                <a:srgbClr val="273239"/>
              </a:solidFill>
              <a:effectLst/>
              <a:latin typeface="Nunito" pitchFamily="2" charset="0"/>
            </a:endParaRPr>
          </a:p>
          <a:p>
            <a:pPr algn="l" rtl="0" fontAlgn="base">
              <a:spcAft>
                <a:spcPts val="750"/>
              </a:spcAft>
            </a:pPr>
            <a:endParaRPr lang="en-IN" b="0" i="0" dirty="0">
              <a:solidFill>
                <a:srgbClr val="273239"/>
              </a:solidFill>
              <a:effectLst/>
              <a:latin typeface="Nunito" pitchFamily="2" charset="0"/>
            </a:endParaRPr>
          </a:p>
        </p:txBody>
      </p:sp>
      <p:sp>
        <p:nvSpPr>
          <p:cNvPr id="24" name="TextBox 23">
            <a:extLst>
              <a:ext uri="{FF2B5EF4-FFF2-40B4-BE49-F238E27FC236}">
                <a16:creationId xmlns:a16="http://schemas.microsoft.com/office/drawing/2014/main" id="{4D8BA473-387F-48F1-6DD3-0EB413E94D52}"/>
              </a:ext>
            </a:extLst>
          </p:cNvPr>
          <p:cNvSpPr txBox="1"/>
          <p:nvPr/>
        </p:nvSpPr>
        <p:spPr>
          <a:xfrm>
            <a:off x="604157" y="5236240"/>
            <a:ext cx="7146890" cy="112851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l" rtl="0" fontAlgn="base">
              <a:spcAft>
                <a:spcPts val="750"/>
              </a:spcAft>
            </a:pPr>
            <a:r>
              <a:rPr lang="en-IN" b="1" i="0" dirty="0">
                <a:solidFill>
                  <a:srgbClr val="273239"/>
                </a:solidFill>
                <a:effectLst/>
                <a:latin typeface="Nunito" pitchFamily="2" charset="0"/>
              </a:rPr>
              <a:t>= P (P1|A) * P (P2|A) * P (A|~B~F) * P (~B) * P (~F)</a:t>
            </a:r>
          </a:p>
          <a:p>
            <a:pPr algn="l" rtl="0" fontAlgn="base">
              <a:spcAft>
                <a:spcPts val="750"/>
              </a:spcAft>
            </a:pPr>
            <a:endParaRPr lang="en-IN" b="0" i="0" dirty="0">
              <a:solidFill>
                <a:srgbClr val="273239"/>
              </a:solidFill>
              <a:effectLst/>
              <a:latin typeface="Nunito" pitchFamily="2" charset="0"/>
            </a:endParaRPr>
          </a:p>
          <a:p>
            <a:pPr algn="l" fontAlgn="base">
              <a:spcAft>
                <a:spcPts val="750"/>
              </a:spcAft>
            </a:pPr>
            <a:r>
              <a:rPr lang="en-IN" b="1" i="0" dirty="0">
                <a:solidFill>
                  <a:srgbClr val="273239"/>
                </a:solidFill>
                <a:effectLst/>
                <a:latin typeface="Nunito" pitchFamily="2" charset="0"/>
              </a:rPr>
              <a:t>= 0.95 * 0.80 * 0.001 * 0.999 * 0.998</a:t>
            </a:r>
            <a:endParaRPr lang="en-IN" b="0" i="0" dirty="0">
              <a:solidFill>
                <a:srgbClr val="273239"/>
              </a:solidFill>
              <a:effectLst/>
              <a:latin typeface="Nunito" pitchFamily="2" charset="0"/>
            </a:endParaRPr>
          </a:p>
        </p:txBody>
      </p:sp>
      <p:sp>
        <p:nvSpPr>
          <p:cNvPr id="26" name="TextBox 25">
            <a:extLst>
              <a:ext uri="{FF2B5EF4-FFF2-40B4-BE49-F238E27FC236}">
                <a16:creationId xmlns:a16="http://schemas.microsoft.com/office/drawing/2014/main" id="{43F4B97C-981A-AD1E-D17D-2A0F778DDE50}"/>
              </a:ext>
            </a:extLst>
          </p:cNvPr>
          <p:cNvSpPr txBox="1"/>
          <p:nvPr/>
        </p:nvSpPr>
        <p:spPr>
          <a:xfrm>
            <a:off x="5181600" y="1447800"/>
            <a:ext cx="914400" cy="369332"/>
          </a:xfrm>
          <a:prstGeom prst="rect">
            <a:avLst/>
          </a:prstGeom>
          <a:noFill/>
        </p:spPr>
        <p:txBody>
          <a:bodyPr wrap="square">
            <a:spAutoFit/>
          </a:bodyPr>
          <a:lstStyle/>
          <a:p>
            <a:r>
              <a:rPr lang="en-IN" b="1" i="0" dirty="0">
                <a:solidFill>
                  <a:srgbClr val="273239"/>
                </a:solidFill>
                <a:effectLst/>
                <a:latin typeface="Nunito" pitchFamily="2" charset="0"/>
              </a:rPr>
              <a:t>P (~B) </a:t>
            </a:r>
            <a:endParaRPr lang="en-IN" dirty="0"/>
          </a:p>
        </p:txBody>
      </p:sp>
      <p:sp>
        <p:nvSpPr>
          <p:cNvPr id="28" name="TextBox 27">
            <a:extLst>
              <a:ext uri="{FF2B5EF4-FFF2-40B4-BE49-F238E27FC236}">
                <a16:creationId xmlns:a16="http://schemas.microsoft.com/office/drawing/2014/main" id="{678219F9-5932-BA2A-8680-BD151B971E05}"/>
              </a:ext>
            </a:extLst>
          </p:cNvPr>
          <p:cNvSpPr txBox="1"/>
          <p:nvPr/>
        </p:nvSpPr>
        <p:spPr>
          <a:xfrm>
            <a:off x="6629400" y="1447800"/>
            <a:ext cx="990600" cy="369332"/>
          </a:xfrm>
          <a:prstGeom prst="rect">
            <a:avLst/>
          </a:prstGeom>
          <a:noFill/>
        </p:spPr>
        <p:txBody>
          <a:bodyPr wrap="square">
            <a:spAutoFit/>
          </a:bodyPr>
          <a:lstStyle/>
          <a:p>
            <a:r>
              <a:rPr lang="en-IN" b="1" i="0" dirty="0">
                <a:solidFill>
                  <a:srgbClr val="273239"/>
                </a:solidFill>
                <a:effectLst/>
                <a:latin typeface="Nunito" pitchFamily="2" charset="0"/>
              </a:rPr>
              <a:t>P (~E) </a:t>
            </a:r>
            <a:endParaRPr lang="en-IN" dirty="0"/>
          </a:p>
        </p:txBody>
      </p:sp>
      <p:sp>
        <p:nvSpPr>
          <p:cNvPr id="30" name="TextBox 29">
            <a:extLst>
              <a:ext uri="{FF2B5EF4-FFF2-40B4-BE49-F238E27FC236}">
                <a16:creationId xmlns:a16="http://schemas.microsoft.com/office/drawing/2014/main" id="{65C7EF0C-1085-3C47-A999-89E9AD92B5BF}"/>
              </a:ext>
            </a:extLst>
          </p:cNvPr>
          <p:cNvSpPr txBox="1"/>
          <p:nvPr/>
        </p:nvSpPr>
        <p:spPr>
          <a:xfrm>
            <a:off x="6781800" y="2125144"/>
            <a:ext cx="1905000" cy="369332"/>
          </a:xfrm>
          <a:prstGeom prst="rect">
            <a:avLst/>
          </a:prstGeom>
          <a:noFill/>
        </p:spPr>
        <p:txBody>
          <a:bodyPr wrap="square">
            <a:spAutoFit/>
          </a:bodyPr>
          <a:lstStyle/>
          <a:p>
            <a:r>
              <a:rPr lang="en-IN" b="1" i="0" dirty="0">
                <a:solidFill>
                  <a:srgbClr val="273239"/>
                </a:solidFill>
                <a:effectLst/>
                <a:latin typeface="Nunito" pitchFamily="2" charset="0"/>
              </a:rPr>
              <a:t>P (A | ~B,~E) </a:t>
            </a:r>
            <a:endParaRPr lang="en-IN" dirty="0"/>
          </a:p>
        </p:txBody>
      </p:sp>
      <p:sp>
        <p:nvSpPr>
          <p:cNvPr id="32" name="TextBox 31">
            <a:extLst>
              <a:ext uri="{FF2B5EF4-FFF2-40B4-BE49-F238E27FC236}">
                <a16:creationId xmlns:a16="http://schemas.microsoft.com/office/drawing/2014/main" id="{29ABD567-5E33-6F3A-3515-CF9336694AEE}"/>
              </a:ext>
            </a:extLst>
          </p:cNvPr>
          <p:cNvSpPr txBox="1"/>
          <p:nvPr/>
        </p:nvSpPr>
        <p:spPr>
          <a:xfrm>
            <a:off x="6756679" y="3424772"/>
            <a:ext cx="1295400" cy="369332"/>
          </a:xfrm>
          <a:prstGeom prst="rect">
            <a:avLst/>
          </a:prstGeom>
          <a:noFill/>
        </p:spPr>
        <p:txBody>
          <a:bodyPr wrap="square">
            <a:spAutoFit/>
          </a:bodyPr>
          <a:lstStyle/>
          <a:p>
            <a:r>
              <a:rPr lang="en-IN" b="1" i="0" dirty="0">
                <a:solidFill>
                  <a:srgbClr val="273239"/>
                </a:solidFill>
                <a:effectLst/>
                <a:latin typeface="Nunito" pitchFamily="2" charset="0"/>
              </a:rPr>
              <a:t>P (P2 | A) </a:t>
            </a:r>
            <a:endParaRPr lang="en-IN" dirty="0"/>
          </a:p>
        </p:txBody>
      </p:sp>
      <p:sp>
        <p:nvSpPr>
          <p:cNvPr id="33" name="TextBox 32">
            <a:extLst>
              <a:ext uri="{FF2B5EF4-FFF2-40B4-BE49-F238E27FC236}">
                <a16:creationId xmlns:a16="http://schemas.microsoft.com/office/drawing/2014/main" id="{9A1E0A4D-A4FB-EE9C-D930-B7A20A712528}"/>
              </a:ext>
            </a:extLst>
          </p:cNvPr>
          <p:cNvSpPr txBox="1"/>
          <p:nvPr/>
        </p:nvSpPr>
        <p:spPr>
          <a:xfrm>
            <a:off x="6781800" y="4539734"/>
            <a:ext cx="1295400" cy="369332"/>
          </a:xfrm>
          <a:prstGeom prst="rect">
            <a:avLst/>
          </a:prstGeom>
          <a:noFill/>
        </p:spPr>
        <p:txBody>
          <a:bodyPr wrap="square">
            <a:spAutoFit/>
          </a:bodyPr>
          <a:lstStyle/>
          <a:p>
            <a:r>
              <a:rPr lang="en-IN" b="1" i="0" dirty="0">
                <a:solidFill>
                  <a:srgbClr val="273239"/>
                </a:solidFill>
                <a:effectLst/>
                <a:latin typeface="Nunito" pitchFamily="2" charset="0"/>
              </a:rPr>
              <a:t>P (P1 | A) </a:t>
            </a:r>
            <a:endParaRPr lang="en-IN" dirty="0"/>
          </a:p>
        </p:txBody>
      </p:sp>
    </p:spTree>
    <p:extLst>
      <p:ext uri="{BB962C8B-B14F-4D97-AF65-F5344CB8AC3E}">
        <p14:creationId xmlns:p14="http://schemas.microsoft.com/office/powerpoint/2010/main" val="3275887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uild="p" bldLvl="5"/>
      <p:bldP spid="24" grpId="0" animBg="1"/>
      <p:bldP spid="26" grpId="0"/>
      <p:bldP spid="28" grpId="0"/>
      <p:bldP spid="30" grpId="0"/>
      <p:bldP spid="32" grpId="0"/>
      <p:bldP spid="3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ayesian network">
            <a:extLst>
              <a:ext uri="{FF2B5EF4-FFF2-40B4-BE49-F238E27FC236}">
                <a16:creationId xmlns:a16="http://schemas.microsoft.com/office/drawing/2014/main" id="{3848EA13-9770-2C18-7C49-978901BABC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713" y="1538288"/>
            <a:ext cx="8410575" cy="3781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0498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C4B1DF4-62D2-C986-32DC-59FB4F5A3762}"/>
              </a:ext>
            </a:extLst>
          </p:cNvPr>
          <p:cNvSpPr txBox="1"/>
          <p:nvPr/>
        </p:nvSpPr>
        <p:spPr>
          <a:xfrm>
            <a:off x="304800" y="609600"/>
            <a:ext cx="8534400" cy="5262979"/>
          </a:xfrm>
          <a:prstGeom prst="rect">
            <a:avLst/>
          </a:prstGeom>
          <a:noFill/>
        </p:spPr>
        <p:txBody>
          <a:bodyPr wrap="square">
            <a:spAutoFit/>
          </a:bodyPr>
          <a:lstStyle/>
          <a:p>
            <a:pPr algn="just"/>
            <a:r>
              <a:rPr lang="en-US" sz="2400" dirty="0">
                <a:latin typeface="+mj-lt"/>
              </a:rPr>
              <a:t>It’s the final league match, and everyone’s eyes are on Kishal, the star striker of his football team. Kishal has been training hard all week, and if his training sessions went well, he’s set to deliver a top performance. </a:t>
            </a:r>
          </a:p>
          <a:p>
            <a:pPr algn="just"/>
            <a:r>
              <a:rPr lang="en-US" sz="2400" dirty="0">
                <a:latin typeface="+mj-lt"/>
              </a:rPr>
              <a:t>But there’s a catch—he picked up a minor ankle injury in practice, which could affect his game. To make things trickier, the weather forecast says heavy rain, which usually slows him down on the wet pitch. </a:t>
            </a:r>
          </a:p>
          <a:p>
            <a:pPr algn="just"/>
            <a:r>
              <a:rPr lang="en-US" sz="2400" dirty="0">
                <a:latin typeface="+mj-lt"/>
              </a:rPr>
              <a:t>If Kishal plays well, he’ll create plenty of scoring chances for his team. But if his performance dips, the coach might substitute him before the final whistle. </a:t>
            </a:r>
          </a:p>
          <a:p>
            <a:pPr algn="just"/>
            <a:endParaRPr lang="en-US" sz="2400" dirty="0">
              <a:latin typeface="+mj-lt"/>
            </a:endParaRPr>
          </a:p>
          <a:p>
            <a:pPr algn="just"/>
            <a:r>
              <a:rPr lang="en-US" sz="2400" dirty="0">
                <a:latin typeface="+mj-lt"/>
              </a:rPr>
              <a:t>Calculate the probability of winning the match while Kishal is injured and the weather predicts rain.</a:t>
            </a:r>
            <a:endParaRPr lang="en-IN" sz="2400" dirty="0">
              <a:latin typeface="+mj-lt"/>
            </a:endParaRPr>
          </a:p>
        </p:txBody>
      </p:sp>
    </p:spTree>
    <p:extLst>
      <p:ext uri="{BB962C8B-B14F-4D97-AF65-F5344CB8AC3E}">
        <p14:creationId xmlns:p14="http://schemas.microsoft.com/office/powerpoint/2010/main" val="35823930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14365</TotalTime>
  <Words>1078</Words>
  <Application>Microsoft Office PowerPoint</Application>
  <PresentationFormat>On-screen Show (4:3)</PresentationFormat>
  <Paragraphs>273</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Arial MT</vt:lpstr>
      <vt:lpstr>Calibri</vt:lpstr>
      <vt:lpstr>Cambria Math</vt:lpstr>
      <vt:lpstr>Nunito</vt:lpstr>
      <vt:lpstr>Times New Roman</vt:lpstr>
      <vt:lpstr>Office Theme</vt:lpstr>
      <vt:lpstr>Bayesian Network</vt:lpstr>
      <vt:lpstr>Deterministic to Non Deterministic world</vt:lpstr>
      <vt:lpstr>Kolmogorov’s Axioms</vt:lpstr>
      <vt:lpstr>Derived Axioms</vt:lpstr>
      <vt:lpstr>PowerPoint Presentation</vt:lpstr>
      <vt:lpstr>Joint Probability &amp; Conditional Probability</vt:lpstr>
      <vt:lpstr>Joint Distribution</vt:lpstr>
      <vt:lpstr>Queries on Joint Distribution</vt:lpstr>
      <vt:lpstr>Queries on Joint Distribution</vt:lpstr>
      <vt:lpstr>PowerPoint Presentation</vt:lpstr>
      <vt:lpstr>Baye’s Rule</vt:lpstr>
      <vt:lpstr>PowerPoint Presentation</vt:lpstr>
      <vt:lpstr>PowerPoint Presentation</vt:lpstr>
      <vt:lpstr>Bayesian Network</vt:lpstr>
      <vt:lpstr>Sample Network</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Bayesian Network</dc:title>
  <dc:creator>Windows User</dc:creator>
  <cp:lastModifiedBy>Suganya G</cp:lastModifiedBy>
  <cp:revision>4</cp:revision>
  <dcterms:created xsi:type="dcterms:W3CDTF">2025-03-10T03:39:35Z</dcterms:created>
  <dcterms:modified xsi:type="dcterms:W3CDTF">2025-09-25T04:00:57Z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2020-03-05T00:00:00Z</vt:filetime>
  </property>
  <property fmtid="{D5CDD505-2E9C-101B-9397-08002B2CF9AE}" pid="3" name="Creator">
    <vt:lpwstr>Microsoft® PowerPoint® 2010</vt:lpwstr>
  </property>
  <property fmtid="{D5CDD505-2E9C-101B-9397-08002B2CF9AE}" pid="4" name="LastSaved">
    <vt:filetime>2025-03-10T00:00:00Z</vt:filetime>
  </property>
  <property fmtid="{D5CDD505-2E9C-101B-9397-08002B2CF9AE}" pid="5" name="Producer">
    <vt:lpwstr>Microsoft® PowerPoint® 2010</vt:lpwstr>
  </property>
</Properties>
</file>