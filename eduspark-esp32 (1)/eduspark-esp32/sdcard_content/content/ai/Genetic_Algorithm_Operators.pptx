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3" r:id="rId8"/>
    <p:sldId id="264" r:id="rId9"/>
    <p:sldId id="265" r:id="rId10"/>
    <p:sldId id="266" r:id="rId11"/>
    <p:sldId id="270" r:id="rId12"/>
    <p:sldId id="260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Genetic Algorithm Operators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Selection, Crossover, and Mutation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Roulette Wheel Selection:</a:t>
            </a:r>
            <a:r>
              <a:rPr dirty="0"/>
              <a:t> Fitness-proportional selection.</a:t>
            </a:r>
          </a:p>
          <a:p>
            <a:r>
              <a:rPr b="1" dirty="0"/>
              <a:t>Tournament Selection:</a:t>
            </a:r>
            <a:r>
              <a:rPr dirty="0"/>
              <a:t> Best of k randomly selected individuals.</a:t>
            </a:r>
          </a:p>
          <a:p>
            <a:r>
              <a:rPr b="1" dirty="0"/>
              <a:t>Rank Selection:</a:t>
            </a:r>
            <a:r>
              <a:rPr dirty="0"/>
              <a:t> Based on ranked fitness.</a:t>
            </a:r>
          </a:p>
          <a:p>
            <a:r>
              <a:rPr dirty="0"/>
              <a:t>Stochastic Universal Sampling: Lower variance version of roulette.</a:t>
            </a:r>
          </a:p>
          <a:p>
            <a:r>
              <a:rPr dirty="0"/>
              <a:t>Elitism: Best individuals passed unchanged.</a:t>
            </a:r>
          </a:p>
          <a:p>
            <a:r>
              <a:rPr dirty="0"/>
              <a:t>Boltzmann Selection: Inspired by simulated annealing.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Selection Types with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Roulette Wheel Selection</a:t>
            </a:r>
          </a:p>
          <a:p>
            <a:pPr lvl="1"/>
            <a:r>
              <a:rPr dirty="0"/>
              <a:t>  ➤ Example: Fitness: A=10, B=30, C=60 → C has 60% chance of selection.</a:t>
            </a:r>
          </a:p>
          <a:p>
            <a:r>
              <a:rPr dirty="0"/>
              <a:t>Tournament Selection</a:t>
            </a:r>
          </a:p>
          <a:p>
            <a:pPr lvl="1"/>
            <a:r>
              <a:rPr dirty="0"/>
              <a:t>  ➤ Example: Randomly select A, B; if B has better fitness, B is selected.</a:t>
            </a:r>
          </a:p>
          <a:p>
            <a:r>
              <a:rPr dirty="0"/>
              <a:t>Rank Selection</a:t>
            </a:r>
          </a:p>
          <a:p>
            <a:pPr lvl="1"/>
            <a:r>
              <a:rPr dirty="0"/>
              <a:t>  ➤ Example: Sorted ranks: C(1), B(2), A(3) → selection based on rank.</a:t>
            </a:r>
          </a:p>
          <a:p>
            <a:r>
              <a:rPr dirty="0"/>
              <a:t>Stochastic Universal Sampling</a:t>
            </a:r>
          </a:p>
          <a:p>
            <a:pPr lvl="1"/>
            <a:r>
              <a:rPr dirty="0"/>
              <a:t>  ➤ Example: Multiple pointers select individuals in a single pass.</a:t>
            </a:r>
          </a:p>
          <a:p>
            <a:r>
              <a:rPr dirty="0"/>
              <a:t>Elitism</a:t>
            </a:r>
          </a:p>
          <a:p>
            <a:pPr lvl="1"/>
            <a:r>
              <a:rPr dirty="0"/>
              <a:t>  ➤ Example: Top 2 individuals directly copied to next generation.</a:t>
            </a:r>
          </a:p>
          <a:p>
            <a:r>
              <a:rPr dirty="0"/>
              <a:t>Boltzmann Selection</a:t>
            </a:r>
          </a:p>
          <a:p>
            <a:pPr lvl="1"/>
            <a:r>
              <a:rPr dirty="0"/>
              <a:t>  ➤ Example: Selection probability based on temperature and fitness.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Crossover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Single-point Crossover: One-point split and swap.</a:t>
            </a:r>
          </a:p>
          <a:p>
            <a:r>
              <a:rPr dirty="0"/>
              <a:t>Two-point Crossover: Swap the middle section.</a:t>
            </a:r>
          </a:p>
          <a:p>
            <a:r>
              <a:rPr dirty="0"/>
              <a:t>Uniform Crossover: Random gene-wise selection.</a:t>
            </a:r>
          </a:p>
          <a:p>
            <a:r>
              <a:rPr dirty="0"/>
              <a:t>Arithmetic Crossover: Linear combination of genes.</a:t>
            </a:r>
          </a:p>
          <a:p>
            <a:r>
              <a:rPr dirty="0"/>
              <a:t>Heuristic Crossover: Bias toward better parent.</a:t>
            </a:r>
          </a:p>
          <a:p>
            <a:r>
              <a:rPr dirty="0"/>
              <a:t>Order Crossover (OX): Maintains relative order (for permutations).</a:t>
            </a:r>
          </a:p>
          <a:p>
            <a:r>
              <a:rPr dirty="0"/>
              <a:t>Partially Matched Crossover (PMX): Preserves position/order (for permutations).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Crossover Types with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Single-point Crossover</a:t>
            </a:r>
          </a:p>
          <a:p>
            <a:pPr lvl="1"/>
            <a:r>
              <a:rPr dirty="0"/>
              <a:t>  ➤ Example: Parents: 110|010 and 001|111 → Offspring: 110111, 001010</a:t>
            </a:r>
          </a:p>
          <a:p>
            <a:r>
              <a:rPr dirty="0"/>
              <a:t>Two-point Crossover</a:t>
            </a:r>
          </a:p>
          <a:p>
            <a:pPr lvl="1"/>
            <a:r>
              <a:rPr dirty="0"/>
              <a:t>  ➤ Example: Parents: 1|1001|0 and 0|1110|1 → Offspring: 111001, 010110</a:t>
            </a:r>
          </a:p>
          <a:p>
            <a:r>
              <a:rPr dirty="0"/>
              <a:t>Uniform Crossover</a:t>
            </a:r>
          </a:p>
          <a:p>
            <a:pPr lvl="1"/>
            <a:r>
              <a:rPr dirty="0"/>
              <a:t>  ➤ Example: Parents: 1101, 0010 → Offspring: 1010, 0101 (gene-wise mix)</a:t>
            </a:r>
          </a:p>
          <a:p>
            <a:r>
              <a:rPr dirty="0"/>
              <a:t>Arithmetic Crossover</a:t>
            </a:r>
          </a:p>
          <a:p>
            <a:pPr lvl="1"/>
            <a:r>
              <a:rPr dirty="0"/>
              <a:t>  ➤ Example: Parents: 3.0, 7.0 → Offspring: 0.5×3 + 0.5×7 = 5.0</a:t>
            </a:r>
          </a:p>
          <a:p>
            <a:r>
              <a:rPr dirty="0"/>
              <a:t>Heuristic Crossover</a:t>
            </a:r>
          </a:p>
          <a:p>
            <a:pPr lvl="1"/>
            <a:r>
              <a:rPr dirty="0"/>
              <a:t>  ➤ Example: Parent1=5 (better), Parent2=3 → Offspring = 5 + rand(0,1)*(5−3)</a:t>
            </a:r>
          </a:p>
          <a:p>
            <a:r>
              <a:rPr dirty="0"/>
              <a:t>Order Crossover (OX)</a:t>
            </a:r>
          </a:p>
          <a:p>
            <a:pPr lvl="1"/>
            <a:r>
              <a:rPr dirty="0"/>
              <a:t>  ➤ Example: Parents: A B | C D | E F → maintain order in offspring.</a:t>
            </a:r>
          </a:p>
          <a:p>
            <a:r>
              <a:rPr dirty="0"/>
              <a:t>Partially Matched Crossover (PMX)</a:t>
            </a:r>
          </a:p>
          <a:p>
            <a:pPr lvl="1"/>
            <a:r>
              <a:rPr dirty="0"/>
              <a:t>  ➤ Example: Parents: [1 2 3 4] and [3 4 1 2] → mapped offspring.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Mutation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Bit Flip Mutation: Flip 0 to 1 or vice versa.</a:t>
            </a:r>
          </a:p>
          <a:p>
            <a:r>
              <a:rPr dirty="0"/>
              <a:t>Swap Mutation: Swap two genes (for permutations).</a:t>
            </a:r>
          </a:p>
          <a:p>
            <a:r>
              <a:rPr dirty="0"/>
              <a:t>Scramble Mutation: Randomly shuffle a gene subset.</a:t>
            </a:r>
          </a:p>
          <a:p>
            <a:r>
              <a:rPr dirty="0"/>
              <a:t>Inversion Mutation: Reverse a gene subset.</a:t>
            </a:r>
          </a:p>
          <a:p>
            <a:r>
              <a:rPr dirty="0"/>
              <a:t>Gaussian Mutation: Add Gaussian noise (real-valued).</a:t>
            </a:r>
          </a:p>
          <a:p>
            <a:r>
              <a:rPr dirty="0"/>
              <a:t>Non-uniform Mutation: Decreasing mutation over time.</a:t>
            </a:r>
          </a:p>
          <a:p>
            <a:r>
              <a:rPr dirty="0"/>
              <a:t>Uniform Mutation: Replace gene with random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Mutation Types with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Bit Flip Mutation</a:t>
            </a:r>
          </a:p>
          <a:p>
            <a:pPr lvl="1"/>
            <a:r>
              <a:rPr dirty="0"/>
              <a:t>  ➤ Example: Chromosome: 1010 → 1000 (flipped bit 2)</a:t>
            </a:r>
          </a:p>
          <a:p>
            <a:r>
              <a:rPr dirty="0"/>
              <a:t>Swap Mutation</a:t>
            </a:r>
          </a:p>
          <a:p>
            <a:pPr lvl="1"/>
            <a:r>
              <a:rPr dirty="0"/>
              <a:t>  ➤ Example: Permutation: [1 2 3 4] → [1 4 3 2]</a:t>
            </a:r>
          </a:p>
          <a:p>
            <a:r>
              <a:rPr dirty="0"/>
              <a:t>Scramble Mutation</a:t>
            </a:r>
          </a:p>
          <a:p>
            <a:pPr lvl="1"/>
            <a:r>
              <a:rPr dirty="0"/>
              <a:t>  ➤ Example: Genes: [A B C D] → [A D C B]</a:t>
            </a:r>
          </a:p>
          <a:p>
            <a:r>
              <a:rPr dirty="0"/>
              <a:t>Inversion Mutation</a:t>
            </a:r>
          </a:p>
          <a:p>
            <a:pPr lvl="1"/>
            <a:r>
              <a:rPr dirty="0"/>
              <a:t>  ➤ Example: Genes: [1 2 3 4] → [1 3 2 4]</a:t>
            </a:r>
          </a:p>
          <a:p>
            <a:r>
              <a:rPr dirty="0"/>
              <a:t>Gaussian Mutation</a:t>
            </a:r>
          </a:p>
          <a:p>
            <a:pPr lvl="1"/>
            <a:r>
              <a:rPr dirty="0"/>
              <a:t>  ➤ Example: Gene value: 5.0 → 5.0 + N(0,1) = 4.7</a:t>
            </a:r>
          </a:p>
          <a:p>
            <a:r>
              <a:rPr dirty="0"/>
              <a:t>Non-uniform Mutation</a:t>
            </a:r>
          </a:p>
          <a:p>
            <a:pPr lvl="1"/>
            <a:r>
              <a:rPr dirty="0"/>
              <a:t>  ➤ Example: Gene: 0.6 → 0.62 (less change in later generations)</a:t>
            </a:r>
          </a:p>
          <a:p>
            <a:r>
              <a:rPr dirty="0"/>
              <a:t>Uniform Mutation</a:t>
            </a:r>
          </a:p>
          <a:p>
            <a:pPr lvl="1"/>
            <a:r>
              <a:rPr dirty="0"/>
              <a:t>  ➤ Example: Gene value replaced with random number within range, e.g., 0.3 → 0.8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Objective</a:t>
            </a:r>
            <a:r>
              <a:rPr dirty="0"/>
              <a:t>: Maximize f(x) = x²</a:t>
            </a:r>
          </a:p>
          <a:p>
            <a:r>
              <a:rPr b="1" dirty="0"/>
              <a:t>Encoding</a:t>
            </a:r>
            <a:r>
              <a:rPr dirty="0"/>
              <a:t>: 5-bit binary (0 to 31)</a:t>
            </a:r>
          </a:p>
          <a:p>
            <a:r>
              <a:rPr b="1" dirty="0"/>
              <a:t>Population</a:t>
            </a:r>
            <a:r>
              <a:rPr dirty="0"/>
              <a:t> </a:t>
            </a:r>
            <a:r>
              <a:rPr b="1" dirty="0"/>
              <a:t>Size</a:t>
            </a:r>
            <a:r>
              <a:rPr dirty="0"/>
              <a:t>: 4</a:t>
            </a:r>
          </a:p>
          <a:p>
            <a:r>
              <a:rPr lang="en-US" b="1" dirty="0"/>
              <a:t>Selection</a:t>
            </a:r>
            <a:r>
              <a:rPr lang="en-US" dirty="0"/>
              <a:t>: Tournament (k=2)</a:t>
            </a:r>
          </a:p>
          <a:p>
            <a:r>
              <a:rPr b="1" dirty="0"/>
              <a:t>Crossover</a:t>
            </a:r>
            <a:r>
              <a:rPr dirty="0"/>
              <a:t>: Single-point</a:t>
            </a:r>
          </a:p>
          <a:p>
            <a:r>
              <a:rPr b="1" dirty="0"/>
              <a:t>Mutation</a:t>
            </a:r>
            <a:r>
              <a:rPr dirty="0"/>
              <a:t>: Bit Flip (P=0.1)</a:t>
            </a:r>
          </a:p>
          <a:p>
            <a:r>
              <a:rPr b="1" dirty="0"/>
              <a:t>Generations</a:t>
            </a:r>
            <a:r>
              <a:rPr dirty="0"/>
              <a:t>: </a:t>
            </a:r>
            <a:r>
              <a:rPr lang="en-IN" dirty="0"/>
              <a:t>3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Generation 0: Initial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Chromosome | Decimal</a:t>
            </a:r>
            <a:r>
              <a:rPr lang="en-IN" dirty="0"/>
              <a:t>	</a:t>
            </a:r>
            <a:r>
              <a:rPr dirty="0"/>
              <a:t>| Fitness</a:t>
            </a:r>
          </a:p>
          <a:p>
            <a:pPr marL="0" indent="0">
              <a:buNone/>
            </a:pPr>
            <a:r>
              <a:rPr dirty="0"/>
              <a:t>01001      </a:t>
            </a:r>
            <a:r>
              <a:rPr lang="en-IN" dirty="0"/>
              <a:t>		</a:t>
            </a:r>
            <a:r>
              <a:rPr dirty="0"/>
              <a:t>| 9</a:t>
            </a:r>
            <a:r>
              <a:rPr lang="en-IN" dirty="0"/>
              <a:t>			</a:t>
            </a:r>
            <a:r>
              <a:rPr lang="en-US" dirty="0"/>
              <a:t>|</a:t>
            </a:r>
            <a:r>
              <a:rPr dirty="0"/>
              <a:t> 81</a:t>
            </a:r>
          </a:p>
          <a:p>
            <a:pPr marL="0" indent="0">
              <a:buNone/>
            </a:pPr>
            <a:r>
              <a:rPr dirty="0"/>
              <a:t>10100      </a:t>
            </a:r>
            <a:r>
              <a:rPr lang="en-IN" dirty="0"/>
              <a:t>		</a:t>
            </a:r>
            <a:r>
              <a:rPr dirty="0"/>
              <a:t>| 20</a:t>
            </a:r>
            <a:r>
              <a:rPr lang="en-IN" dirty="0"/>
              <a:t>			</a:t>
            </a:r>
            <a:r>
              <a:rPr dirty="0"/>
              <a:t>| 400</a:t>
            </a:r>
          </a:p>
          <a:p>
            <a:pPr marL="0" indent="0">
              <a:buNone/>
            </a:pPr>
            <a:r>
              <a:rPr dirty="0"/>
              <a:t>00010      </a:t>
            </a:r>
            <a:r>
              <a:rPr lang="en-IN" dirty="0"/>
              <a:t>		</a:t>
            </a:r>
            <a:r>
              <a:rPr dirty="0"/>
              <a:t>| 2</a:t>
            </a:r>
            <a:r>
              <a:rPr lang="en-IN" dirty="0"/>
              <a:t>			</a:t>
            </a:r>
            <a:r>
              <a:rPr dirty="0"/>
              <a:t>| 4</a:t>
            </a:r>
          </a:p>
          <a:p>
            <a:pPr marL="0" indent="0">
              <a:buNone/>
            </a:pPr>
            <a:r>
              <a:rPr dirty="0"/>
              <a:t>11101      </a:t>
            </a:r>
            <a:r>
              <a:rPr lang="en-IN" dirty="0"/>
              <a:t>		</a:t>
            </a:r>
            <a:r>
              <a:rPr dirty="0"/>
              <a:t>| 29</a:t>
            </a:r>
            <a:r>
              <a:rPr lang="en-IN" dirty="0"/>
              <a:t>			</a:t>
            </a:r>
            <a:r>
              <a:rPr dirty="0"/>
              <a:t>| 841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6483"/>
            <a:ext cx="8229600" cy="747917"/>
          </a:xfrm>
        </p:spPr>
        <p:txBody>
          <a:bodyPr>
            <a:normAutofit fontScale="90000"/>
          </a:bodyPr>
          <a:lstStyle/>
          <a:p>
            <a:r>
              <a:rPr dirty="0"/>
              <a:t>Generation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838" y="1166018"/>
            <a:ext cx="8480323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/>
              <a:t>Selection (Tournament size=2):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(01001 vs 00010) → 01001</a:t>
            </a:r>
          </a:p>
          <a:p>
            <a:pPr marL="0" indent="0">
              <a:buNone/>
            </a:pPr>
            <a:r>
              <a:rPr lang="en-US" sz="2400" dirty="0"/>
              <a:t>(10100 vs 11101) → 11101</a:t>
            </a:r>
          </a:p>
          <a:p>
            <a:pPr marL="0" indent="0">
              <a:buNone/>
            </a:pPr>
            <a:r>
              <a:rPr lang="en-US" sz="2400" dirty="0"/>
              <a:t>(10100 vs 01001) → 10100</a:t>
            </a:r>
          </a:p>
          <a:p>
            <a:pPr marL="0" indent="0">
              <a:buNone/>
            </a:pPr>
            <a:r>
              <a:rPr lang="en-US" sz="2400" dirty="0"/>
              <a:t>(00010 vs 11101) → 11101</a:t>
            </a:r>
          </a:p>
          <a:p>
            <a:pPr marL="0" indent="0">
              <a:buNone/>
            </a:pPr>
            <a:r>
              <a:rPr lang="en-US" sz="2400" b="1" dirty="0"/>
              <a:t>Mating pool</a:t>
            </a:r>
            <a:r>
              <a:rPr lang="en-US" sz="2400" dirty="0"/>
              <a:t>: [01001, 11101, 10100, 11101]</a:t>
            </a:r>
          </a:p>
          <a:p>
            <a:pPr marL="0" indent="0">
              <a:buNone/>
            </a:pPr>
            <a:r>
              <a:rPr lang="en-US" sz="2400" b="1" dirty="0"/>
              <a:t>Crossover</a:t>
            </a:r>
            <a:r>
              <a:rPr lang="en-US" sz="2400" dirty="0"/>
              <a:t> (Single-point between each pair):</a:t>
            </a:r>
          </a:p>
          <a:p>
            <a:pPr marL="0" indent="0">
              <a:buNone/>
            </a:pPr>
            <a:r>
              <a:rPr lang="en-US" sz="2400" dirty="0"/>
              <a:t>01001 + 11101 → crossover at point 3 → 010</a:t>
            </a:r>
            <a:r>
              <a:rPr lang="en-US" sz="2400" b="1" dirty="0"/>
              <a:t>01</a:t>
            </a:r>
            <a:r>
              <a:rPr lang="en-US" sz="2400" dirty="0"/>
              <a:t> + 111</a:t>
            </a:r>
            <a:r>
              <a:rPr lang="en-US" sz="2400" b="1" dirty="0"/>
              <a:t>01</a:t>
            </a:r>
            <a:r>
              <a:rPr lang="en-US" sz="2400" dirty="0"/>
              <a:t> → 01001, 11101</a:t>
            </a:r>
          </a:p>
          <a:p>
            <a:pPr marL="0" indent="0">
              <a:buNone/>
            </a:pPr>
            <a:r>
              <a:rPr lang="en-US" sz="2400" dirty="0"/>
              <a:t>10100 + 11101 → crossover at point 2 → 10</a:t>
            </a:r>
            <a:r>
              <a:rPr lang="en-US" sz="2400" b="1" dirty="0"/>
              <a:t>100</a:t>
            </a:r>
            <a:r>
              <a:rPr lang="en-US" sz="2400" dirty="0"/>
              <a:t> + 11</a:t>
            </a:r>
            <a:r>
              <a:rPr lang="en-US" sz="2400" b="1" dirty="0"/>
              <a:t>101</a:t>
            </a:r>
            <a:r>
              <a:rPr lang="en-US" sz="2400" dirty="0"/>
              <a:t> → 10101, 11100</a:t>
            </a:r>
          </a:p>
          <a:p>
            <a:pPr marL="0" indent="0">
              <a:buNone/>
            </a:pPr>
            <a:r>
              <a:rPr lang="en-US" sz="2400" b="1" dirty="0"/>
              <a:t>Offspring</a:t>
            </a:r>
            <a:r>
              <a:rPr lang="en-US" sz="2400" dirty="0"/>
              <a:t>: 01001, 11101, 10101, 11100</a:t>
            </a:r>
          </a:p>
          <a:p>
            <a:pPr marL="0" indent="0">
              <a:buNone/>
            </a:pPr>
            <a:r>
              <a:rPr lang="en-US" altLang="en-US" sz="2400" b="1" dirty="0"/>
              <a:t>Mutation</a:t>
            </a:r>
            <a:r>
              <a:rPr lang="en-US" altLang="en-US" sz="2400" dirty="0"/>
              <a:t> (low prob, assume no mutation)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B8571-19B1-1BFD-67F7-957916DA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B1409-1CDA-F3C0-AF38-7252A0FD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Generation 1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14550EB-447E-78C0-56C1-22E2AAEA97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5360198"/>
              </p:ext>
            </p:extLst>
          </p:nvPr>
        </p:nvGraphicFramePr>
        <p:xfrm>
          <a:off x="863967" y="2405149"/>
          <a:ext cx="7411493" cy="389939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196596">
                  <a:extLst>
                    <a:ext uri="{9D8B030D-6E8A-4147-A177-3AD203B41FA5}">
                      <a16:colId xmlns:a16="http://schemas.microsoft.com/office/drawing/2014/main" val="1648862624"/>
                    </a:ext>
                  </a:extLst>
                </a:gridCol>
                <a:gridCol w="2184593">
                  <a:extLst>
                    <a:ext uri="{9D8B030D-6E8A-4147-A177-3AD203B41FA5}">
                      <a16:colId xmlns:a16="http://schemas.microsoft.com/office/drawing/2014/main" val="3350966011"/>
                    </a:ext>
                  </a:extLst>
                </a:gridCol>
                <a:gridCol w="2030304">
                  <a:extLst>
                    <a:ext uri="{9D8B030D-6E8A-4147-A177-3AD203B41FA5}">
                      <a16:colId xmlns:a16="http://schemas.microsoft.com/office/drawing/2014/main" val="361701802"/>
                    </a:ext>
                  </a:extLst>
                </a:gridCol>
              </a:tblGrid>
              <a:tr h="828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0" cap="none" spc="60" dirty="0">
                          <a:solidFill>
                            <a:schemeClr val="bg1"/>
                          </a:solidFill>
                        </a:rPr>
                        <a:t>Chromosome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0" cap="none" spc="60">
                          <a:solidFill>
                            <a:schemeClr val="bg1"/>
                          </a:solidFill>
                        </a:rPr>
                        <a:t>Decimal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0" cap="none" spc="60">
                          <a:solidFill>
                            <a:schemeClr val="bg1"/>
                          </a:solidFill>
                        </a:rPr>
                        <a:t>Fitness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495856"/>
                  </a:ext>
                </a:extLst>
              </a:tr>
              <a:tr h="76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01001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668079"/>
                  </a:ext>
                </a:extLst>
              </a:tr>
              <a:tr h="76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841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147648"/>
                  </a:ext>
                </a:extLst>
              </a:tr>
              <a:tr h="76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441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735449"/>
                  </a:ext>
                </a:extLst>
              </a:tr>
              <a:tr h="76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11100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784</a:t>
                      </a:r>
                    </a:p>
                  </a:txBody>
                  <a:tcPr marL="181367" marR="181367" marT="181367" marB="906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48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11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Generation 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49FA5E-68A3-D7A6-9ACB-9AE66DD03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21135"/>
              </p:ext>
            </p:extLst>
          </p:nvPr>
        </p:nvGraphicFramePr>
        <p:xfrm>
          <a:off x="358877" y="4110684"/>
          <a:ext cx="8229600" cy="2529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27807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06358154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25985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Chromosome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Decimal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Fitness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59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11100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784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761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11101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841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00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11101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841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426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10101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441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16540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7EC8D764-888C-223B-6A77-609E2546C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29" y="1309917"/>
            <a:ext cx="879495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Selection: best from tournaments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Pool: [11101, 11100, 11101, 10101]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Crossover: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11101+11100→crossover point 2 → 11|101 + 11|100 → 11100, 11101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11101+10101→crossover point 3 → 111|01 + 101|01 → 11101, 10101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Offspring: 11100, 11101, 11101, 10101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No mutation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7315"/>
            <a:ext cx="8229600" cy="826575"/>
          </a:xfrm>
        </p:spPr>
        <p:txBody>
          <a:bodyPr/>
          <a:lstStyle/>
          <a:p>
            <a:r>
              <a:rPr dirty="0"/>
              <a:t>Generation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3890"/>
            <a:ext cx="8558981" cy="4525963"/>
          </a:xfrm>
        </p:spPr>
        <p:txBody>
          <a:bodyPr>
            <a:normAutofit/>
          </a:bodyPr>
          <a:lstStyle/>
          <a:p>
            <a:r>
              <a:rPr lang="en-GB" sz="2000" dirty="0"/>
              <a:t>11100 vs 10101 → 11100 (784 &gt; 441)</a:t>
            </a:r>
          </a:p>
          <a:p>
            <a:r>
              <a:rPr lang="en-GB" sz="2000" dirty="0"/>
              <a:t>11101 vs 10101 → 11101</a:t>
            </a:r>
          </a:p>
          <a:p>
            <a:r>
              <a:rPr lang="en-GB" sz="2000" dirty="0"/>
              <a:t>11100 vs 11101 → 11101</a:t>
            </a:r>
          </a:p>
          <a:p>
            <a:r>
              <a:rPr lang="en-GB" sz="2000" dirty="0"/>
              <a:t>11101 vs 10101 → 11101 </a:t>
            </a:r>
          </a:p>
          <a:p>
            <a:pPr marL="0" indent="0">
              <a:buNone/>
            </a:pPr>
            <a:r>
              <a:rPr lang="en-GB" sz="2000" dirty="0"/>
              <a:t>Perform crossover on pairs:</a:t>
            </a:r>
          </a:p>
          <a:p>
            <a:pPr marL="0" indent="0">
              <a:buNone/>
            </a:pPr>
            <a:r>
              <a:rPr lang="en-GB" sz="2000" dirty="0"/>
              <a:t>Pair 1: 11100 × 11101 → crossover after bit 3 111|00 + 111|01 → 11101, 11100</a:t>
            </a:r>
          </a:p>
          <a:p>
            <a:pPr marL="0" indent="0">
              <a:buNone/>
            </a:pPr>
            <a:r>
              <a:rPr lang="en-GB" sz="2000" dirty="0"/>
              <a:t>Pair 2: 11101 × 11100 → crossover after bit 2 11|101 + 11|100 → 11100, 11101</a:t>
            </a:r>
          </a:p>
          <a:p>
            <a:pPr marL="0" indent="0">
              <a:buNone/>
            </a:pPr>
            <a:r>
              <a:rPr lang="en-GB" sz="2000" dirty="0"/>
              <a:t>Resulting Offspring: [11101, 11100, 11100, 11101]</a:t>
            </a:r>
          </a:p>
          <a:p>
            <a:pPr marL="0" indent="0">
              <a:buNone/>
            </a:pPr>
            <a:r>
              <a:rPr lang="en-GB" sz="2000" dirty="0"/>
              <a:t>Let’s say </a:t>
            </a:r>
            <a:r>
              <a:rPr lang="en-GB" sz="2000" b="1" dirty="0"/>
              <a:t>one mutation occurs</a:t>
            </a:r>
            <a:r>
              <a:rPr lang="en-GB" sz="2000" dirty="0"/>
              <a:t>:</a:t>
            </a:r>
          </a:p>
          <a:p>
            <a:pPr marL="0" indent="0">
              <a:buNone/>
            </a:pPr>
            <a:r>
              <a:rPr lang="en-GB" sz="2000" dirty="0"/>
              <a:t>11100 → 11110 (flipping bit 3 from 0 to 1)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34BEFEC-9655-2CF0-EBA7-F827E47E5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281653"/>
              </p:ext>
            </p:extLst>
          </p:nvPr>
        </p:nvGraphicFramePr>
        <p:xfrm>
          <a:off x="299884" y="4757916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14421243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90554223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85457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Chromosome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Decimal xxx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Fitness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248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691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2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11110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900</a:t>
                      </a:r>
                      <a:r>
                        <a:rPr lang="en-US" dirty="0"/>
                        <a:t> ✅ (new best!)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78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4205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86723CD59C9B47ACC581745A6EA740" ma:contentTypeVersion="3" ma:contentTypeDescription="Create a new document." ma:contentTypeScope="" ma:versionID="a89553d908ebd7eef6e6553b2afea9cd">
  <xsd:schema xmlns:xsd="http://www.w3.org/2001/XMLSchema" xmlns:xs="http://www.w3.org/2001/XMLSchema" xmlns:p="http://schemas.microsoft.com/office/2006/metadata/properties" xmlns:ns2="2b093706-4f09-4761-a8dc-7e1248907dac" targetNamespace="http://schemas.microsoft.com/office/2006/metadata/properties" ma:root="true" ma:fieldsID="58315c4b7d040c4782903c634ceeba1b" ns2:_="">
    <xsd:import namespace="2b093706-4f09-4761-a8dc-7e1248907d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093706-4f09-4761-a8dc-7e1248907d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5A386E5-0201-4C05-8CBB-57F97EE16049}"/>
</file>

<file path=customXml/itemProps2.xml><?xml version="1.0" encoding="utf-8"?>
<ds:datastoreItem xmlns:ds="http://schemas.openxmlformats.org/officeDocument/2006/customXml" ds:itemID="{F8778290-9F0A-4C38-A13F-03EC7E29351E}"/>
</file>

<file path=customXml/itemProps3.xml><?xml version="1.0" encoding="utf-8"?>
<ds:datastoreItem xmlns:ds="http://schemas.openxmlformats.org/officeDocument/2006/customXml" ds:itemID="{61E5758E-3D64-4644-86A3-25BF9EFEF68D}"/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1037</Words>
  <Application>Microsoft Office PowerPoint</Application>
  <PresentationFormat>On-screen Show (4:3)</PresentationFormat>
  <Paragraphs>158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Genetic Algorithm Operators</vt:lpstr>
      <vt:lpstr>Selection Types</vt:lpstr>
      <vt:lpstr>Selection Types with Examples</vt:lpstr>
      <vt:lpstr>Crossover Types</vt:lpstr>
      <vt:lpstr>Crossover Types with Examples</vt:lpstr>
      <vt:lpstr>Mutation Types</vt:lpstr>
      <vt:lpstr>Mutation Types with Examples</vt:lpstr>
      <vt:lpstr>Problem Definition</vt:lpstr>
      <vt:lpstr>Generation 0: Initial Population</vt:lpstr>
      <vt:lpstr>Generation 1</vt:lpstr>
      <vt:lpstr>Generation 1</vt:lpstr>
      <vt:lpstr>Generation 2</vt:lpstr>
      <vt:lpstr>Generation 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Modigari Narendra</cp:lastModifiedBy>
  <cp:revision>27</cp:revision>
  <dcterms:created xsi:type="dcterms:W3CDTF">2013-01-27T09:14:16Z</dcterms:created>
  <dcterms:modified xsi:type="dcterms:W3CDTF">2025-08-07T02:22:50Z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0x010100C386723CD59C9B47ACC581745A6EA740</vt:lpwstr>
  </property>
</Properties>
</file>